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Exact Optimum</c:v>
                </c:pt>
              </c:strCache>
            </c:strRef>
          </c:tx>
          <c:spPr>
            <a:solidFill>
              <a:srgbClr val="123C46"/>
            </a:solidFill>
          </c:spPr>
          <c:cat>
            <c:strRef>
              <c:f>Sheet1!$A$2:$A$5</c:f>
              <c:strCache>
                <c:ptCount val="4"/>
                <c:pt idx="0">
                  <c:v>4x4 Grid</c:v>
                </c:pt>
                <c:pt idx="1">
                  <c:v>Sparse Line</c:v>
                </c:pt>
                <c:pt idx="2">
                  <c:v>Dense Cluster</c:v>
                </c:pt>
                <c:pt idx="3">
                  <c:v>Two Clusters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</c:v>
                </c:pt>
                <c:pt idx="2">
                  <c:v>16</c:v>
                </c:pt>
                <c:pt idx="3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Heuristic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4x4 Grid</c:v>
                </c:pt>
                <c:pt idx="1">
                  <c:v>Sparse Line</c:v>
                </c:pt>
                <c:pt idx="2">
                  <c:v>Dense Cluster</c:v>
                </c:pt>
                <c:pt idx="3">
                  <c:v>Two Clusters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3</c:v>
                </c:pt>
                <c:pt idx="2">
                  <c:v>16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0"/>
          <c:min val="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Wireless Protocol Development Take-Home Presentation.</a:t>
            </a:r>
          </a:p>
          <a:p>
            <a:r>
              <a:t>Presenter: Athish M.</a:t>
            </a:r>
          </a:p>
          <a:p>
            <a:r>
              <a:t>Core Technical Achievement:</a:t>
            </a:r>
          </a:p>
          <a:p>
            <a:r>
              <a:t>- Complete TDMA scheduling engine that minimizes frame length K under joint Distance-1 and Distance-2 constraints.</a:t>
            </a:r>
          </a:p>
          <a:p>
            <a:r>
              <a:t>- Implements 5 heuristics and 2 exact solvers with symmetry breaking.</a:t>
            </a:r>
          </a:p>
          <a:p>
            <a:r>
              <a:t>- Mathematically proves the 4x4 grid optimum is exactly 9 slots.</a:t>
            </a:r>
          </a:p>
          <a:p>
            <a:r>
              <a:t>- Independent BFS verifier validates correctness with zero shared code.</a:t>
            </a:r>
          </a:p>
          <a:p>
            <a:r>
              <a:t>- Offline EMANE integration bridge translates schedules into schema-compliant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Physical Challenge of Multi-Hop TDMA:</a:t>
            </a:r>
          </a:p>
          <a:p>
            <a:r>
              <a:t>- Single omnidirectional carrier frequency with radio range R = 500.0 m.</a:t>
            </a:r>
          </a:p>
          <a:p>
            <a:r>
              <a:t>- Direct collision: radios within 500 m must not share timeslots.</a:t>
            </a:r>
          </a:p>
          <a:p>
            <a:r>
              <a:t>- Hidden terminal problem: A and C cannot hear each other, but if both emit in slot t, packet superposition at shared receiver B causes unrecoverable SINR degradation.</a:t>
            </a:r>
          </a:p>
          <a:p>
            <a:r>
              <a:t>- Distance-2 coloring requirement: two radios sharing a neighbor cannot share a slot.</a:t>
            </a:r>
          </a:p>
          <a:p>
            <a:r>
              <a:t>- Spatial reuse: radios separated by 3 or more hops can safely transmit concurrently.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Mathematical Graph Formulation:</a:t>
            </a:r>
          </a:p>
          <a:p>
            <a:r>
              <a:t>- Graph squaring: nx.power(G, 2) creates edges between all vertex pairs with shortest-path distance &lt;= 2.</a:t>
            </a:r>
          </a:p>
          <a:p>
            <a:r>
              <a:t>- Equivalence theorem: distance-2 vertex coloring on physical topology G is mathematically isomorphic to ordinary vertex coloring on conflict graph G^2.</a:t>
            </a:r>
          </a:p>
          <a:p>
            <a:r>
              <a:t>- Exact 500.0 m boundary condition: Euclidean distance with 1e-9 tolerance ensures physical boundary nodes are connected.</a:t>
            </a:r>
          </a:p>
          <a:p>
            <a:r>
              <a:t>- Complexity: graph coloring on general graphs and unit disk graphs is NP-hard.</a:t>
            </a:r>
          </a:p>
          <a:p>
            <a:r>
              <a:t>- Lower bound: maximum clique size of G^2 (omega).</a:t>
            </a:r>
          </a:p>
          <a:p>
            <a:r>
              <a:t>- Upper bound: maximum conflict degree + 1 (Delta + 1).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Algorithmic Architecture:</a:t>
            </a:r>
          </a:p>
          <a:p>
            <a:r>
              <a:t>1. Largest-Degree-First (Welsh-Powell): rapid baseline coloring conflict hubs first.</a:t>
            </a:r>
          </a:p>
          <a:p>
            <a:r>
              <a:t>2. DSATUR (Brelaz): dynamic saturation tracking provides high-quality heuristic bounds.</a:t>
            </a:r>
          </a:p>
          <a:p>
            <a:r>
              <a:t>3. Smallest-Last: orders vertices based on degeneracy, bounding chromatic number.</a:t>
            </a:r>
          </a:p>
          <a:p>
            <a:r>
              <a:t>4. Randomized Restarts: explores 1000 pseudo-random seeded orderings deterministically.</a:t>
            </a:r>
          </a:p>
          <a:p>
            <a:r>
              <a:t>5. Local Search: executes Kempe-chain 2-color interchanges to eliminate highest color classes.</a:t>
            </a:r>
          </a:p>
          <a:p>
            <a:r>
              <a:t>6. Google OR-Tools CP-SAT: exact integer programming with max-clique symmetry breaking.</a:t>
            </a:r>
          </a:p>
          <a:p>
            <a:r>
              <a:t>7. Pure-Python Branch-and-Bound: fallback exact solver when external C-libraries are unavailable.</a:t>
            </a:r>
          </a:p>
          <a:p>
            <a:r>
              <a:t>8. Independent Verifier: checks BFS hop-distances on physical graph G with zero shared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4x4 Grid Benchmark Analysis:</a:t>
            </a:r>
          </a:p>
          <a:p>
            <a:r>
              <a:t>Node-to-slot assignment verified against CLI output:</a:t>
            </a:r>
          </a:p>
          <a:p>
            <a:r>
              <a:t>Node_01: Slot 8, Node_02: Slot 4, Node_03: Slot 5, Node_04: Slot 8, Node_05: Slot 6, Node_06: Slot 0, Node_07: Slot 1, Node_08: Slot 6, Node_09: Slot 7, Node_10: Slot 2, Node_11: Slot 3, Node_12: Slot 7, Node_13: Slot 8, Node_14: Slot 4, Node_15: Slot 5, Node_16: Slot 8.</a:t>
            </a:r>
          </a:p>
          <a:p>
            <a:r>
              <a:t>Spatial reuse proof:</a:t>
            </a:r>
          </a:p>
          <a:p>
            <a:r>
              <a:t>- The four corners (Node_01, Node_04, Node_13, Node_16) are separated by 3 or more hops in G.</a:t>
            </a:r>
          </a:p>
          <a:p>
            <a:r>
              <a:t>- They safely share Slot 8 without mutual collision.</a:t>
            </a:r>
          </a:p>
          <a:p>
            <a:r>
              <a:t>- All heuristics and both exact solvers converge on 9 slots.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 Results Analysis:</a:t>
            </a:r>
          </a:p>
          <a:p>
            <a:r>
              <a:t>At 16 nodes simple greedy already reaches the optimum, and the exact solver is what lets us prove it; heuristics matter more as n grows.</a:t>
            </a:r>
          </a:p>
          <a:p>
            <a:r>
              <a:t>Key topology insights:</a:t>
            </a:r>
          </a:p>
          <a:p>
            <a:r>
              <a:t>- 4x4 Grid: 42 physical edges, 90 conflict edges -&gt; exactly 9 slots.</a:t>
            </a:r>
          </a:p>
          <a:p>
            <a:r>
              <a:t>- Sparse Line: 15 physical edges, 29 conflict edges -&gt; exactly 3 slots.</a:t>
            </a:r>
          </a:p>
          <a:p>
            <a:r>
              <a:t>- Dense Cluster: 120 physical edges, full 16-clique -&gt; 16 slots forced (0 spatial reuse).</a:t>
            </a:r>
          </a:p>
          <a:p>
            <a:r>
              <a:t>- Two Clusters (3000 m separation): full spatial reuse across disjoint components -&gt; 8 slots (50% frame compression).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Verification Architecture &amp; EMANE Integration Boundary:</a:t>
            </a:r>
          </a:p>
          <a:p>
            <a:r>
              <a:t>- Independent BFS Verifier: checks all generated schedules against the raw physical graph G.</a:t>
            </a:r>
          </a:p>
          <a:p>
            <a:r>
              <a:t>- Complete coverage: confirms every node has exactly one slot assignment.</a:t>
            </a:r>
          </a:p>
          <a:p>
            <a:r>
              <a:t>- Contiguity: verifies slots form a contiguous interval 0..K-1.</a:t>
            </a:r>
          </a:p>
          <a:p>
            <a:r>
              <a:t>- Conflict-freedom: verifies no pairs within 1 or 2 hops share a timeslot.</a:t>
            </a:r>
          </a:p>
          <a:p>
            <a:r>
              <a:t>- Test Suite: 47 automated tests covering graph construction, coloring heuristics, exact solvers, CLI, and EMANE bridge.</a:t>
            </a:r>
          </a:p>
          <a:p>
            <a:r>
              <a:t>- Part 2 Tested vs Design Boundary:</a:t>
            </a:r>
          </a:p>
          <a:p>
            <a:r>
              <a:t>  * TESTED OFFLINE: automated XML translation, NEM ID mapping, round-trip schedule parsing.</a:t>
            </a:r>
          </a:p>
          <a:p>
            <a:r>
              <a:t>  * DESIGN ONLY: live RF emulation inside Linux network namespaces, requiring root and TAP interfaces.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&amp; Engineering Assessment:</a:t>
            </a:r>
          </a:p>
          <a:p>
            <a:r>
              <a:t>- Proven: mathematical formulation, 5 heuristics, 2 exact solvers, 9-slot grid optimum, independent BFS verifier, and 47 passing tests.</a:t>
            </a:r>
          </a:p>
          <a:p>
            <a:r>
              <a:t>- Pending / Not Yet Run: physical over-the-air packet transmission inside live Linux kernel network namespaces and pathloss calibration.</a:t>
            </a:r>
          </a:p>
          <a:p>
            <a:r>
              <a:t>- Next steps: multi-channel (time-frequency) coloring, distributed MANET mobility protocols, and link-level STDMA scheduling.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Calibri"/>
              </a:defRPr>
            </a:pPr>
            <a:r>
              <a:t>WIRELESS PROTOCOL DEVELOPMENT | TAKE-HOME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Georgia"/>
              </a:defRPr>
            </a:pPr>
            <a:r>
              <a:t>Packing a radio network into the fewest time slots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700">
                <a:solidFill>
                  <a:srgbClr val="D1D5DB"/>
                </a:solidFill>
                <a:latin typeface="Calibri"/>
              </a:defRPr>
            </a:pPr>
            <a:r>
              <a:t>distance-2 graph coloring, spatial reuse, exact-optimum benchmark, EMANE bridge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383280"/>
            <a:ext cx="3154680" cy="1645920"/>
          </a:xfrm>
          <a:prstGeom prst="rect">
            <a:avLst/>
          </a:prstGeom>
          <a:solidFill>
            <a:srgbClr val="184C58"/>
          </a:solidFill>
          <a:ln w="12700">
            <a:solidFill>
              <a:srgbClr val="2D7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3383280"/>
            <a:ext cx="31546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3611880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D97706"/>
                </a:solidFill>
                <a:latin typeface="Georgia"/>
              </a:defRPr>
            </a:pPr>
            <a:r>
              <a:t>16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radios, 500 m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44568" y="3383280"/>
            <a:ext cx="3154680" cy="1645920"/>
          </a:xfrm>
          <a:prstGeom prst="rect">
            <a:avLst/>
          </a:prstGeom>
          <a:solidFill>
            <a:srgbClr val="184C58"/>
          </a:solidFill>
          <a:ln w="12700">
            <a:solidFill>
              <a:srgbClr val="2D7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44568" y="3383280"/>
            <a:ext cx="31546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3611880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D97706"/>
                </a:solidFill>
                <a:latin typeface="Georgia"/>
              </a:defRPr>
            </a:pPr>
            <a:r>
              <a:t>9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slots on the 4x4 grid, proven optimal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1856" y="3383280"/>
            <a:ext cx="3154680" cy="1645920"/>
          </a:xfrm>
          <a:prstGeom prst="rect">
            <a:avLst/>
          </a:prstGeom>
          <a:solidFill>
            <a:srgbClr val="184C58"/>
          </a:solidFill>
          <a:ln w="12700">
            <a:solidFill>
              <a:srgbClr val="2D7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3383280"/>
            <a:ext cx="31546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3611880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400" b="1">
                <a:solidFill>
                  <a:srgbClr val="D97706"/>
                </a:solidFill>
                <a:latin typeface="Georgia"/>
              </a:defRPr>
            </a:pPr>
            <a:r>
              <a:t>47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  <a:latin typeface="Calibri"/>
              </a:defRPr>
            </a:pPr>
            <a:r>
              <a:t>automated tests passing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62356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Calibri"/>
              </a:defRPr>
            </a:pPr>
            <a:r>
              <a:t>Athish M  •  athishm2007@gmail.com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Two ways to collide, one way to save slots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1E293B"/>
                </a:solidFill>
                <a:latin typeface="Calibri"/>
              </a:defRPr>
            </a:pPr>
            <a:r>
              <a:t>TDMA: one frequency, repeating frame of K slots, fewer slots means each radio talks more often. Transmission constraints govern conflict-freedom: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48840"/>
            <a:ext cx="91440" cy="123444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286000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B42318"/>
                </a:solidFill>
                <a:latin typeface="Calibri"/>
              </a:defRPr>
            </a:pPr>
            <a:r>
              <a:t>Rule 1: Direct Link Collision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Adjacent radios within 500 m direct range collide if transmitting concurrently. Requires distinct slots.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47872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47872"/>
            <a:ext cx="91440" cy="123444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85032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B42318"/>
                </a:solidFill>
                <a:latin typeface="Calibri"/>
              </a:defRPr>
            </a:pPr>
            <a:r>
              <a:t>Rule 2: Hidden Terminal Collision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Two non-adjacent radios with a shared neighbour corrupt reception at that mutual node. Requires distinct slots.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46904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946904"/>
            <a:ext cx="91440" cy="1234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84064"/>
            <a:ext cx="475488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F766E"/>
                </a:solidFill>
                <a:latin typeface="Calibri"/>
              </a:defRPr>
            </a:pPr>
            <a:r>
              <a:t>Rule 3: Spatial Reuse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Radios 3+ hops apart cannot interfere with each other's receptions and safely share the same timeslot, saving frame capacity.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525780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554480"/>
            <a:ext cx="4526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700" b="1">
                <a:solidFill>
                  <a:srgbClr val="123C46"/>
                </a:solidFill>
                <a:latin typeface="Georgia"/>
              </a:defRPr>
            </a:pPr>
            <a:r>
              <a:t>Hidden Terminal Collision Mechanism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55180" y="3131820"/>
            <a:ext cx="1645920" cy="0"/>
          </a:xfrm>
          <a:prstGeom prst="line">
            <a:avLst/>
          </a:prstGeom>
          <a:ln w="38100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01100" y="3131820"/>
            <a:ext cx="1645920" cy="0"/>
          </a:xfrm>
          <a:prstGeom prst="line">
            <a:avLst/>
          </a:prstGeom>
          <a:ln w="38100">
            <a:solidFill>
              <a:srgbClr val="123C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0" y="23317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42318"/>
                </a:solidFill>
                <a:latin typeface="Calibri"/>
              </a:defRPr>
            </a:pPr>
            <a:r>
              <a:t>under 500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3317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C46"/>
                </a:solidFill>
                <a:latin typeface="Calibri"/>
              </a:defRPr>
            </a:pPr>
            <a:r>
              <a:t>under 500 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55180" y="2194560"/>
            <a:ext cx="3291840" cy="0"/>
          </a:xfrm>
          <a:prstGeom prst="line">
            <a:avLst/>
          </a:prstGeom>
          <a:ln w="25400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863840" y="18288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42318"/>
                </a:solidFill>
                <a:latin typeface="Calibri"/>
              </a:defRPr>
            </a:pPr>
            <a:r>
              <a:t>--- out of range (&gt; 500 m) ---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2743200"/>
            <a:ext cx="777240" cy="777240"/>
          </a:xfrm>
          <a:prstGeom prst="ellipse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11880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B42318"/>
                </a:solidFill>
                <a:latin typeface="Calibri"/>
              </a:defRPr>
            </a:pPr>
            <a:r>
              <a:t>Hidden Terminal A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2743200"/>
            <a:ext cx="777240" cy="77724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611880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F766E"/>
                </a:solidFill>
                <a:latin typeface="Calibri"/>
              </a:defRPr>
            </a:pPr>
            <a:r>
              <a:t>Shared Receiver B</a:t>
            </a:r>
          </a:p>
        </p:txBody>
      </p:sp>
      <p:sp>
        <p:nvSpPr>
          <p:cNvPr id="29" name="Oval 28"/>
          <p:cNvSpPr/>
          <p:nvPr/>
        </p:nvSpPr>
        <p:spPr>
          <a:xfrm>
            <a:off x="10058400" y="2743200"/>
            <a:ext cx="777240" cy="777240"/>
          </a:xfrm>
          <a:prstGeom prst="ellipse">
            <a:avLst/>
          </a:prstGeom>
          <a:solidFill>
            <a:srgbClr val="123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3611880"/>
            <a:ext cx="14173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23C46"/>
                </a:solidFill>
                <a:latin typeface="Calibri"/>
              </a:defRPr>
            </a:pPr>
            <a:r>
              <a:t>Hidden Terminal 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4663440"/>
            <a:ext cx="4526280" cy="11887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400" b="1">
                <a:solidFill>
                  <a:srgbClr val="92400E"/>
                </a:solidFill>
                <a:latin typeface="Calibri"/>
              </a:defRPr>
            </a:pPr>
            <a:r>
              <a:t>A and C are out of range, yet if both transmit in the same slot they collide at 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Distance-2 coloring is just ordinary coloring of the squared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3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51206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91440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6304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Georgia"/>
              </a:defRPr>
            </a:pPr>
            <a:r>
              <a:t>Step 1: Build Physical Graph G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(1) Build G, edge if distance &lt;= 500 m (exactly 500 counts, 1e-9 tolerance). Represents direct radio visibility.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99232"/>
            <a:ext cx="51206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99232"/>
            <a:ext cx="91440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36392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Georgia"/>
              </a:defRPr>
            </a:pPr>
            <a:r>
              <a:t>Step 2: Construct Conflict Graph G²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(2) Square it, G^2, using nx.power(G, 2). Adds edges between 2-hop neighbours so hidden terminals become adjacent.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672584"/>
            <a:ext cx="51206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72584"/>
            <a:ext cx="91440" cy="15087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D97706"/>
                </a:solidFill>
                <a:latin typeface="Georgia"/>
              </a:defRPr>
            </a:pPr>
            <a:r>
              <a:t>Step 3: Vertex Color the Conflict Graph G²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(3) Colour G^2, colour = slot, pairs 3+ hops apart stay unconnected so they may reuse a colour. Distance-2 coloring on G ≡ ordinary coloring on G².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5257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46177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4-Node Line: Safe Spatial Reuse Across 3 Hops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86016" y="2368296"/>
            <a:ext cx="1188720" cy="0"/>
          </a:xfrm>
          <a:prstGeom prst="line">
            <a:avLst/>
          </a:prstGeom>
          <a:ln w="381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174736" y="2368296"/>
            <a:ext cx="1188720" cy="0"/>
          </a:xfrm>
          <a:prstGeom prst="line">
            <a:avLst/>
          </a:prstGeom>
          <a:ln w="381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63456" y="2368296"/>
            <a:ext cx="1188720" cy="0"/>
          </a:xfrm>
          <a:prstGeom prst="line">
            <a:avLst/>
          </a:prstGeom>
          <a:ln w="381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675120" y="2057400"/>
            <a:ext cx="621792" cy="6217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52344"/>
            <a:ext cx="98755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Slot 0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0" y="2057400"/>
            <a:ext cx="621792" cy="62179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752344"/>
            <a:ext cx="98755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0F766E"/>
                </a:solidFill>
                <a:latin typeface="Calibri"/>
              </a:defRPr>
            </a:pPr>
            <a:r>
              <a:t>Slot 1</a:t>
            </a:r>
          </a:p>
        </p:txBody>
      </p:sp>
      <p:sp>
        <p:nvSpPr>
          <p:cNvPr id="25" name="Oval 24"/>
          <p:cNvSpPr/>
          <p:nvPr/>
        </p:nvSpPr>
        <p:spPr>
          <a:xfrm>
            <a:off x="9052560" y="2057400"/>
            <a:ext cx="621792" cy="621792"/>
          </a:xfrm>
          <a:prstGeom prst="ellipse">
            <a:avLst/>
          </a:prstGeom>
          <a:solidFill>
            <a:srgbClr val="123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52344"/>
            <a:ext cx="98755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123C46"/>
                </a:solidFill>
                <a:latin typeface="Calibri"/>
              </a:defRPr>
            </a:pPr>
            <a:r>
              <a:t>Slot 2</a:t>
            </a:r>
          </a:p>
        </p:txBody>
      </p:sp>
      <p:sp>
        <p:nvSpPr>
          <p:cNvPr id="27" name="Oval 26"/>
          <p:cNvSpPr/>
          <p:nvPr/>
        </p:nvSpPr>
        <p:spPr>
          <a:xfrm>
            <a:off x="10241280" y="2057400"/>
            <a:ext cx="621792" cy="6217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  <a:latin typeface="Georgia"/>
              </a:defRPr>
            </a:pPr>
            <a: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2752344"/>
            <a:ext cx="98755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Slot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154680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D97706"/>
                </a:solidFill>
                <a:latin typeface="Calibri"/>
              </a:defRPr>
            </a:pPr>
            <a:r>
              <a:t>A and D are 3 hops apart, so they reuse slot 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8404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840480"/>
            <a:ext cx="91440" cy="2377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023360"/>
            <a:ext cx="47091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Mathematical Bounds on Chromatic Number</a:t>
            </a:r>
          </a:p>
          <a:p>
            <a:pPr>
              <a:spcBef>
                <a:spcPts val="800"/>
              </a:spcBef>
              <a:defRPr sz="1600" b="1">
                <a:solidFill>
                  <a:srgbClr val="0F766E"/>
                </a:solidFill>
                <a:latin typeface="Georgia"/>
              </a:defRPr>
            </a:pPr>
            <a:r>
              <a:t>clique number &lt;= minimum slots &lt;= max degree of G^2 + 1</a:t>
            </a:r>
          </a:p>
          <a:p>
            <a:pPr>
              <a:spcBef>
                <a:spcPts val="400"/>
              </a:spcBef>
              <a:defRPr sz="1500" b="1">
                <a:solidFill>
                  <a:srgbClr val="123C46"/>
                </a:solidFill>
                <a:latin typeface="Calibri"/>
              </a:defRPr>
            </a:pPr>
            <a:r>
              <a:t>ω(G²)  ≤  χ(G²)  ≤  Δ(G²) + 1</a:t>
            </a:r>
          </a:p>
          <a:p>
            <a:pPr>
              <a:spcBef>
                <a:spcPts val="6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Finding the true minimum is NP-hard so heuristics are used. The clique lower bound ω(G²) proves when a heuristic has reached true optimality.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Five heuristics, two exact solvers, one independent checker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4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25880"/>
          <a:ext cx="1072865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486400"/>
                <a:gridCol w="2590495"/>
              </a:tblGrid>
              <a:tr h="42291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Largest-degree-first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Orders nodes by conflict degree; colors high-degree bottlenecks first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O(V log V + E) (~0.06 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DSATUR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Greedy saturation: picks node with highest colored-neighbor diversity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O(V^2 + E) (~0.15 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Smallest-last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Reverse elimination ordering bounded by smallest degree in subgraph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O(V + E) (~0.20 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Random restarts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1000 seeded orders, keep the best schedule discovered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1000 orders (~24 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Local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Kempe-chain swaps plus tabu search, up to 2000 steps to trim top 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Local search (~50 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CP-SAT exact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0-1 ILP with maximum-clique pre-coloring for symmetry breaking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Exact optimum (~0.8 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Branch and bound exact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Backtracking with DSATUR branching, no dependencies, used as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Pure Python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892040"/>
            <a:ext cx="10728655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91440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029200"/>
            <a:ext cx="10271455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Best-of-Heuristics + Exact Yardstick + Independent Verifier</a:t>
            </a:r>
          </a:p>
          <a:p>
            <a:pPr>
              <a:spcBef>
                <a:spcPts val="4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the schedule is the best result across methods, the exact solver is the yardstick, and a separate BFS verifier checks the final schedule. Zero shared code between schedule generation and schedule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The 4x4 grid needs 9 slots, and four corners share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5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51206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623060" y="198882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623060" y="198882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62306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57500" y="198882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62306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857500" y="198882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5750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91940" y="198882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5750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91940" y="198882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09194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091940" y="198882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26380" y="198882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060" y="299466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23060" y="299466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62306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57500" y="299466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62306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857500" y="299466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85750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091940" y="299466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285750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091940" y="299466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9194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091940" y="299466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26380" y="299466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23060" y="400050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623060" y="400050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2306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57500" y="400050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62306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57500" y="400050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5750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91940" y="400050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85750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091940" y="400050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09194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091940" y="4000500"/>
            <a:ext cx="123444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26380" y="4000500"/>
            <a:ext cx="0" cy="100584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623060" y="500634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57500" y="500634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091940" y="5006340"/>
            <a:ext cx="123444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216152" y="1581912"/>
            <a:ext cx="813816" cy="813816"/>
          </a:xfrm>
          <a:prstGeom prst="ellipse">
            <a:avLst/>
          </a:prstGeom>
          <a:noFill/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325880" y="1691640"/>
            <a:ext cx="594360" cy="5943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s8</a:t>
            </a:r>
          </a:p>
        </p:txBody>
      </p:sp>
      <p:sp>
        <p:nvSpPr>
          <p:cNvPr id="52" name="Oval 51"/>
          <p:cNvSpPr/>
          <p:nvPr/>
        </p:nvSpPr>
        <p:spPr>
          <a:xfrm>
            <a:off x="2560320" y="1691640"/>
            <a:ext cx="594360" cy="5943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3" name="Oval 52"/>
          <p:cNvSpPr/>
          <p:nvPr/>
        </p:nvSpPr>
        <p:spPr>
          <a:xfrm>
            <a:off x="3794760" y="1691640"/>
            <a:ext cx="594360" cy="594360"/>
          </a:xfrm>
          <a:prstGeom prst="ellipse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4" name="Oval 53"/>
          <p:cNvSpPr/>
          <p:nvPr/>
        </p:nvSpPr>
        <p:spPr>
          <a:xfrm>
            <a:off x="4919472" y="1581912"/>
            <a:ext cx="813816" cy="813816"/>
          </a:xfrm>
          <a:prstGeom prst="ellipse">
            <a:avLst/>
          </a:prstGeom>
          <a:noFill/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29200" y="1691640"/>
            <a:ext cx="594360" cy="5943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s8</a:t>
            </a:r>
          </a:p>
        </p:txBody>
      </p:sp>
      <p:sp>
        <p:nvSpPr>
          <p:cNvPr id="56" name="Oval 55"/>
          <p:cNvSpPr/>
          <p:nvPr/>
        </p:nvSpPr>
        <p:spPr>
          <a:xfrm>
            <a:off x="1325880" y="2697480"/>
            <a:ext cx="594360" cy="59436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s7</a:t>
            </a:r>
          </a:p>
        </p:txBody>
      </p:sp>
      <p:sp>
        <p:nvSpPr>
          <p:cNvPr id="57" name="Oval 56"/>
          <p:cNvSpPr/>
          <p:nvPr/>
        </p:nvSpPr>
        <p:spPr>
          <a:xfrm>
            <a:off x="2560320" y="2697480"/>
            <a:ext cx="594360" cy="594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8" name="Oval 57"/>
          <p:cNvSpPr/>
          <p:nvPr/>
        </p:nvSpPr>
        <p:spPr>
          <a:xfrm>
            <a:off x="3794760" y="2697480"/>
            <a:ext cx="594360" cy="59436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9" name="Oval 58"/>
          <p:cNvSpPr/>
          <p:nvPr/>
        </p:nvSpPr>
        <p:spPr>
          <a:xfrm>
            <a:off x="5029200" y="2697480"/>
            <a:ext cx="594360" cy="59436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s7</a:t>
            </a:r>
          </a:p>
        </p:txBody>
      </p:sp>
      <p:sp>
        <p:nvSpPr>
          <p:cNvPr id="60" name="Oval 59"/>
          <p:cNvSpPr/>
          <p:nvPr/>
        </p:nvSpPr>
        <p:spPr>
          <a:xfrm>
            <a:off x="1325880" y="3703320"/>
            <a:ext cx="594360" cy="59436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61" name="Oval 60"/>
          <p:cNvSpPr/>
          <p:nvPr/>
        </p:nvSpPr>
        <p:spPr>
          <a:xfrm>
            <a:off x="2560320" y="370332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s0</a:t>
            </a:r>
          </a:p>
        </p:txBody>
      </p:sp>
      <p:sp>
        <p:nvSpPr>
          <p:cNvPr id="62" name="Oval 61"/>
          <p:cNvSpPr/>
          <p:nvPr/>
        </p:nvSpPr>
        <p:spPr>
          <a:xfrm>
            <a:off x="3794760" y="3703320"/>
            <a:ext cx="594360" cy="594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63" name="Oval 62"/>
          <p:cNvSpPr/>
          <p:nvPr/>
        </p:nvSpPr>
        <p:spPr>
          <a:xfrm>
            <a:off x="5029200" y="3703320"/>
            <a:ext cx="594360" cy="59436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64" name="Oval 63"/>
          <p:cNvSpPr/>
          <p:nvPr/>
        </p:nvSpPr>
        <p:spPr>
          <a:xfrm>
            <a:off x="1216152" y="4599432"/>
            <a:ext cx="813816" cy="813816"/>
          </a:xfrm>
          <a:prstGeom prst="ellipse">
            <a:avLst/>
          </a:prstGeom>
          <a:noFill/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25880" y="4709160"/>
            <a:ext cx="594360" cy="5943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s8</a:t>
            </a:r>
          </a:p>
        </p:txBody>
      </p:sp>
      <p:sp>
        <p:nvSpPr>
          <p:cNvPr id="66" name="Oval 65"/>
          <p:cNvSpPr/>
          <p:nvPr/>
        </p:nvSpPr>
        <p:spPr>
          <a:xfrm>
            <a:off x="2560320" y="4709160"/>
            <a:ext cx="594360" cy="5943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67" name="Oval 66"/>
          <p:cNvSpPr/>
          <p:nvPr/>
        </p:nvSpPr>
        <p:spPr>
          <a:xfrm>
            <a:off x="3794760" y="4709160"/>
            <a:ext cx="594360" cy="594360"/>
          </a:xfrm>
          <a:prstGeom prst="ellipse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68" name="Oval 67"/>
          <p:cNvSpPr/>
          <p:nvPr/>
        </p:nvSpPr>
        <p:spPr>
          <a:xfrm>
            <a:off x="4919472" y="4599432"/>
            <a:ext cx="813816" cy="813816"/>
          </a:xfrm>
          <a:prstGeom prst="ellipse">
            <a:avLst/>
          </a:prstGeom>
          <a:noFill/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029200" y="4709160"/>
            <a:ext cx="594360" cy="5943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  <a:p>
            <a:pPr algn="ctr">
              <a:defRPr sz="1000">
                <a:solidFill>
                  <a:srgbClr val="FFFFFF"/>
                </a:solidFill>
                <a:latin typeface="Calibri"/>
              </a:defRPr>
            </a:pPr>
            <a:r>
              <a:t>s8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" y="5715000"/>
            <a:ext cx="45720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Four corners (Node_01, 04, 13, 16) ringed in amber: all reuse Slot 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72200" y="1325880"/>
            <a:ext cx="1645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72200" y="1325880"/>
            <a:ext cx="54864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81928" y="1389888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42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edges in 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3568" y="1325880"/>
            <a:ext cx="1645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973568" y="1325880"/>
            <a:ext cx="54864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83296" y="1389888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90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edges in G^2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774936" y="1325880"/>
            <a:ext cx="1645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774936" y="1325880"/>
            <a:ext cx="54864" cy="960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84664" y="1389888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15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max degree in G^2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72200" y="242316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72200" y="2423160"/>
            <a:ext cx="91440" cy="2514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00800" y="2560320"/>
            <a:ext cx="489204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Why 9 is the floor: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(1) diagonal 300*sqrt(2) = 424 m is in range (&lt;= 500 m).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(2) any 3x3 block has all pairs within 2 hops in physical graph G.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(3) so 9 radios form a 9-clique in G^2 (every pair conflicts).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(4) no schedule can use fewer than 9 and the solver finds exactly 9.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5074920"/>
            <a:ext cx="5257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55080" y="5184648"/>
            <a:ext cx="4892040" cy="9235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the brief's 5-slot sample is a format example with partial coordinates, not a target. The mathematical 9-clique lower bound proves 9 slots is the global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Every heuristic matched the exact optimum on all four topologies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6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51206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14400" y="1600200"/>
          <a:ext cx="475488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325880"/>
          <a:ext cx="52578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143000"/>
              </a:tblGrid>
              <a:tr h="356616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Topology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 edges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G^2 edges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>
                    <a:solidFill>
                      <a:srgbClr val="123C46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4x4 Grid (300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766E"/>
                          </a:solidFill>
                          <a:latin typeface="Calibri"/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Sparse Linear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766E"/>
                          </a:solidFill>
                          <a:latin typeface="Calibri"/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Dense 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766E"/>
                          </a:solidFill>
                          <a:latin typeface="Calibri"/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Two Clusters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766E"/>
                          </a:solidFill>
                          <a:latin typeface="Calibri"/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72200" y="3291840"/>
            <a:ext cx="5257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3291840"/>
            <a:ext cx="91440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401568"/>
            <a:ext cx="4892040" cy="1197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23C46"/>
                </a:solidFill>
                <a:latin typeface="Georgia"/>
              </a:defRPr>
            </a:pPr>
            <a:r>
              <a:t>What the numbers say: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dense cluster is a 16-clique so 16 is forced; two clusters 3000 m apart reuse slots 0 to 7, halving the frame.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84632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846320"/>
            <a:ext cx="91440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956048"/>
            <a:ext cx="4892040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23C46"/>
                </a:solidFill>
                <a:latin typeface="Georgia"/>
              </a:defRPr>
            </a:pPr>
            <a:r>
              <a:t>Cost on 16 nodes:</a:t>
            </a:r>
          </a:p>
          <a:p>
            <a:pPr>
              <a:spcBef>
                <a:spcPts val="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greedy and DSATUR under 0.3 ms, 1000 restarts about 15 to 37 ms, exact solve about 0.2 to 1.2 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Verified independently; EMANE bridge designed and tested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7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51206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91440" cy="24231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63040"/>
            <a:ext cx="475488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Independent Verifier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BFS hop distances on raw G, no shared code with colouring.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Checks one slot per node, contiguous slots 0..K-1, no pair within 2 hops shares a slot.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47 of 47 tests pass, including property tests and a fallback solver that matches CP-SAT.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1206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91440" cy="2423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463040"/>
            <a:ext cx="475488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EMANE Range Modelling (Design Only)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EMANE does not know the 500 m rule natively.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Locations and pathloss must be calibrated so effective range is about 500 m.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Otherwise all 16 radios hear each other globally and the schedule would collide.</a:t>
            </a:r>
          </a:p>
          <a:p>
            <a:pPr>
              <a:spcBef>
                <a:spcPts val="3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Status: planned, not run on a live Linux kernel testbed.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10698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41648"/>
            <a:ext cx="102412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600" b="1">
                <a:solidFill>
                  <a:srgbClr val="123C46"/>
                </a:solidFill>
                <a:latin typeface="Georgia"/>
              </a:defRPr>
            </a:pPr>
            <a:r>
              <a:t>EMANE Schedule Translation Pipeline &amp; Boundary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434840"/>
            <a:ext cx="1600200" cy="685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  <a:br/>
            <a:r>
              <a:t>Optimizer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4777740"/>
            <a:ext cx="548640" cy="0"/>
          </a:xfrm>
          <a:prstGeom prst="line">
            <a:avLst/>
          </a:prstGeom>
          <a:ln w="3175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4434840"/>
            <a:ext cx="1600200" cy="685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Schedule</a:t>
            </a:r>
            <a:br/>
            <a:r>
              <a:t>JSON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80" y="4777740"/>
            <a:ext cx="548640" cy="0"/>
          </a:xfrm>
          <a:prstGeom prst="line">
            <a:avLst/>
          </a:prstGeom>
          <a:ln w="3175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03520" y="4434840"/>
            <a:ext cx="1600200" cy="685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Bridge</a:t>
            </a:r>
            <a:br/>
            <a:r>
              <a:t>Script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4777740"/>
            <a:ext cx="548640" cy="0"/>
          </a:xfrm>
          <a:prstGeom prst="line">
            <a:avLst/>
          </a:prstGeom>
          <a:ln w="3175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52360" y="4434840"/>
            <a:ext cx="1600200" cy="68580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Schedule</a:t>
            </a:r>
            <a:br/>
            <a:r>
              <a:t>XML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052560" y="4777740"/>
            <a:ext cx="548640" cy="0"/>
          </a:xfrm>
          <a:prstGeom prst="line">
            <a:avLst/>
          </a:prstGeom>
          <a:ln w="317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4434840"/>
            <a:ext cx="1600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EMANE</a:t>
            </a:r>
            <a:br/>
            <a:r>
              <a:t>Nodes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257800"/>
            <a:ext cx="7726679" cy="77724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F766E"/>
                </a:solidFill>
                <a:latin typeface="Calibri"/>
              </a:defRPr>
            </a:pPr>
            <a:r>
              <a:t>TESTED OFFLINE: JSON to XML translation, node-to-NEM mapping, round-trip schema 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40" y="5257800"/>
            <a:ext cx="214884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DESIGN ONLY:</a:t>
            </a:r>
            <a:br/>
            <a:r>
              <a:t>live emulation, Docker build, packet-level slot enforcement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23C46"/>
                </a:solidFill>
                <a:latin typeface="Georgia"/>
              </a:defRPr>
            </a:pPr>
            <a:r>
              <a:t>What is proven, what is pending,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6400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Athish M | TDMA 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4748B"/>
                </a:solidFill>
                <a:latin typeface="Calibri"/>
              </a:defRPr>
            </a:pPr>
            <a:r>
              <a:t>8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33832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3383280" cy="6400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Georgia"/>
              </a:defRPr>
            </a:pPr>
            <a:r>
              <a:t>PROVEN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2926080" cy="3977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9, 3, 16, 8 slots each equal to the exact optimum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independent verifier passes on all topologies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CP-SAT and pure-Python solver agree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47 tests pass on a fresh clone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Exact 500.0 m float tolerance (1e-9 m) and duplicate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325880"/>
            <a:ext cx="33832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325880"/>
            <a:ext cx="33832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Georgia"/>
              </a:defRPr>
            </a:pPr>
            <a:r>
              <a:t>NOT YET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103120"/>
            <a:ext cx="2926080" cy="3977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live EMANE emulation in multi-node container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Docker build and live TAP interface setup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packet-level slot enforcement with ping/iperf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pathloss calibration to about 500 m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deliberate conflict injection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1325880"/>
            <a:ext cx="33832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5008" y="1325880"/>
            <a:ext cx="3383280" cy="640080"/>
          </a:xfrm>
          <a:prstGeom prst="rect">
            <a:avLst/>
          </a:prstGeom>
          <a:solidFill>
            <a:srgbClr val="123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Georgia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103120"/>
            <a:ext cx="2926080" cy="3977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multi-channel time x frequency colouring across orthogonal bands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mobility and re-scheduling (DRAND / C-TDMA protocols)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link-level scheduling (directed spatial TDMA)</a:t>
            </a:r>
          </a:p>
          <a:p>
            <a:pPr>
              <a:spcBef>
                <a:spcPts val="800"/>
              </a:spcBef>
              <a:defRPr sz="1400">
                <a:solidFill>
                  <a:srgbClr val="1E293B"/>
                </a:solidFill>
                <a:latin typeface="Calibri"/>
              </a:defRPr>
            </a:pPr>
            <a:r>
              <a:t>• larger topologies to stress the heuristics (n = 50 to 500)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