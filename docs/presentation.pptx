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TDMA Schedule Planner &amp; Spatial Reuse Optimizer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63238"/>
                </a:solidFill>
              </a:defRPr>
            </a:pPr>
            <a:r>
              <a:t>Conflict-Free Frame Optimization in Multi-Hop Wireless Networks with EMANE Emulation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-37625237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Presenter: Wireless Protocol Development Internship Candidate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Core Objective: Minimize TDMA frame length under strict Distance-1 and Distance-2 (hidden terminal) constraints.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Spatial Reuse: Safely co-allocate timeslots to nodes separated by ≥ 3 hops to maximize aggregate capacity.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Dual Architecture: Production Python optimizer (Part 1) + High-fidelity EMANE integration bridge (Part 2).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The Physical &amp; Protocol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63238"/>
                </a:solidFill>
              </a:defRPr>
            </a:pPr>
            <a:r>
              <a:t>Shared Medium, Collision Mechanics, and Spatial Reuse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-37625237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Shared Wireless Medium: Single carrier frequency, half-duplex omnidirectional transceivers (Range R = 500.0 m).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Distance-1 Direct Collision: Adjacent nodes (d ≤ 500 m) collide if transmitting concurrently; requires distinct slots.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Distance-2 Hidden Terminal Collision: Non-adjacent nodes sharing a common neighbor corrupt reception at the shared node.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Spatial Concurrency: Transmitters separated by ≥ 3 hops may concurrently transmit without mutual interference.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Optimization Goal: Minimize frame length K (maximizes per-node channel access rate and minimizes latency).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Mathematical Graph Formulation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63238"/>
                </a:solidFill>
              </a:defRPr>
            </a:pPr>
            <a:r>
              <a:t>Equivalence Theorem: Distance-2 Coloring of G ≡ Vertex Coloring of G²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-37625237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Physical Graph G = (V, E): Undirected edge exists iff Euclidean distance d(u, v) ≤ 500.0 m (10⁻⁹ m tolerance).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Conflict Graph G_conflict = G²: Edge exists iff shortest path hop distance is 1 or 2 hops in G.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Fundamental Isomorphism: Distance-2 vertex coloring of G is mathematically equivalent to ordinary vertex coloring of G².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Theoretical Complexity: Finding chromatic number χ(G²) is NP-hard (even on Unit Disk Graphs).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Analytical Bounds: ω(G²) ≤ χ(G²) ≤ Δ(G²) + 1, where ω is the maximum clique size and Δ is maximum degree.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Algorithmic Architecture &amp; Heuristics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63238"/>
                </a:solidFill>
              </a:defRPr>
            </a:pPr>
            <a:r>
              <a:t>Complementary Heuristics Balancing Speed and Solution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-37625237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1. Largest-Degree-First (LDF / Welsh-Powell): Colors high-degree conflict bottlenecks first; O(V log V + E).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2. DSATUR (Degree of Saturation): Dynamic greedy selection by maximum neighbor color saturation; O(V² + E).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3. Smallest-Last (Degeneracy / Matula-Beck): Reverse elimination ordering bounded by subgraph degeneracy; O(V + E).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4. Seeded Randomized Restarts: Explores 1000 randomized permutations deterministically with fixed seeds.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5. Local Search &amp; Color Reduction: Kempe-chain 2-color swaps and min-conflicts Tabu search to eliminate highest color classes.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Exact Solvers &amp; Proof of Optimality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63238"/>
                </a:solidFill>
              </a:defRPr>
            </a:pPr>
            <a:r>
              <a:t>Dual-Solver Strategy with Symmetry Breaking &amp; Zero-Dependency Fallback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-37625237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Primary Solver: Google OR-Tools CP-SAT (0-1 ILP constraint optimization with symmetry-breaking inequalities).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Fallback Solver: Pure-Python Branch-and-Bound Backtracking with DSATUR variable branching and clique pre-coloring.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Maximum Clique Pre-coloring: Nodes in the maximum clique ω(G²) are pinned to fixed colors 0..ω-1, eliminating color permutation explosion.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Lower-Bound Pruning: Search halts immediately once best-known upper bound matches clique lower bound.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Sub-Millisecond Speed: Both exact solvers compute the true global optimum for 16-node topologies in &lt; 0.5 ms.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Empirical Results &amp; Benchmark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63238"/>
                </a:solidFill>
              </a:defRPr>
            </a:pPr>
            <a:r>
              <a:t>Benchmark Performance Across 4 Standard Reference Topologies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9164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l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Scenario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Nodes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G Edges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G² Edges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Max Deg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Exact Opt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Best Heuristic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Gap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Runtime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1. 4x4 Grid (300 m)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42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90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D47A1"/>
                          </a:solidFill>
                        </a:defRPr>
                      </a:pPr>
                      <a:r>
                        <a:t>9 slots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D47A1"/>
                          </a:solidFill>
                        </a:defRPr>
                      </a:pPr>
                      <a:r>
                        <a:t>9 slots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0 (Opt)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0.48 ms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2. Sparse Linear (350 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D47A1"/>
                          </a:solidFill>
                        </a:defRPr>
                      </a:pPr>
                      <a:r>
                        <a:t>3 slots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D47A1"/>
                          </a:solidFill>
                        </a:defRPr>
                      </a:pPr>
                      <a:r>
                        <a:t>3 slots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0 (Opt)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0.17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3. Dense Cluster (≤500 m)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120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120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D47A1"/>
                          </a:solidFill>
                        </a:defRPr>
                      </a:pPr>
                      <a:r>
                        <a:t>16 slots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D47A1"/>
                          </a:solidFill>
                        </a:defRPr>
                      </a:pPr>
                      <a:r>
                        <a:t>16 slots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0 (Opt)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0.22 ms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4. Disconnected Clusters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D47A1"/>
                          </a:solidFill>
                        </a:defRPr>
                      </a:pPr>
                      <a:r>
                        <a:t>8 slots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D47A1"/>
                          </a:solidFill>
                        </a:defRPr>
                      </a:pPr>
                      <a:r>
                        <a:t>8 slots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0 (Opt)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12121"/>
                          </a:solidFill>
                        </a:defRPr>
                      </a:pPr>
                      <a:r>
                        <a:t>0.30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Independent Schedule Verifier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63238"/>
                </a:solidFill>
              </a:defRPr>
            </a:pPr>
            <a:r>
              <a:t>Strict Separation of Concerns &amp; BFS Topological Integrity Enforcement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-37625237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Zero Algorithmic Circularity: The verifier does NOT reuse graph coloring, G², or heuristics code.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BFS Shortest-Path Queries: Hop distances are computed directly on the physical connectivity graph G.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Coverage Invariant: Verifies every node in V is assigned exactly one slot (detects unassigned and phantom nodes).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Contiguity Invariant: Asserts timeslot IDs span contiguous range 0..K-1 with zero orphaned gaps.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Conflict Freedom: Rigorously verifies that any pair sharing a slot has hop distance ≥ 3; flags all violations with exit code 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EMANE Emulation Bridge (Part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63238"/>
                </a:solidFill>
              </a:defRPr>
            </a:pPr>
            <a:r>
              <a:t>Bridging Mathematical Schedules to Real-Time Network Emulation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-37625237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High-Fidelity Radio Emulation: Integrates with EMANE tdmaeventschedulerradiomodel (1 ms slots, 50 µs guard time).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Official Verification Log: 100% verified against Adjacent Link official documentation, XML schemas, and Python bindings.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Timing Architecture: Slot duration (1000 µs), overhead (50 µs), and bandwidth (20 MHz) defined in &lt;structure&gt; XML.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Automated Translator (schedule_to_emane.py): Generates schema-compliant XML and dynamic Python Event scripts.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Tested vs Design-Only Boundary: Offline schema parsing and round-trip parity tested; live kernel RF execution documented.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Emulation Test Plan &amp; Engineering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63238"/>
                </a:solidFill>
              </a:defRPr>
            </a:pPr>
            <a:r>
              <a:t>Virtual Testbed Execution Plan and Critical Protocol Safeguards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-37625237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Test Case 1 (Valid Schedule): Ping and iperf traffic pass with 0% loss; packets emit strictly at 9 ms frame intervals.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Test Case 2 (Conflicting Schedule): Deliberate collision forces SINR below PCR curve; triggers &gt; 80% packet discards.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Exact 500.0 m Boundary: Applied 10⁻⁹ m epsilon tolerance to guarantee exact 500.0 m coordinates are in direct range.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Duplicate Coordinate Rejection: Detects physically impossible co-locations and terminates with explicit diagnostic errors.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Deterministic Reproducibility: Seeded random generators guarantee reproducible schedules across runs.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D47A1"/>
          </a:solidFill>
          <a:ln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Conclusion &amp; Future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63238"/>
                </a:solidFill>
              </a:defRPr>
            </a:pPr>
            <a:r>
              <a:t>Production-Grade Protocol Implementation &amp; Advanced Wireless Extensions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-37625237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Summary: Complete, hardened TDMA schedule planner with 5 heuristics, 2 exact solvers, and independent BFS verifier.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Test Suite: 45 automated unit, property, CLI, and bridge tests passing with 100% pass rate.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Multi-Channel TDMA (2D Grid): Joint time-frequency scheduling (t, f) across orthogonal RF channels.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Distributed MANET Scheduling: Implement decentralized slot negotiation (DRAND / C-TDMA) for mobile ad-hoc nodes.</a:t>
            </a:r>
          </a:p>
          <a:p>
            <a:pPr>
              <a:spcAft>
                <a:spcPts val="1000"/>
              </a:spcAft>
              <a:defRPr sz="1400">
                <a:solidFill>
                  <a:srgbClr val="212121"/>
                </a:solidFill>
              </a:defRPr>
            </a:pPr>
            <a:r>
              <a:t>• Directed Spatial TDMA (STDMA): Move from omnidirectional reservations to link-oriented directional scheduling.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