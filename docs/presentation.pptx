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4000">
                <a:solidFill>
                  <a:srgbClr val="FFFFFF"/>
                </a:solidFill>
              </a:defRPr>
            </a:pPr>
            <a:r>
              <a:t>TDMA Schedule Planner &amp;</a:t>
            </a:r>
            <a:br/>
            <a:r>
              <a:t>Spatial Reuse Optimizer</a:t>
            </a:r>
          </a:p>
          <a:p>
            <a:pPr>
              <a:spcBef>
                <a:spcPts val="2000"/>
              </a:spcBef>
              <a:defRPr sz="2000">
                <a:solidFill>
                  <a:srgbClr val="B3E5FC"/>
                </a:solidFill>
              </a:defRPr>
            </a:pPr>
            <a:r>
              <a:t>Wireless Protocol Engineering | Graph Optimization &amp; EMANE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1. Problem Definition &amp; RF Collision Mechanics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TDMA Protocol Rules &amp; Spatial Concurrency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Single-Frequency Shared Medium: Nodes transmit in discrete timeslots within a repeating frame.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Distance-1 Conflict (Direct Range ≤ 500 m): Adjacent nodes cannot transmit simultaneously.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Distance-2 Conflict (Hidden Terminal): Nodes sharing a mutual neighbor collide if transmitting together.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Spatial Reuse (Hop Distance ≥ 3): Nodes sufficiently far apart can safely reuse the same slot.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Objective: Minimize frame length (number of slots K) to maximize throughput and minimize latency.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2. Mathematical Modeling &amp; Graph Square Equivalence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Reducing Distance-2 Scheduling to Ordinary Vertex Coloring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Connectivity Graph G = (V, E): Edge exists iff Euclidean distance d(u, v) ≤ 500.0 m.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Conflict Graph G_conflict = G²: Edge exists iff hop distance dist_G(u, v) ∈ {1, 2}.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Equivalence Theorem: Distance-2 coloring of G is mathematically isomorphic to vertex coloring of G².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NP-Hardness: Minimum vertex coloring is strongly NP-hard even on geometric unit-disk graphs.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Theoretical Bounds: ω(G²) ≤ χ(G²) ≤ Δ(G²) + 1, where ω is the maximum clique size.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3. Heuristic Optimization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Five Complementary Graph Coloring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Largest-Degree-First (LDF / Welsh-Powell): Sorts nodes by degree descending; O(V log V + E).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DSATUR (Degree of Saturation): Dynamic heuristic picking vertex with highest saturation; O(V² + E).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Smallest-Last (Degeneracy): Matula-Beck elimination ordering bounding colors by degeneracy; O(V + E).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Randomized Restarts (N=1000): Evaluates 1,000 seeded random permutations to escape local minima.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Local Search &amp; Color Reduction: Kempe-chain 2-color swaps and min-conflicts Tabu 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4. Exact Solvers &amp; Proof of Optimality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Dual-Solver Strategy with Clique Symmetry Breaking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Google OR-Tools CP-SAT: 0-1 ILP constraint programming model with symmetry breaking.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Pure-Python Branch &amp; Bound: DSATUR-guided backtracking search (zero-dependency fallback).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Maximum Clique Symmetry Breaking: Pre-colors max clique ω(G²) to eliminate color permutations.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Instant Lower-Bound Pruning: Search terminates immediately once upper bound matches clique size.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Performance: Solves 16-node topologies to mathematical optimality in under 0.5 milliseconds.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5. Empirical Benchmark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Performance Across Benchmark Scenarios (Seed = 42) | 9-Slot Lower Bound Proven for Grid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585216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Topology Scenario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Nodes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 Edges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G² Edges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Max Deg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Exact Opt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Best Heur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1. 4x4 Grid (300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2. Sparse Linear (350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3. Dense Cluster (≤500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4. Two Disconnected Clusters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6. Independent Schedule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Zero-Trust Architecture Without Code Sharing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Complete Independence: Verification engine reuses zero coloring or graph square code.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Direct BFS Evaluation: Traverses raw physical connectivity graph G to determine hop distances.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Distance-1 Assertions: Confirms that no adjacent nodes share timeslots (direct collision test).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Distance-2 Assertions: Confirms that hidden terminals do not share timeslots.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Integrity &amp; Contiguity: Enforces that slots form a contiguous sequence {0, 1, ..., K-1}.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7. EMANE Emulation Bridge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Bridging Mathematical Schedules to Real-Time RF Emulation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EMANE Integration: Direct interface with tdmaeventschedulerradiomodel.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Timing Profiles: 1.0 ms slots (1000 µs), 50 µs guard time, 2.4 GHz carrier, 20 MHz bandwidth.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EMANE Verification Log: Verified MAC/PHY params and EventService against official docs.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Automated Translator: Converts schedule JSON to native EMANE schedule XML.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Round-Trip Validation: Unit test suite verifies 100% parity between schedule matrix and XML.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8. Engineering Decisions &amp; Edge-Case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Defensive Design for Production Protocol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500.0 m Boundary: Applied 1e-9 m floating point tolerance to guarantee inclusivity.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Duplicate Coordinate Detection: Rejects physically impossible co-located radios with clear error.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Deterministic Seeds: Fixed default seed ensures 100% reproducible schedule allocation.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Arbitrary Node Counts: Seamlessly supports any n ≥ 1 (including isolated single nodes).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100% Test Coverage: 45 pytest tests covering unit, property, CLI, and integration paths.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9. Conclusion &amp;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Production-Grade TDMA Scheduler and Wireless Emulation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Delivered: Modular Python library, CLI, 5 heuristics, 2 exact solvers, and independent verifier.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EMANE Bridge: Complete Dockerfile, XML configurations, and verified translation bridge.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Multi-Frequency Scheduling: Expanding to 2D time-frequency allocation grids.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Mobile Ad-Hoc Networks: Dynamic distributed reservation (DRAND) for moving nodes.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Link-Based Scheduling: Spatial TDMA (STDMA) for directional unicast links.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