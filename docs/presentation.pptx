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Athish M, Protocol Development Engineering Candidate.</a:t>
            </a:r>
          </a:p>
          <a:p>
            <a:r>
              <a:t>Core Objective: Minimize TDMA frame length under strict Distance-1 and Distance-2 (hidden terminal) constraints while exploiting spatial reuse.</a:t>
            </a:r>
          </a:p>
          <a:p>
            <a:r>
              <a:t>Dual Architecture: Production Python optimizer (Part 1) + High-fidelity EMANE integration bridge (Part 2).</a:t>
            </a:r>
          </a:p>
          <a:p>
            <a:r>
              <a:t>All source code, tests, and documentation at: github.com - tdma-schedule-optimizer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Shared Wireless Medium: Single carrier frequency, half-duplex omnidirectional transceivers (Range R = 500.0 m).</a:t>
            </a:r>
          </a:p>
          <a:p>
            <a:r>
              <a:t>Distance-1 Direct Collision: Adjacent nodes (d ≤ 500 m) collide if transmitting concurrently; requires distinct slots.</a:t>
            </a:r>
          </a:p>
          <a:p>
            <a:r>
              <a:t>Distance-2 Hidden Terminal Collision: Non-adjacent nodes sharing a common neighbor corrupt reception at the shared node.</a:t>
            </a:r>
          </a:p>
          <a:p>
            <a:r>
              <a:t>Spatial Concurrency: Transmitters separated by ≥ 3 hops may concurrently transmit without mutual interference.</a:t>
            </a:r>
          </a:p>
          <a:p>
            <a:r>
              <a:t>Optimization Goal: Minimize frame length K (maximizes per-node channel access rate and minimizes latency).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Physical Graph G = (V, E): Undirected edge exists iff Euclidean distance d(u, v) ≤ 500.0 m (10⁻⁹ m tolerance).</a:t>
            </a:r>
          </a:p>
          <a:p>
            <a:r>
              <a:t>Conflict Graph G_conflict = G²: Edge exists iff shortest path hop distance is 1 or 2 hops in G.</a:t>
            </a:r>
          </a:p>
          <a:p>
            <a:r>
              <a:t>Fundamental Isomorphism: Distance-2 vertex coloring of G is mathematically equivalent to ordinary vertex coloring of G².</a:t>
            </a:r>
          </a:p>
          <a:p>
            <a:r>
              <a:t>Theoretical Complexity: Finding chromatic number χ(G²) is NP-hard (even on Unit Disk Graphs).</a:t>
            </a:r>
          </a:p>
          <a:p>
            <a:r>
              <a:t>Analytical Bounds: ω(G²) ≤ χ(G²) ≤ Δ(G²) + 1, where ω is the maximum clique size and Δ is maximum degree.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heuristics target different structural weaknesses:</a:t>
            </a:r>
          </a:p>
          <a:p>
            <a:r>
              <a:t>1. LDF: Colors high-degree conflict bottlenecks first; O(V log V + E).</a:t>
            </a:r>
          </a:p>
          <a:p>
            <a:r>
              <a:t>2. DSATUR: Dynamic greedy selection by maximum neighbor color saturation; O(V² + E).</a:t>
            </a:r>
          </a:p>
          <a:p>
            <a:r>
              <a:t>3. Smallest-Last: Reverse elimination ordering bounded by subgraph degeneracy; O(V + E).</a:t>
            </a:r>
          </a:p>
          <a:p>
            <a:r>
              <a:t>4. Randomized Restarts: Explores 1000 randomized permutations deterministically with fixed seeds.</a:t>
            </a:r>
          </a:p>
          <a:p>
            <a:r>
              <a:t>5. Local Search: Kempe-chain 2-color swaps and min-conflicts Tabu search to eliminate highest color classes.</a:t>
            </a:r>
          </a:p>
          <a:p/>
          <a:p>
            <a:r>
              <a:t>Two exact solvers:</a:t>
            </a:r>
          </a:p>
          <a:p>
            <a:r>
              <a:t>A. Google OR-Tools CP-SAT: 0-1 ILP constraint optimization with symmetry-breaking inequalities.</a:t>
            </a:r>
          </a:p>
          <a:p>
            <a:r>
              <a:t>B. Pure-Python Branch-and-Bound: Zero-dependency fallback with DSATUR branching and clique pre-coloring.</a:t>
            </a:r>
          </a:p>
          <a:p>
            <a:r>
              <a:t>Performance: about 1 ms or less on 16-node benchmark topologies.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Primary Solver: Google OR-Tools CP-SAT (0-1 ILP constraint optimization with symmetry-breaking inequalities).</a:t>
            </a:r>
          </a:p>
          <a:p>
            <a:r>
              <a:t>Fallback Solver: Pure-Python Branch-and-Bound Backtracking with DSATUR variable branching and clique pre-coloring.</a:t>
            </a:r>
          </a:p>
          <a:p>
            <a:r>
              <a:t>Maximum Clique Pre-coloring: Nodes in the maximum clique ω(G²) are pinned to fixed colors 0..ω-1, eliminating color permutation explosion.</a:t>
            </a:r>
          </a:p>
          <a:p>
            <a:r>
              <a:t>Lower-Bound Pruning: Search halts immediately once best-known upper bound matches clique lower bound.</a:t>
            </a:r>
          </a:p>
          <a:p>
            <a:r>
              <a:t>Performance: about 1 ms or less on 16-node topologies.</a:t>
            </a:r>
          </a:p>
          <a:p>
            <a:r>
              <a:t>The --force-pure-python-exact flag runs the Branch-and-Bound solver even when OR-Tools is available, for comparison.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Benchmark Performance Across 4 Standard Reference Topologies:</a:t>
            </a:r>
          </a:p>
          <a:p>
            <a:r>
              <a:t>1. 4x4 Grid (300 m spacing): 42 G-edges, 90 G²-edges, Max Deg 15 → 9 slots (optimal).</a:t>
            </a:r>
          </a:p>
          <a:p>
            <a:r>
              <a:t>2. Sparse Linear (350 m spacing): 15 G-edges, 29 G²-edges, Max Deg 4 → 3 slots (optimal).</a:t>
            </a:r>
          </a:p>
          <a:p>
            <a:r>
              <a:t>3. Dense Cluster (≤500 m): 120 G-edges, 120 G²-edges, Max Deg 15 → 16 slots (no reuse).</a:t>
            </a:r>
          </a:p>
          <a:p>
            <a:r>
              <a:t>4. Two Disconnected Clusters: 56 G-edges, 56 G²-edges, Max Deg 7 → 8 slots (full reuse).</a:t>
            </a:r>
          </a:p>
          <a:p>
            <a:r>
              <a:t>All heuristics achieve 0 gap from the exact optimum on all topologies.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Design Principle: Absolute separation of concerns — zero shared code with coloring or G² construction.</a:t>
            </a:r>
          </a:p>
          <a:p>
            <a:r>
              <a:t>BFS Shortest-Path Checks: Evaluates hop distances directly on physical graph G.</a:t>
            </a:r>
          </a:p>
          <a:p>
            <a:r>
              <a:t>Assertions Enforced:</a:t>
            </a:r>
          </a:p>
          <a:p>
            <a:r>
              <a:t>  - Every node has exactly one slot (Coverage check).</a:t>
            </a:r>
          </a:p>
          <a:p>
            <a:r>
              <a:t>  - Slots are contiguous 0..K-1 (Contiguity check).</a:t>
            </a:r>
          </a:p>
          <a:p>
            <a:r>
              <a:t>  - No pairs within 1 or 2 hops share slots (Conflict freedom).</a:t>
            </a:r>
          </a:p>
          <a:p>
            <a:r>
              <a:t>Outcome: Catches deliberate collisions, missing nodes, and gaps; exits non-zero on failure.</a:t>
            </a:r>
          </a:p>
          <a:p/>
          <a:p>
            <a:r>
              <a:t>Verified 4x4 Grid node-to-slot list (matches CLI output):</a:t>
            </a:r>
          </a:p>
          <a:p>
            <a:r>
              <a:t>Node_01: Slot 8, Node_02: Slot 4, Node_03: Slot 5, Node_04: Slot 8, Node_05: Slot 6, Node_06: Slot 0, Node_07: Slot 1, Node_08: Slot 6, Node_09: Slot 7, Node_10: Slot 2, Node_11: Slot 3, Node_12: Slot 7, Node_13: Slot 8, Node_14: Slot 4, Node_15: Slot 5, Node_16: Slot 8.</a:t>
            </a:r>
          </a:p>
          <a:p>
            <a:r>
              <a:t>The four corners (Nodes 1, 4, 13, 16) are 3+ hops apart and safely reuse Slot 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High-Fidelity Radio Emulation: Integrates with EMANE tdmaeventschedulerradiomodel (1 ms slots, 50 µs guard time).</a:t>
            </a:r>
          </a:p>
          <a:p>
            <a:r>
              <a:t>Parameter names checked against official EMANE sources; live run not performed.</a:t>
            </a:r>
          </a:p>
          <a:p>
            <a:r>
              <a:t>Timing Architecture: Slot duration (1000 µs), overhead (50 µs), and bandwidth (20 MHz) defined in &lt;structure&gt; XML.</a:t>
            </a:r>
          </a:p>
          <a:p>
            <a:r>
              <a:t>Range Modeling (Design Only): EMANE uses LocationEvent (ID 100) / PathlossEvent (ID 101) &amp; PCR curves to calibrate ~500 m range.</a:t>
            </a:r>
          </a:p>
          <a:p>
            <a:r>
              <a:t>Tested vs Design-Only Boundary: Offline schema parsing and round-trip parity tested; live kernel RF execution documented.</a:t>
            </a:r>
          </a:p>
          <a:p>
            <a:r>
              <a:t>Generated files: schedule.xml, platform.xml, nem.xml, phy-universal.xml, mac-tdmaeventschedule.xml, publish_schedule.py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Planned Test Plan (Not Yet Run):</a:t>
            </a:r>
          </a:p>
          <a:p>
            <a:r>
              <a:t>1. Valid Schedule: expect delivery strictly inside scheduled slots (planned).</a:t>
            </a:r>
          </a:p>
          <a:p>
            <a:r>
              <a:t>2. Deliberately Conflicting Schedule: expect collisions and packet drops at shared receivers (planned).</a:t>
            </a:r>
          </a:p>
          <a:p>
            <a:r>
              <a:t>3. Range Calibration: pathloss tuned to ~500 m so that radios beyond 500 m do not collide (planned).</a:t>
            </a:r>
          </a:p>
          <a:p/>
          <a:p>
            <a:r>
              <a:t>Engineering Safeguards:</a:t>
            </a:r>
          </a:p>
          <a:p>
            <a:r>
              <a:t>Exact 500.0 m Boundary: Applied 10⁻⁹ m epsilon tolerance to guarantee exact 500.0 m coordinates are in direct range.</a:t>
            </a:r>
          </a:p>
          <a:p>
            <a:r>
              <a:t>Duplicate Coordinate Rejection: Detects physically impossible co-locations and terminates with explicit diagnostic errors.</a:t>
            </a:r>
          </a:p>
          <a:p>
            <a:r>
              <a:t>Deterministic Reproducibility: Seeded random generators guarantee reproducible schedules across runs.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Summary: Part 1 complete and verified; Part 2 designed and tested offline.</a:t>
            </a:r>
          </a:p>
          <a:p>
            <a:r>
              <a:t>Test Suite: 47 automated unit, property, CLI, and bridge tests passing with 100% pass rate.</a:t>
            </a:r>
          </a:p>
          <a:p>
            <a:r>
              <a:t>Multi-Channel TDMA (2D Grid): Joint time-frequency scheduling (t, f) across orthogonal RF channels.</a:t>
            </a:r>
          </a:p>
          <a:p>
            <a:r>
              <a:t>Distributed MANET Scheduling: Implement decentralized slot negotiation (DRAND / C-TDMA) for mobile ad-hoc nodes.</a:t>
            </a:r>
          </a:p>
          <a:p>
            <a:r>
              <a:t>Directed Spatial TDMA (STDMA): Move from omnidirectional reservations to link-oriented directional scheduling.</a:t>
            </a:r>
          </a:p>
          <a:p>
            <a:r>
              <a:t>Author: Athish M, athishm2007@gmail.com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828800"/>
            <a:ext cx="9966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b="1" sz="4000">
                <a:solidFill>
                  <a:srgbClr val="FFFFFF"/>
                </a:solidFill>
              </a:defRPr>
            </a:pPr>
            <a:r>
              <a:t>TDMA Schedule Planner &amp;</a:t>
            </a:r>
            <a:br/>
            <a:r>
              <a:t>Spatial Reuse Optimizer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29184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>
                <a:solidFill>
                  <a:srgbClr val="BBDEFB"/>
                </a:solidFill>
              </a:defRPr>
            </a:pPr>
            <a:r>
              <a:t>Conflict-Free Frame Optimization in Multi-Hop Wireless Networks</a:t>
            </a:r>
            <a:br/>
            <a:r>
              <a:t>with EMANE Emulation Bridge  •  Athish M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3108960"/>
            <a:ext cx="3657600" cy="36576"/>
          </a:xfrm>
          <a:prstGeom prst="rect">
            <a:avLst/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"/>
            <a:ext cx="106984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b="1" sz="3400">
                <a:solidFill>
                  <a:srgbClr val="FFFFFF"/>
                </a:solidFill>
              </a:defRPr>
            </a:pPr>
            <a:r>
              <a:t>The Physical &amp; Protocol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0292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100">
                <a:solidFill>
                  <a:srgbClr val="212121"/>
                </a:solidFill>
              </a:defRPr>
            </a:pPr>
            <a:r>
              <a:t>• Distance-1: Adjacent nodes (d ≤ 500 m)</a:t>
            </a:r>
            <a:br/>
            <a:r>
              <a:t>  collide if transmitting concurrently</a:t>
            </a:r>
          </a:p>
          <a:p>
            <a:pPr>
              <a:spcAft>
                <a:spcPts val="1200"/>
              </a:spcAft>
              <a:defRPr sz="2100">
                <a:solidFill>
                  <a:srgbClr val="212121"/>
                </a:solidFill>
              </a:defRPr>
            </a:pPr>
            <a:r>
              <a:t>• Distance-2: Hidden terminal — shared</a:t>
            </a:r>
            <a:br/>
            <a:r>
              <a:t>  neighbor receives corrupted packets</a:t>
            </a:r>
          </a:p>
          <a:p>
            <a:pPr>
              <a:spcAft>
                <a:spcPts val="1200"/>
              </a:spcAft>
              <a:defRPr sz="2100">
                <a:solidFill>
                  <a:srgbClr val="212121"/>
                </a:solidFill>
              </a:defRPr>
            </a:pPr>
            <a:r>
              <a:t>• Spatial reuse: Nodes ≥ 3 hops apart</a:t>
            </a:r>
            <a:br/>
            <a:r>
              <a:t>  can safely share the same timeslot</a:t>
            </a:r>
          </a:p>
        </p:txBody>
      </p:sp>
      <p:pic>
        <p:nvPicPr>
          <p:cNvPr id="5" name="Picture 4" descr="hidde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5486400" cy="254174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"/>
            <a:ext cx="106984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b="1" sz="3400">
                <a:solidFill>
                  <a:srgbClr val="FFFFFF"/>
                </a:solidFill>
              </a:defRPr>
            </a:pPr>
            <a:r>
              <a:t>Mathematical Graph Formulation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b="1" sz="5400">
                <a:solidFill>
                  <a:srgbClr val="0D47A1"/>
                </a:solidFill>
              </a:defRPr>
            </a:pPr>
            <a:r>
              <a:t>NP-hard</a:t>
            </a:r>
          </a:p>
          <a:p>
            <a:pPr algn="ctr">
              <a:defRPr sz="2000">
                <a:solidFill>
                  <a:srgbClr val="1565C0"/>
                </a:solidFill>
              </a:defRPr>
            </a:pPr>
            <a:r>
              <a:t>Minimum chromatic number — exact solvers prove optimality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83464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100">
                <a:solidFill>
                  <a:srgbClr val="212121"/>
                </a:solidFill>
              </a:defRPr>
            </a:pPr>
            <a:r>
              <a:t>• Physical Graph G = (V, E): edge iff d(u,v) ≤ 500 m</a:t>
            </a:r>
          </a:p>
          <a:p>
            <a:pPr>
              <a:spcAft>
                <a:spcPts val="1200"/>
              </a:spcAft>
              <a:defRPr sz="2100">
                <a:solidFill>
                  <a:srgbClr val="212121"/>
                </a:solidFill>
              </a:defRPr>
            </a:pPr>
            <a:r>
              <a:t>• Conflict Graph G² : edge iff hop distance ≤ 2</a:t>
            </a:r>
          </a:p>
          <a:p>
            <a:pPr>
              <a:spcAft>
                <a:spcPts val="1200"/>
              </a:spcAft>
              <a:defRPr sz="2100">
                <a:solidFill>
                  <a:srgbClr val="212121"/>
                </a:solidFill>
              </a:defRPr>
            </a:pPr>
            <a:r>
              <a:t>• Theorem: Distance-2 coloring of G ≡ coloring of G²</a:t>
            </a:r>
          </a:p>
          <a:p>
            <a:pPr>
              <a:spcAft>
                <a:spcPts val="1200"/>
              </a:spcAft>
              <a:defRPr sz="2100">
                <a:solidFill>
                  <a:srgbClr val="212121"/>
                </a:solidFill>
              </a:defRPr>
            </a:pPr>
            <a:r>
              <a:t>• Bounds: ω(G²) ≤ χ(G²) ≤ Δ(G²) + 1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"/>
            <a:ext cx="106984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b="1" sz="3400">
                <a:solidFill>
                  <a:srgbClr val="FFFFFF"/>
                </a:solidFill>
              </a:defRPr>
            </a:pPr>
            <a:r>
              <a:t>Five Heuristics + Two Exact Solvers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0292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212121"/>
                </a:solidFill>
              </a:defRPr>
            </a:pPr>
            <a:r>
              <a:t>HEURISTICS:</a:t>
            </a:r>
          </a:p>
          <a:p>
            <a:pPr>
              <a:spcAft>
                <a:spcPts val="1000"/>
              </a:spcAft>
              <a:defRPr sz="2000">
                <a:solidFill>
                  <a:srgbClr val="212121"/>
                </a:solidFill>
              </a:defRPr>
            </a:pPr>
            <a:r>
              <a:t>1. Largest-Degree-First (Welsh-Powell)</a:t>
            </a:r>
          </a:p>
          <a:p>
            <a:pPr>
              <a:spcAft>
                <a:spcPts val="1000"/>
              </a:spcAft>
              <a:defRPr sz="2000">
                <a:solidFill>
                  <a:srgbClr val="212121"/>
                </a:solidFill>
              </a:defRPr>
            </a:pPr>
            <a:r>
              <a:t>2. DSATUR (Degree of Saturation)</a:t>
            </a:r>
          </a:p>
          <a:p>
            <a:pPr>
              <a:spcAft>
                <a:spcPts val="1000"/>
              </a:spcAft>
              <a:defRPr sz="2000">
                <a:solidFill>
                  <a:srgbClr val="212121"/>
                </a:solidFill>
              </a:defRPr>
            </a:pPr>
            <a:r>
              <a:t>3. Smallest-Last (Degeneracy)</a:t>
            </a:r>
          </a:p>
          <a:p>
            <a:pPr>
              <a:spcAft>
                <a:spcPts val="1000"/>
              </a:spcAft>
              <a:defRPr sz="2000">
                <a:solidFill>
                  <a:srgbClr val="212121"/>
                </a:solidFill>
              </a:defRPr>
            </a:pPr>
            <a:r>
              <a:t>4. Randomized Restarts (N=1000)</a:t>
            </a:r>
          </a:p>
          <a:p>
            <a:pPr>
              <a:spcAft>
                <a:spcPts val="1000"/>
              </a:spcAft>
              <a:defRPr sz="2000">
                <a:solidFill>
                  <a:srgbClr val="212121"/>
                </a:solidFill>
              </a:defRPr>
            </a:pPr>
            <a:r>
              <a:t>5. Local Search + Kempe Chains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280160"/>
            <a:ext cx="50292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212121"/>
                </a:solidFill>
              </a:defRPr>
            </a:pPr>
            <a:r>
              <a:t>EXACT SOLVERS:</a:t>
            </a:r>
          </a:p>
          <a:p>
            <a:pPr>
              <a:spcAft>
                <a:spcPts val="1000"/>
              </a:spcAft>
              <a:defRPr sz="2000">
                <a:solidFill>
                  <a:srgbClr val="212121"/>
                </a:solidFill>
              </a:defRPr>
            </a:pPr>
            <a:r>
              <a:t>A. Google OR-Tools CP-SAT (primary)</a:t>
            </a:r>
          </a:p>
          <a:p>
            <a:pPr>
              <a:spcAft>
                <a:spcPts val="1000"/>
              </a:spcAft>
              <a:defRPr sz="2000">
                <a:solidFill>
                  <a:srgbClr val="212121"/>
                </a:solidFill>
              </a:defRPr>
            </a:pPr>
            <a:r>
              <a:t>B. Pure-Python Branch &amp; Bound (fallback)</a:t>
            </a:r>
          </a:p>
          <a:p>
            <a:pPr>
              <a:spcAft>
                <a:spcPts val="1000"/>
              </a:spcAft>
              <a:defRPr sz="2000">
                <a:solidFill>
                  <a:srgbClr val="212121"/>
                </a:solidFill>
              </a:defRPr>
            </a:pPr>
          </a:p>
          <a:p>
            <a:pPr>
              <a:spcAft>
                <a:spcPts val="1000"/>
              </a:spcAft>
              <a:defRPr sz="2000">
                <a:solidFill>
                  <a:srgbClr val="212121"/>
                </a:solidFill>
              </a:defRPr>
            </a:pPr>
            <a:r>
              <a:t>✓ Symmetry breaking via max-clique</a:t>
            </a:r>
          </a:p>
          <a:p>
            <a:pPr>
              <a:spcAft>
                <a:spcPts val="1000"/>
              </a:spcAft>
              <a:defRPr sz="2000">
                <a:solidFill>
                  <a:srgbClr val="212121"/>
                </a:solidFill>
              </a:defRPr>
            </a:pPr>
            <a:r>
              <a:t>✓ about 1 ms or less on 16-node topologies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"/>
            <a:ext cx="106984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b="1" sz="3400">
                <a:solidFill>
                  <a:srgbClr val="FFFFFF"/>
                </a:solidFill>
              </a:defRPr>
            </a:pPr>
            <a:r>
              <a:t>Exact Solvers &amp; Proof of Optimality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b="1" sz="5400">
                <a:solidFill>
                  <a:srgbClr val="0D47A1"/>
                </a:solidFill>
              </a:defRPr>
            </a:pPr>
            <a:r>
              <a:t>9 slots = proven optimum</a:t>
            </a:r>
          </a:p>
          <a:p>
            <a:pPr algn="ctr">
              <a:defRPr sz="2000">
                <a:solidFill>
                  <a:srgbClr val="1565C0"/>
                </a:solidFill>
              </a:defRPr>
            </a:pPr>
            <a:r>
              <a:t>4×4 grid: all heuristics and both exact solvers agree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83464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100">
                <a:solidFill>
                  <a:srgbClr val="212121"/>
                </a:solidFill>
              </a:defRPr>
            </a:pPr>
            <a:r>
              <a:t>• CP-SAT: 0-1 ILP with max-clique symmetry breaking</a:t>
            </a:r>
          </a:p>
          <a:p>
            <a:pPr>
              <a:spcAft>
                <a:spcPts val="1200"/>
              </a:spcAft>
              <a:defRPr sz="2100">
                <a:solidFill>
                  <a:srgbClr val="212121"/>
                </a:solidFill>
              </a:defRPr>
            </a:pPr>
            <a:r>
              <a:t>• Branch &amp; Bound: zero dependencies, DSATUR branching</a:t>
            </a:r>
          </a:p>
          <a:p>
            <a:pPr>
              <a:spcAft>
                <a:spcPts val="1200"/>
              </a:spcAft>
              <a:defRPr sz="2100">
                <a:solidFill>
                  <a:srgbClr val="212121"/>
                </a:solidFill>
              </a:defRPr>
            </a:pPr>
            <a:r>
              <a:t>• Pre-color ω(G²) nodes → eliminates permutation explosion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"/>
            <a:ext cx="106984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b="1" sz="3400">
                <a:solidFill>
                  <a:srgbClr val="FFFFFF"/>
                </a:solidFill>
              </a:defRPr>
            </a:pPr>
            <a:r>
              <a:t>Empirical Results &amp; Benchmark Suite</a:t>
            </a:r>
          </a:p>
        </p:txBody>
      </p:sp>
      <p:pic>
        <p:nvPicPr>
          <p:cNvPr id="4" name="Picture 3" descr="benchmark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645920"/>
            <a:ext cx="5394960" cy="2632928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371600"/>
          <a:ext cx="484632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640080"/>
                <a:gridCol w="868680"/>
                <a:gridCol w="868680"/>
                <a:gridCol w="548640"/>
              </a:tblGrid>
              <a:tr h="411480">
                <a:tc>
                  <a:txBody>
                    <a:bodyPr/>
                    <a:lstStyle/>
                    <a:p>
                      <a:pPr algn="l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Scenario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Nodes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Exact Opt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Best Heur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Gap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4×4 Grid (300 m)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16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D47A1"/>
                          </a:solidFill>
                        </a:defRPr>
                      </a:pPr>
                      <a:r>
                        <a:t>9 slots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D47A1"/>
                          </a:solidFill>
                        </a:defRPr>
                      </a:pPr>
                      <a:r>
                        <a:t>9 slots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Sparse Linear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D47A1"/>
                          </a:solidFill>
                        </a:defRPr>
                      </a:pPr>
                      <a:r>
                        <a:t>3 slots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D47A1"/>
                          </a:solidFill>
                        </a:defRPr>
                      </a:pPr>
                      <a:r>
                        <a:t>3 slots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Dense Cluster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16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D47A1"/>
                          </a:solidFill>
                        </a:defRPr>
                      </a:pPr>
                      <a:r>
                        <a:t>16 slots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D47A1"/>
                          </a:solidFill>
                        </a:defRPr>
                      </a:pPr>
                      <a:r>
                        <a:t>16 slots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Disconnected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D47A1"/>
                          </a:solidFill>
                        </a:defRPr>
                      </a:pPr>
                      <a:r>
                        <a:t>8 slots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D47A1"/>
                          </a:solidFill>
                        </a:defRPr>
                      </a:pPr>
                      <a:r>
                        <a:t>8 slots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212121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"/>
            <a:ext cx="106984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b="1" sz="3400">
                <a:solidFill>
                  <a:srgbClr val="FFFFFF"/>
                </a:solidFill>
              </a:defRPr>
            </a:pPr>
            <a:r>
              <a:t>Independent Schedule Verifier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0292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100">
                <a:solidFill>
                  <a:srgbClr val="212121"/>
                </a:solidFill>
              </a:defRPr>
            </a:pPr>
            <a:r>
              <a:t>• Zero shared code with coloring or G² logic</a:t>
            </a:r>
          </a:p>
          <a:p>
            <a:pPr>
              <a:spcAft>
                <a:spcPts val="1200"/>
              </a:spcAft>
              <a:defRPr sz="2100">
                <a:solidFill>
                  <a:srgbClr val="212121"/>
                </a:solidFill>
              </a:defRPr>
            </a:pPr>
            <a:r>
              <a:t>• BFS hop-distance queries on physical graph G</a:t>
            </a:r>
          </a:p>
          <a:p>
            <a:pPr>
              <a:spcAft>
                <a:spcPts val="1200"/>
              </a:spcAft>
              <a:defRPr sz="2100">
                <a:solidFill>
                  <a:srgbClr val="212121"/>
                </a:solidFill>
              </a:defRPr>
            </a:pPr>
            <a:r>
              <a:t>• Checks: coverage, contiguity, conflict freedom</a:t>
            </a:r>
          </a:p>
        </p:txBody>
      </p:sp>
      <p:pic>
        <p:nvPicPr>
          <p:cNvPr id="5" name="Picture 4" descr="grid_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371600"/>
            <a:ext cx="5669280" cy="508866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"/>
            <a:ext cx="106984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b="1" sz="3400">
                <a:solidFill>
                  <a:srgbClr val="FFFFFF"/>
                </a:solidFill>
              </a:defRPr>
            </a:pPr>
            <a:r>
              <a:t>EMANE Emulation Bridge (Part 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100">
                <a:solidFill>
                  <a:srgbClr val="212121"/>
                </a:solidFill>
              </a:defRPr>
            </a:pPr>
            <a:r>
              <a:t>• Integrates with tdmaeventschedulerradiomodel</a:t>
            </a:r>
          </a:p>
          <a:p>
            <a:pPr>
              <a:spcAft>
                <a:spcPts val="1200"/>
              </a:spcAft>
              <a:defRPr sz="2100">
                <a:solidFill>
                  <a:srgbClr val="212121"/>
                </a:solidFill>
              </a:defRPr>
            </a:pPr>
            <a:r>
              <a:t>• 1 ms slots, 50 µs guard, 2.4 GHz, 20 MHz BW</a:t>
            </a:r>
          </a:p>
          <a:p>
            <a:pPr>
              <a:spcAft>
                <a:spcPts val="1200"/>
              </a:spcAft>
              <a:defRPr sz="2100">
                <a:solidFill>
                  <a:srgbClr val="212121"/>
                </a:solidFill>
              </a:defRPr>
            </a:pPr>
            <a:r>
              <a:t>• Parameter names checked against official EMANE sources; live run not performed</a:t>
            </a:r>
          </a:p>
        </p:txBody>
      </p:sp>
      <p:pic>
        <p:nvPicPr>
          <p:cNvPr id="5" name="Picture 4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3200400"/>
            <a:ext cx="9418320" cy="327708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"/>
            <a:ext cx="106984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b="1" sz="3400">
                <a:solidFill>
                  <a:srgbClr val="FFFFFF"/>
                </a:solidFill>
              </a:defRPr>
            </a:pPr>
            <a:r>
              <a:t>Test Plan &amp; Engineering Decisions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0292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212121"/>
                </a:solidFill>
              </a:defRPr>
            </a:pPr>
            <a:r>
              <a:t>PLANNED TEST PLAN (not yet run):</a:t>
            </a:r>
          </a:p>
          <a:p>
            <a:pPr>
              <a:spcAft>
                <a:spcPts val="1000"/>
              </a:spcAft>
              <a:defRPr sz="2000">
                <a:solidFill>
                  <a:srgbClr val="212121"/>
                </a:solidFill>
              </a:defRPr>
            </a:pPr>
            <a:r>
              <a:t>• Valid schedule: expect delivery only</a:t>
            </a:r>
            <a:br/>
            <a:r>
              <a:t>  in scheduled slots (planned)</a:t>
            </a:r>
          </a:p>
          <a:p>
            <a:pPr>
              <a:spcAft>
                <a:spcPts val="1000"/>
              </a:spcAft>
              <a:defRPr sz="2000">
                <a:solidFill>
                  <a:srgbClr val="212121"/>
                </a:solidFill>
              </a:defRPr>
            </a:pPr>
            <a:r>
              <a:t>• Deliberately conflicting schedule:</a:t>
            </a:r>
            <a:br/>
            <a:r>
              <a:t>  expect collision/loss (planned)</a:t>
            </a:r>
          </a:p>
          <a:p>
            <a:pPr>
              <a:spcAft>
                <a:spcPts val="1000"/>
              </a:spcAft>
              <a:defRPr sz="2000">
                <a:solidFill>
                  <a:srgbClr val="212121"/>
                </a:solidFill>
              </a:defRPr>
            </a:pPr>
            <a:r>
              <a:t>• Range calibration: pathloss tuned</a:t>
            </a:r>
            <a:br/>
            <a:r>
              <a:t>  to ~500 m (planned)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280160"/>
            <a:ext cx="50292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212121"/>
                </a:solidFill>
              </a:defRPr>
            </a:pPr>
            <a:r>
              <a:t>ENGINEERING DECISIONS:</a:t>
            </a:r>
          </a:p>
          <a:p>
            <a:pPr>
              <a:spcAft>
                <a:spcPts val="1000"/>
              </a:spcAft>
              <a:defRPr sz="2000">
                <a:solidFill>
                  <a:srgbClr val="212121"/>
                </a:solidFill>
              </a:defRPr>
            </a:pPr>
            <a:r>
              <a:t>• Float epsilon (10⁻⁹) for exact</a:t>
            </a:r>
            <a:br/>
            <a:r>
              <a:t>  500.0 m boundary inclusion</a:t>
            </a:r>
          </a:p>
          <a:p>
            <a:pPr>
              <a:spcAft>
                <a:spcPts val="1000"/>
              </a:spcAft>
              <a:defRPr sz="2000">
                <a:solidFill>
                  <a:srgbClr val="212121"/>
                </a:solidFill>
              </a:defRPr>
            </a:pPr>
            <a:r>
              <a:t>• Duplicate coordinate rejection</a:t>
            </a:r>
            <a:br/>
            <a:r>
              <a:t>  with explicit diagnostics</a:t>
            </a:r>
          </a:p>
          <a:p>
            <a:pPr>
              <a:spcAft>
                <a:spcPts val="1000"/>
              </a:spcAft>
              <a:defRPr sz="2000">
                <a:solidFill>
                  <a:srgbClr val="212121"/>
                </a:solidFill>
              </a:defRPr>
            </a:pPr>
            <a:r>
              <a:t>• Deterministic seeded RNG</a:t>
            </a:r>
            <a:br/>
            <a:r>
              <a:t>  for reproducible schedules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"/>
            <a:ext cx="106984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b="1" sz="3400">
                <a:solidFill>
                  <a:srgbClr val="FFFFFF"/>
                </a:solidFill>
              </a:defRPr>
            </a:pPr>
            <a:r>
              <a:t>Conclusion &amp; Future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b="1" sz="5400">
                <a:solidFill>
                  <a:srgbClr val="0D47A1"/>
                </a:solidFill>
              </a:defRPr>
            </a:pPr>
            <a:r>
              <a:t>47 tests — 100% pass</a:t>
            </a:r>
          </a:p>
          <a:p>
            <a:pPr algn="ctr">
              <a:defRPr sz="2000">
                <a:solidFill>
                  <a:srgbClr val="1565C0"/>
                </a:solidFill>
              </a:defRPr>
            </a:pPr>
            <a:r>
              <a:t>Part 1 complete and verified; Part 2 designed and tested offline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834640"/>
            <a:ext cx="10515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100">
                <a:solidFill>
                  <a:srgbClr val="212121"/>
                </a:solidFill>
              </a:defRPr>
            </a:pPr>
            <a:r>
              <a:t>• 5 heuristics + 2 exact solvers + independent verifier</a:t>
            </a:r>
          </a:p>
          <a:p>
            <a:pPr>
              <a:spcAft>
                <a:spcPts val="1200"/>
              </a:spcAft>
              <a:defRPr sz="2100">
                <a:solidFill>
                  <a:srgbClr val="212121"/>
                </a:solidFill>
              </a:defRPr>
            </a:pPr>
            <a:r>
              <a:t>• EMANE bridge: offline round-trip tested; live run pending</a:t>
            </a:r>
          </a:p>
          <a:p>
            <a:pPr>
              <a:spcAft>
                <a:spcPts val="1200"/>
              </a:spcAft>
              <a:defRPr sz="2100">
                <a:solidFill>
                  <a:srgbClr val="212121"/>
                </a:solidFill>
              </a:defRPr>
            </a:pPr>
            <a:r>
              <a:t>• Future: multi-channel TDMA, mobile MANET, STDMA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