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4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4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also took under a millisecond and found 9 slots. Smallest-last ordering based on graph degeneracy gave the same 9 slots. To test whether random orders could shake loose an 8-slot schedule, I ran 1000 seeded random restarts; that took 24 milliseconds, but the best schedule remained 9 slots. Finally, I built a local search routine with Kempe-chain swaps and tabu search to try to eliminate the ninth color; after 2000 swaps it still couldn't reach 8. Because all five heuristics stalled at 9, I couldn't tell if 9 was an algorithmic limitation or a physical lower bound. That's why I added an exact solver using Google OR-Tools CP-SAT with maximum-clique pre-coloring.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forcing every node into a distinct slot for 16 total. Finally, for two disconnected 8-node clusters separated by 3000 meters, both clusters run simultaneously, yielding 8 slots. In every case, the heuristics found the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7315200" cy="1188720"/>
          </a:xfrm>
          <a:prstGeom prst="rect">
            <a:avLst/>
          </a:prstGeom>
          <a:noFill/>
        </p:spPr>
        <p:txBody>
          <a:bodyPr wrap="square" lIns="0" tIns="0" rIns="0" bIns="0">
            <a:spAutoFit/>
          </a:bodyPr>
          <a:lstStyle/>
          <a:p>
            <a:pPr>
              <a:defRPr sz="4000" b="1">
                <a:solidFill>
                  <a:srgbClr val="FFFFFF"/>
                </a:solidFill>
                <a:latin typeface="Georgia"/>
              </a:defRPr>
            </a:pPr>
            <a:r>
              <a:t>Packing a radio network into the fewest time slots</a:t>
            </a:r>
          </a:p>
        </p:txBody>
      </p:sp>
      <p:sp>
        <p:nvSpPr>
          <p:cNvPr id="4" name="Rectangle 3"/>
          <p:cNvSpPr/>
          <p:nvPr/>
        </p:nvSpPr>
        <p:spPr>
          <a:xfrm>
            <a:off x="914400" y="2926080"/>
            <a:ext cx="6858000" cy="190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291840"/>
            <a:ext cx="6858000" cy="365760"/>
          </a:xfrm>
          <a:prstGeom prst="rect">
            <a:avLst/>
          </a:prstGeom>
          <a:noFill/>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914400" y="4114800"/>
            <a:ext cx="6858000" cy="365760"/>
          </a:xfrm>
          <a:prstGeom prst="rect">
            <a:avLst/>
          </a:prstGeom>
          <a:noFill/>
        </p:spPr>
        <p:txBody>
          <a:bodyPr wrap="none" lIns="0" tIns="0" rIns="0" bIns="0">
            <a:spAutoFit/>
          </a:bodyPr>
          <a:lstStyle/>
          <a:p>
            <a:pPr>
              <a:defRPr sz="2200" b="1">
                <a:solidFill>
                  <a:srgbClr val="FFFFFF"/>
                </a:solidFill>
                <a:latin typeface="Calibri"/>
              </a:defRPr>
            </a:pPr>
            <a:r>
              <a:t>Athish M</a:t>
            </a:r>
          </a:p>
        </p:txBody>
      </p:sp>
      <p:sp>
        <p:nvSpPr>
          <p:cNvPr id="7" name="TextBox 6"/>
          <p:cNvSpPr txBox="1"/>
          <p:nvPr/>
        </p:nvSpPr>
        <p:spPr>
          <a:xfrm>
            <a:off x="914400" y="4846320"/>
            <a:ext cx="6858000" cy="365760"/>
          </a:xfrm>
          <a:prstGeom prst="rect">
            <a:avLst/>
          </a:prstGeom>
          <a:noFill/>
        </p:spPr>
        <p:txBody>
          <a:bodyPr wrap="none" lIns="0" tIns="0" rIns="0" bIns="0">
            <a:spAutoFit/>
          </a:bodyPr>
          <a:lstStyle/>
          <a:p>
            <a:pPr>
              <a:defRPr sz="1600">
                <a:solidFill>
                  <a:srgbClr val="94A3B8"/>
                </a:solidFill>
                <a:latin typeface="Calibri"/>
              </a:defRPr>
            </a:pPr>
            <a:r>
              <a:t>Wireless protocol development take-home task</a:t>
            </a:r>
          </a:p>
        </p:txBody>
      </p:sp>
      <p:sp>
        <p:nvSpPr>
          <p:cNvPr id="8" name="Oval 7"/>
          <p:cNvSpPr/>
          <p:nvPr/>
        </p:nvSpPr>
        <p:spPr>
          <a:xfrm>
            <a:off x="8686800" y="182880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64040" y="1828800"/>
            <a:ext cx="457200" cy="45720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41280" y="1828800"/>
            <a:ext cx="457200" cy="45720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18520" y="182880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0" y="2606040"/>
            <a:ext cx="457200" cy="45720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64040" y="2606040"/>
            <a:ext cx="457200" cy="457200"/>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0" y="2606040"/>
            <a:ext cx="457200" cy="457200"/>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18520" y="2606040"/>
            <a:ext cx="457200" cy="45720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0" y="3383280"/>
            <a:ext cx="457200" cy="45720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3383280"/>
            <a:ext cx="457200" cy="45720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41280" y="3383280"/>
            <a:ext cx="457200" cy="45720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18520" y="3383280"/>
            <a:ext cx="457200" cy="45720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86800" y="416052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64040" y="4160520"/>
            <a:ext cx="457200" cy="45720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241280" y="4160520"/>
            <a:ext cx="457200" cy="45720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018520" y="4160520"/>
            <a:ext cx="457200" cy="45720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1040" y="5120640"/>
            <a:ext cx="3474720" cy="365760"/>
          </a:xfrm>
          <a:prstGeom prst="rect">
            <a:avLst/>
          </a:prstGeom>
          <a:noFill/>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280160"/>
            <a:ext cx="10362895" cy="411480"/>
          </a:xfrm>
          <a:prstGeom prst="rect">
            <a:avLst/>
          </a:prstGeom>
          <a:noFill/>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2880360" y="3726180"/>
            <a:ext cx="2596896" cy="0"/>
          </a:xfrm>
          <a:prstGeom prst="line">
            <a:avLst/>
          </a:prstGeom>
          <a:ln w="444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6711696" y="3726180"/>
            <a:ext cx="2596896" cy="0"/>
          </a:xfrm>
          <a:prstGeom prst="line">
            <a:avLst/>
          </a:prstGeom>
          <a:ln w="44450">
            <a:solidFill>
              <a:srgbClr val="0F766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971800" y="2697480"/>
            <a:ext cx="2011680" cy="365760"/>
          </a:xfrm>
          <a:prstGeom prst="rect">
            <a:avLst/>
          </a:prstGeom>
          <a:noFill/>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803136" y="2697480"/>
            <a:ext cx="2011680" cy="365760"/>
          </a:xfrm>
          <a:prstGeom prst="rect">
            <a:avLst/>
          </a:prstGeom>
          <a:noFill/>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263140" y="2377440"/>
            <a:ext cx="7662672" cy="0"/>
          </a:xfrm>
          <a:prstGeom prst="line">
            <a:avLst/>
          </a:prstGeom>
          <a:ln w="31750">
            <a:solidFill>
              <a:srgbClr val="D9770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05656" y="1874519"/>
            <a:ext cx="4114800" cy="411480"/>
          </a:xfrm>
          <a:prstGeom prst="rect">
            <a:avLst/>
          </a:prstGeom>
          <a:noFill/>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1645920" y="3108960"/>
            <a:ext cx="1234440" cy="12344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A</a:t>
            </a:r>
          </a:p>
        </p:txBody>
      </p:sp>
      <p:sp>
        <p:nvSpPr>
          <p:cNvPr id="13" name="TextBox 12"/>
          <p:cNvSpPr txBox="1"/>
          <p:nvPr/>
        </p:nvSpPr>
        <p:spPr>
          <a:xfrm>
            <a:off x="731520" y="4526280"/>
            <a:ext cx="3063240" cy="502920"/>
          </a:xfrm>
          <a:prstGeom prst="rect">
            <a:avLst/>
          </a:prstGeom>
          <a:noFill/>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477256" y="3108960"/>
            <a:ext cx="1234440" cy="1234440"/>
          </a:xfrm>
          <a:prstGeom prst="ellipse">
            <a:avLst/>
          </a:prstGeom>
          <a:solidFill>
            <a:srgbClr val="1B1F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B</a:t>
            </a:r>
          </a:p>
        </p:txBody>
      </p:sp>
      <p:sp>
        <p:nvSpPr>
          <p:cNvPr id="15" name="TextBox 14"/>
          <p:cNvSpPr txBox="1"/>
          <p:nvPr/>
        </p:nvSpPr>
        <p:spPr>
          <a:xfrm>
            <a:off x="4562856" y="4526280"/>
            <a:ext cx="3063240" cy="502920"/>
          </a:xfrm>
          <a:prstGeom prst="rect">
            <a:avLst/>
          </a:prstGeom>
          <a:noFill/>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308592" y="3108960"/>
            <a:ext cx="1234440" cy="12344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000" b="1">
                <a:solidFill>
                  <a:srgbClr val="FFFFFF"/>
                </a:solidFill>
                <a:latin typeface="Georgia"/>
              </a:defRPr>
            </a:pPr>
            <a:r>
              <a:t>C</a:t>
            </a:r>
          </a:p>
        </p:txBody>
      </p:sp>
      <p:sp>
        <p:nvSpPr>
          <p:cNvPr id="17" name="TextBox 16"/>
          <p:cNvSpPr txBox="1"/>
          <p:nvPr/>
        </p:nvSpPr>
        <p:spPr>
          <a:xfrm>
            <a:off x="8394192" y="4526280"/>
            <a:ext cx="3063240" cy="502920"/>
          </a:xfrm>
          <a:prstGeom prst="rect">
            <a:avLst/>
          </a:prstGeom>
          <a:noFill/>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532120"/>
            <a:ext cx="10362895" cy="548640"/>
          </a:xfrm>
          <a:prstGeom prst="rect">
            <a:avLst/>
          </a:prstGeom>
          <a:noFill/>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25880"/>
            <a:ext cx="10362895" cy="502920"/>
          </a:xfrm>
          <a:prstGeom prst="rect">
            <a:avLst/>
          </a:prstGeom>
          <a:noFill/>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548640" y="2103120"/>
            <a:ext cx="4114800" cy="411480"/>
          </a:xfrm>
          <a:prstGeom prst="rect">
            <a:avLst/>
          </a:prstGeom>
          <a:noFill/>
        </p:spPr>
        <p:txBody>
          <a:bodyPr wrap="none">
            <a:spAutoFit/>
          </a:bodyPr>
          <a:lstStyle/>
          <a:p>
            <a:pPr>
              <a:defRPr sz="2400" b="1">
                <a:solidFill>
                  <a:srgbClr val="1B1F2A"/>
                </a:solidFill>
                <a:latin typeface="Georgia"/>
              </a:defRPr>
            </a:pPr>
            <a:r>
              <a:t>Physical graph G</a:t>
            </a:r>
          </a:p>
        </p:txBody>
      </p:sp>
      <p:cxnSp>
        <p:nvCxnSpPr>
          <p:cNvPr id="7" name="Connector 6"/>
          <p:cNvCxnSpPr/>
          <p:nvPr/>
        </p:nvCxnSpPr>
        <p:spPr>
          <a:xfrm>
            <a:off x="132588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9456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3192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4864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1</a:t>
            </a:r>
          </a:p>
        </p:txBody>
      </p:sp>
      <p:sp>
        <p:nvSpPr>
          <p:cNvPr id="12" name="Oval 11"/>
          <p:cNvSpPr/>
          <p:nvPr/>
        </p:nvSpPr>
        <p:spPr>
          <a:xfrm>
            <a:off x="141732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2</a:t>
            </a:r>
          </a:p>
        </p:txBody>
      </p:sp>
      <p:sp>
        <p:nvSpPr>
          <p:cNvPr id="13" name="Oval 12"/>
          <p:cNvSpPr/>
          <p:nvPr/>
        </p:nvSpPr>
        <p:spPr>
          <a:xfrm>
            <a:off x="228600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3</a:t>
            </a:r>
          </a:p>
        </p:txBody>
      </p:sp>
      <p:sp>
        <p:nvSpPr>
          <p:cNvPr id="14" name="Oval 13"/>
          <p:cNvSpPr/>
          <p:nvPr/>
        </p:nvSpPr>
        <p:spPr>
          <a:xfrm>
            <a:off x="315468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4</a:t>
            </a:r>
          </a:p>
        </p:txBody>
      </p:sp>
      <p:sp>
        <p:nvSpPr>
          <p:cNvPr id="15" name="Oval 14"/>
          <p:cNvSpPr/>
          <p:nvPr/>
        </p:nvSpPr>
        <p:spPr>
          <a:xfrm>
            <a:off x="402336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5</a:t>
            </a:r>
          </a:p>
        </p:txBody>
      </p:sp>
      <p:sp>
        <p:nvSpPr>
          <p:cNvPr id="16" name="TextBox 15"/>
          <p:cNvSpPr txBox="1"/>
          <p:nvPr/>
        </p:nvSpPr>
        <p:spPr>
          <a:xfrm>
            <a:off x="548640" y="4690871"/>
            <a:ext cx="4114800" cy="411480"/>
          </a:xfrm>
          <a:prstGeom prst="rect">
            <a:avLst/>
          </a:prstGeom>
          <a:noFill/>
        </p:spPr>
        <p:txBody>
          <a:bodyPr wrap="none">
            <a:spAutoFit/>
          </a:bodyPr>
          <a:lstStyle/>
          <a:p>
            <a:pPr>
              <a:defRPr sz="1800">
                <a:solidFill>
                  <a:srgbClr val="64748B"/>
                </a:solidFill>
                <a:latin typeface="Calibri"/>
              </a:defRPr>
            </a:pPr>
            <a:r>
              <a:t>Edges where distance ≤ 500 m</a:t>
            </a:r>
          </a:p>
        </p:txBody>
      </p:sp>
      <p:sp>
        <p:nvSpPr>
          <p:cNvPr id="17" name="TextBox 16"/>
          <p:cNvSpPr txBox="1"/>
          <p:nvPr/>
        </p:nvSpPr>
        <p:spPr>
          <a:xfrm>
            <a:off x="4800600" y="3886200"/>
            <a:ext cx="2423160" cy="457200"/>
          </a:xfrm>
          <a:prstGeom prst="rect">
            <a:avLst/>
          </a:prstGeom>
          <a:noFill/>
        </p:spPr>
        <p:txBody>
          <a:bodyPr wrap="none" lIns="0" tIns="0" rIns="0" bIns="0">
            <a:spAutoFit/>
          </a:bodyPr>
          <a:lstStyle/>
          <a:p>
            <a:pPr algn="ctr">
              <a:defRPr sz="2000" b="1">
                <a:solidFill>
                  <a:srgbClr val="D97706"/>
                </a:solidFill>
                <a:latin typeface="Georgia"/>
              </a:defRPr>
            </a:pPr>
            <a:r>
              <a:t>→ Square it → G²</a:t>
            </a:r>
          </a:p>
        </p:txBody>
      </p:sp>
      <p:sp>
        <p:nvSpPr>
          <p:cNvPr id="18" name="TextBox 17"/>
          <p:cNvSpPr txBox="1"/>
          <p:nvPr/>
        </p:nvSpPr>
        <p:spPr>
          <a:xfrm>
            <a:off x="7315200" y="2103120"/>
            <a:ext cx="4114800" cy="411480"/>
          </a:xfrm>
          <a:prstGeom prst="rect">
            <a:avLst/>
          </a:prstGeom>
          <a:noFill/>
        </p:spPr>
        <p:txBody>
          <a:bodyPr wrap="none">
            <a:spAutoFit/>
          </a:bodyPr>
          <a:lstStyle/>
          <a:p>
            <a:pPr>
              <a:defRPr sz="2400" b="1">
                <a:solidFill>
                  <a:srgbClr val="1B1F2A"/>
                </a:solidFill>
                <a:latin typeface="Georgia"/>
              </a:defRPr>
            </a:pPr>
            <a:r>
              <a:t>Conflict graph G²</a:t>
            </a:r>
          </a:p>
        </p:txBody>
      </p:sp>
      <p:cxnSp>
        <p:nvCxnSpPr>
          <p:cNvPr id="19" name="Connector 18"/>
          <p:cNvCxnSpPr/>
          <p:nvPr/>
        </p:nvCxnSpPr>
        <p:spPr>
          <a:xfrm>
            <a:off x="809244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96112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2980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698480" y="4137659"/>
            <a:ext cx="9144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7703820" y="3337559"/>
            <a:ext cx="0" cy="41148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703820" y="3337559"/>
            <a:ext cx="1737360" cy="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41180" y="3337559"/>
            <a:ext cx="0" cy="41148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72500" y="3017519"/>
            <a:ext cx="0" cy="73152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72500" y="3017519"/>
            <a:ext cx="1737360" cy="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309860" y="3017519"/>
            <a:ext cx="0" cy="73152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41180" y="3337559"/>
            <a:ext cx="0" cy="41148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441180" y="3337559"/>
            <a:ext cx="1737360" cy="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178540" y="3337559"/>
            <a:ext cx="0" cy="411480"/>
          </a:xfrm>
          <a:prstGeom prst="line">
            <a:avLst/>
          </a:prstGeom>
          <a:ln w="25400">
            <a:solidFill>
              <a:srgbClr val="D9770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31520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1</a:t>
            </a:r>
          </a:p>
        </p:txBody>
      </p:sp>
      <p:sp>
        <p:nvSpPr>
          <p:cNvPr id="33" name="Oval 32"/>
          <p:cNvSpPr/>
          <p:nvPr/>
        </p:nvSpPr>
        <p:spPr>
          <a:xfrm>
            <a:off x="818388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2</a:t>
            </a:r>
          </a:p>
        </p:txBody>
      </p:sp>
      <p:sp>
        <p:nvSpPr>
          <p:cNvPr id="34" name="Oval 33"/>
          <p:cNvSpPr/>
          <p:nvPr/>
        </p:nvSpPr>
        <p:spPr>
          <a:xfrm>
            <a:off x="905256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3</a:t>
            </a:r>
          </a:p>
        </p:txBody>
      </p:sp>
      <p:sp>
        <p:nvSpPr>
          <p:cNvPr id="35" name="Oval 34"/>
          <p:cNvSpPr/>
          <p:nvPr/>
        </p:nvSpPr>
        <p:spPr>
          <a:xfrm>
            <a:off x="992124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4</a:t>
            </a:r>
          </a:p>
        </p:txBody>
      </p:sp>
      <p:sp>
        <p:nvSpPr>
          <p:cNvPr id="36" name="Oval 35"/>
          <p:cNvSpPr/>
          <p:nvPr/>
        </p:nvSpPr>
        <p:spPr>
          <a:xfrm>
            <a:off x="10789920" y="3749039"/>
            <a:ext cx="777240" cy="77724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latin typeface="Georgia"/>
              </a:defRPr>
            </a:pPr>
            <a:r>
              <a:t>5</a:t>
            </a:r>
          </a:p>
        </p:txBody>
      </p:sp>
      <p:sp>
        <p:nvSpPr>
          <p:cNvPr id="37" name="TextBox 36"/>
          <p:cNvSpPr txBox="1"/>
          <p:nvPr/>
        </p:nvSpPr>
        <p:spPr>
          <a:xfrm>
            <a:off x="7315200" y="4690871"/>
            <a:ext cx="4114800" cy="411480"/>
          </a:xfrm>
          <a:prstGeom prst="rect">
            <a:avLst/>
          </a:prstGeom>
          <a:noFill/>
        </p:spPr>
        <p:txBody>
          <a:bodyPr wrap="none">
            <a:spAutoFit/>
          </a:bodyPr>
          <a:lstStyle/>
          <a:p>
            <a:pPr>
              <a:defRPr sz="1800">
                <a:solidFill>
                  <a:srgbClr val="64748B"/>
                </a:solidFill>
                <a:latin typeface="Calibri"/>
              </a:defRPr>
            </a:pPr>
            <a:r>
              <a:t>1-hop and 2-hop neighbors become adjacent</a:t>
            </a:r>
          </a:p>
        </p:txBody>
      </p:sp>
      <p:sp>
        <p:nvSpPr>
          <p:cNvPr id="38" name="TextBox 37"/>
          <p:cNvSpPr txBox="1"/>
          <p:nvPr/>
        </p:nvSpPr>
        <p:spPr>
          <a:xfrm>
            <a:off x="914400" y="5532120"/>
            <a:ext cx="10362895" cy="502920"/>
          </a:xfrm>
          <a:prstGeom prst="rect">
            <a:avLst/>
          </a:prstGeom>
          <a:noFill/>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914400" y="1508760"/>
          <a:ext cx="10362895" cy="3840480"/>
        </p:xfrm>
        <a:graphic>
          <a:graphicData uri="http://schemas.openxmlformats.org/drawingml/2006/table">
            <a:tbl>
              <a:tblPr firstRow="1" bandRow="1">
                <a:tableStyleId>{5C22544A-7EE6-4342-B048-85BDC9FD1C3A}</a:tableStyleId>
              </a:tblPr>
              <a:tblGrid>
                <a:gridCol w="4876495"/>
                <a:gridCol w="2743200"/>
                <a:gridCol w="2743200"/>
              </a:tblGrid>
              <a:tr h="548640">
                <a:tc>
                  <a:txBody>
                    <a:bodyPr/>
                    <a:lstStyle/>
                    <a:p>
                      <a:pPr algn="l">
                        <a:defRPr sz="2000" b="1">
                          <a:solidFill>
                            <a:srgbClr val="1B1F2A"/>
                          </a:solidFill>
                          <a:latin typeface="Georgia"/>
                        </a:defRPr>
                      </a:pPr>
                      <a:r>
                        <a:t>Method</a:t>
                      </a:r>
                    </a:p>
                  </a:txBody>
                  <a:tcPr>
                    <a:noFill/>
                  </a:tcPr>
                </a:tc>
                <a:tc>
                  <a:txBody>
                    <a:bodyPr/>
                    <a:lstStyle/>
                    <a:p>
                      <a:pPr algn="ctr">
                        <a:defRPr sz="2000" b="1">
                          <a:solidFill>
                            <a:srgbClr val="1B1F2A"/>
                          </a:solidFill>
                          <a:latin typeface="Georgia"/>
                        </a:defRPr>
                      </a:pPr>
                      <a:r>
                        <a:t>Slots on 4×4 grid</a:t>
                      </a:r>
                    </a:p>
                  </a:txBody>
                  <a:tcPr>
                    <a:noFill/>
                  </a:tcPr>
                </a:tc>
                <a:tc>
                  <a:txBody>
                    <a:bodyPr/>
                    <a:lstStyle/>
                    <a:p>
                      <a:pPr algn="ctr">
                        <a:defRPr sz="2000" b="1">
                          <a:solidFill>
                            <a:srgbClr val="1B1F2A"/>
                          </a:solidFill>
                          <a:latin typeface="Georgia"/>
                        </a:defRPr>
                      </a:pPr>
                      <a:r>
                        <a:t>Time</a:t>
                      </a:r>
                    </a:p>
                  </a:txBody>
                  <a:tcPr>
                    <a:noFill/>
                  </a:tcPr>
                </a:tc>
              </a:tr>
              <a:tr h="548640">
                <a:tc>
                  <a:txBody>
                    <a:bodyPr/>
                    <a:lstStyle/>
                    <a:p>
                      <a:pPr algn="l">
                        <a:defRPr sz="1800">
                          <a:solidFill>
                            <a:srgbClr val="1B1F2A"/>
                          </a:solidFill>
                          <a:latin typeface="Calibri"/>
                        </a:defRPr>
                      </a:pPr>
                      <a:r>
                        <a:t>Greedy by degree (Welsh-Powell)</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0.06 ms</a:t>
                      </a:r>
                    </a:p>
                  </a:txBody>
                  <a:tcPr>
                    <a:noFill/>
                  </a:tcPr>
                </a:tc>
              </a:tr>
              <a:tr h="548640">
                <a:tc>
                  <a:txBody>
                    <a:bodyPr/>
                    <a:lstStyle/>
                    <a:p>
                      <a:pPr algn="l">
                        <a:defRPr sz="1800">
                          <a:solidFill>
                            <a:srgbClr val="1B1F2A"/>
                          </a:solidFill>
                          <a:latin typeface="Calibri"/>
                        </a:defRPr>
                      </a:pPr>
                      <a:r>
                        <a:t>DSATUR (Saturation greedy)</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0.15 ms</a:t>
                      </a:r>
                    </a:p>
                  </a:txBody>
                  <a:tcPr>
                    <a:noFill/>
                  </a:tcPr>
                </a:tc>
              </a:tr>
              <a:tr h="548640">
                <a:tc>
                  <a:txBody>
                    <a:bodyPr/>
                    <a:lstStyle/>
                    <a:p>
                      <a:pPr algn="l">
                        <a:defRPr sz="1800">
                          <a:solidFill>
                            <a:srgbClr val="1B1F2A"/>
                          </a:solidFill>
                          <a:latin typeface="Calibri"/>
                        </a:defRPr>
                      </a:pPr>
                      <a:r>
                        <a:t>Smallest-last (Degeneracy order)</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0.20 ms</a:t>
                      </a:r>
                    </a:p>
                  </a:txBody>
                  <a:tcPr>
                    <a:noFill/>
                  </a:tcPr>
                </a:tc>
              </a:tr>
              <a:tr h="548640">
                <a:tc>
                  <a:txBody>
                    <a:bodyPr/>
                    <a:lstStyle/>
                    <a:p>
                      <a:pPr algn="l">
                        <a:defRPr sz="1800">
                          <a:solidFill>
                            <a:srgbClr val="1B1F2A"/>
                          </a:solidFill>
                          <a:latin typeface="Calibri"/>
                        </a:defRPr>
                      </a:pPr>
                      <a:r>
                        <a:t>1000 random restarts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24.2 ms</a:t>
                      </a:r>
                    </a:p>
                  </a:txBody>
                  <a:tcPr>
                    <a:noFill/>
                  </a:tcPr>
                </a:tc>
              </a:tr>
              <a:tr h="548640">
                <a:tc>
                  <a:txBody>
                    <a:bodyPr/>
                    <a:lstStyle/>
                    <a:p>
                      <a:pPr algn="l">
                        <a:defRPr sz="1800">
                          <a:solidFill>
                            <a:srgbClr val="1B1F2A"/>
                          </a:solidFill>
                          <a:latin typeface="Calibri"/>
                        </a:defRPr>
                      </a:pPr>
                      <a:r>
                        <a:t>Local search with Kempe swaps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60.8 ms</a:t>
                      </a:r>
                    </a:p>
                  </a:txBody>
                  <a:tcPr>
                    <a:noFill/>
                  </a:tcPr>
                </a:tc>
              </a:tr>
              <a:tr h="548640">
                <a:tc>
                  <a:txBody>
                    <a:bodyPr/>
                    <a:lstStyle/>
                    <a:p>
                      <a:pPr algn="l">
                        <a:defRPr sz="1800">
                          <a:solidFill>
                            <a:srgbClr val="1B1F2A"/>
                          </a:solidFill>
                          <a:latin typeface="Calibri"/>
                        </a:defRPr>
                      </a:pPr>
                      <a:r>
                        <a:t>Exact solver (CP-SAT)</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0.60 ms</a:t>
                      </a:r>
                    </a:p>
                  </a:txBody>
                  <a:tcPr>
                    <a:noFill/>
                  </a:tcPr>
                </a:tc>
              </a:tr>
            </a:tbl>
          </a:graphicData>
        </a:graphic>
      </p:graphicFrame>
      <p:sp>
        <p:nvSpPr>
          <p:cNvPr id="6" name="TextBox 5"/>
          <p:cNvSpPr txBox="1"/>
          <p:nvPr/>
        </p:nvSpPr>
        <p:spPr>
          <a:xfrm>
            <a:off x="914400" y="5623560"/>
            <a:ext cx="10362895" cy="502920"/>
          </a:xfrm>
          <a:prstGeom prst="rect">
            <a:avLst/>
          </a:prstGeom>
          <a:noFill/>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325880"/>
            <a:ext cx="5943600" cy="4800600"/>
          </a:xfrm>
          <a:prstGeom prst="rect">
            <a:avLst/>
          </a:prstGeom>
          <a:solidFill>
            <a:srgbClr val="1A1F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17320"/>
            <a:ext cx="5614416" cy="4617720"/>
          </a:xfrm>
          <a:prstGeom prst="rect">
            <a:avLst/>
          </a:prstGeom>
          <a:noFill/>
        </p:spPr>
        <p:txBody>
          <a:bodyPr wrap="none" lIns="0" tIns="0" rIns="0" bIns="0">
            <a:spAutoFit/>
          </a:bodyPr>
          <a:lstStyle/>
          <a:p>
            <a:pPr>
              <a:lnSpc>
                <a:spcPts val="1550"/>
              </a:lnSpc>
              <a:defRPr sz="1400" b="0">
                <a:solidFill>
                  <a:srgbClr val="F59E0B"/>
                </a:solidFill>
                <a:latin typeface="Consolas"/>
              </a:defRPr>
            </a:pPr>
            <a:r>
              <a:t>$ python -m tdma.cli --coords-file grid_4x4_300m.json</a:t>
            </a:r>
          </a:p>
          <a:p>
            <a:pPr>
              <a:lnSpc>
                <a:spcPts val="1550"/>
              </a:lnSpc>
              <a:defRPr sz="1400" b="1">
                <a:solidFill>
                  <a:srgbClr val="F8FAFC"/>
                </a:solidFill>
                <a:latin typeface="Consolas"/>
              </a:defRPr>
            </a:pPr>
            <a:r>
              <a:t>Optimized Frame Length: 9 slots (Proven Optimum)</a:t>
            </a:r>
          </a:p>
          <a:p>
            <a:pPr>
              <a:lnSpc>
                <a:spcPts val="1550"/>
              </a:lnSpc>
              <a:defRPr sz="1400" b="0">
                <a:solidFill>
                  <a:srgbClr val="475569"/>
                </a:solidFill>
                <a:latin typeface="Consolas"/>
              </a:defRPr>
            </a:pPr>
            <a:r>
              <a:t>--------------------------------------------------</a:t>
            </a:r>
          </a:p>
          <a:p>
            <a:pPr>
              <a:lnSpc>
                <a:spcPts val="1550"/>
              </a:lnSpc>
              <a:defRPr sz="1400" b="0">
                <a:solidFill>
                  <a:srgbClr val="E2E8F0"/>
                </a:solidFill>
                <a:latin typeface="Consolas"/>
              </a:defRPr>
            </a:pPr>
            <a:r>
              <a:t>Node_01: Slot 8       Node_09: Slot 7</a:t>
            </a:r>
          </a:p>
          <a:p>
            <a:pPr>
              <a:lnSpc>
                <a:spcPts val="1550"/>
              </a:lnSpc>
              <a:defRPr sz="1400" b="0">
                <a:solidFill>
                  <a:srgbClr val="E2E8F0"/>
                </a:solidFill>
                <a:latin typeface="Consolas"/>
              </a:defRPr>
            </a:pPr>
            <a:r>
              <a:t>Node_02: Slot 4       Node_10: Slot 2</a:t>
            </a:r>
          </a:p>
          <a:p>
            <a:pPr>
              <a:lnSpc>
                <a:spcPts val="1550"/>
              </a:lnSpc>
              <a:defRPr sz="1400" b="0">
                <a:solidFill>
                  <a:srgbClr val="E2E8F0"/>
                </a:solidFill>
                <a:latin typeface="Consolas"/>
              </a:defRPr>
            </a:pPr>
            <a:r>
              <a:t>Node_03: Slot 5       Node_11: Slot 3</a:t>
            </a:r>
          </a:p>
          <a:p>
            <a:pPr>
              <a:lnSpc>
                <a:spcPts val="1550"/>
              </a:lnSpc>
              <a:defRPr sz="1400" b="0">
                <a:solidFill>
                  <a:srgbClr val="E2E8F0"/>
                </a:solidFill>
                <a:latin typeface="Consolas"/>
              </a:defRPr>
            </a:pPr>
            <a:r>
              <a:t>Node_04: Slot 8       Node_12: Slot 7</a:t>
            </a:r>
          </a:p>
          <a:p>
            <a:pPr>
              <a:lnSpc>
                <a:spcPts val="1550"/>
              </a:lnSpc>
              <a:defRPr sz="1400" b="0">
                <a:solidFill>
                  <a:srgbClr val="E2E8F0"/>
                </a:solidFill>
                <a:latin typeface="Consolas"/>
              </a:defRPr>
            </a:pPr>
            <a:r>
              <a:t>Node_05: Slot 6       Node_13: Slot 8</a:t>
            </a:r>
          </a:p>
          <a:p>
            <a:pPr>
              <a:lnSpc>
                <a:spcPts val="1550"/>
              </a:lnSpc>
              <a:defRPr sz="1400" b="0">
                <a:solidFill>
                  <a:srgbClr val="E2E8F0"/>
                </a:solidFill>
                <a:latin typeface="Consolas"/>
              </a:defRPr>
            </a:pPr>
            <a:r>
              <a:t>Node_06: Slot 0       Node_14: Slot 4</a:t>
            </a:r>
          </a:p>
          <a:p>
            <a:pPr>
              <a:lnSpc>
                <a:spcPts val="1550"/>
              </a:lnSpc>
              <a:defRPr sz="1400" b="0">
                <a:solidFill>
                  <a:srgbClr val="E2E8F0"/>
                </a:solidFill>
                <a:latin typeface="Consolas"/>
              </a:defRPr>
            </a:pPr>
            <a:r>
              <a:t>Node_07: Slot 1       Node_15: Slot 5</a:t>
            </a:r>
          </a:p>
          <a:p>
            <a:pPr>
              <a:lnSpc>
                <a:spcPts val="1550"/>
              </a:lnSpc>
              <a:defRPr sz="1400" b="0">
                <a:solidFill>
                  <a:srgbClr val="E2E8F0"/>
                </a:solidFill>
                <a:latin typeface="Consolas"/>
              </a:defRPr>
            </a:pPr>
            <a:r>
              <a:t>Node_08: Slot 6       Node_16: Slot 8</a:t>
            </a:r>
          </a:p>
          <a:p>
            <a:pPr>
              <a:lnSpc>
                <a:spcPts val="1550"/>
              </a:lnSpc>
              <a:defRPr sz="1400" b="0">
                <a:solidFill>
                  <a:srgbClr val="475569"/>
                </a:solidFill>
                <a:latin typeface="Consolas"/>
              </a:defRPr>
            </a:pPr>
            <a:r>
              <a:t>--------------------------------------------------</a:t>
            </a:r>
          </a:p>
          <a:p>
            <a:pPr>
              <a:lnSpc>
                <a:spcPts val="1550"/>
              </a:lnSpc>
              <a:defRPr sz="1400" b="1">
                <a:solidFill>
                  <a:srgbClr val="94A3B8"/>
                </a:solidFill>
                <a:latin typeface="Consolas"/>
              </a:defRPr>
            </a:pPr>
            <a:r>
              <a:t>Slot   01 02 03 04 05 06 07 08 09 10 11 12 13 14 15 16</a:t>
            </a:r>
          </a:p>
          <a:p>
            <a:pPr>
              <a:lnSpc>
                <a:spcPts val="1550"/>
              </a:lnSpc>
              <a:defRPr sz="1400" b="0">
                <a:solidFill>
                  <a:srgbClr val="94A3B8"/>
                </a:solidFill>
                <a:latin typeface="Consolas"/>
              </a:defRPr>
            </a:pPr>
            <a:r>
              <a:t>Slot 0  .  .  .  .  .  1  .  .  .  .  .  .  .  .  .  .</a:t>
            </a:r>
          </a:p>
          <a:p>
            <a:pPr>
              <a:lnSpc>
                <a:spcPts val="1550"/>
              </a:lnSpc>
              <a:defRPr sz="1400" b="0">
                <a:solidFill>
                  <a:srgbClr val="94A3B8"/>
                </a:solidFill>
                <a:latin typeface="Consolas"/>
              </a:defRPr>
            </a:pPr>
            <a:r>
              <a:t>Slot 1  .  .  .  .  .  .  1  .  .  .  .  .  .  .  .  .</a:t>
            </a:r>
          </a:p>
          <a:p>
            <a:pPr>
              <a:lnSpc>
                <a:spcPts val="1550"/>
              </a:lnSpc>
              <a:defRPr sz="1400" b="0">
                <a:solidFill>
                  <a:srgbClr val="94A3B8"/>
                </a:solidFill>
                <a:latin typeface="Consolas"/>
              </a:defRPr>
            </a:pPr>
            <a:r>
              <a:t>Slot 2  .  .  .  .  .  .  .  .  .  1  .  .  .  .  .  .</a:t>
            </a:r>
          </a:p>
          <a:p>
            <a:pPr>
              <a:lnSpc>
                <a:spcPts val="1550"/>
              </a:lnSpc>
              <a:defRPr sz="1400" b="0">
                <a:solidFill>
                  <a:srgbClr val="94A3B8"/>
                </a:solidFill>
                <a:latin typeface="Consolas"/>
              </a:defRPr>
            </a:pPr>
            <a:r>
              <a:t>Slot 3  .  .  .  .  .  .  .  .  .  .  1  .  .  .  .  .</a:t>
            </a:r>
          </a:p>
          <a:p>
            <a:pPr>
              <a:lnSpc>
                <a:spcPts val="1550"/>
              </a:lnSpc>
              <a:defRPr sz="1400" b="0">
                <a:solidFill>
                  <a:srgbClr val="94A3B8"/>
                </a:solidFill>
                <a:latin typeface="Consolas"/>
              </a:defRPr>
            </a:pPr>
            <a:r>
              <a:t>Slot 4  .  1  .  .  .  .  .  .  .  .  .  .  .  1  .  .</a:t>
            </a:r>
          </a:p>
          <a:p>
            <a:pPr>
              <a:lnSpc>
                <a:spcPts val="1550"/>
              </a:lnSpc>
              <a:defRPr sz="1400" b="0">
                <a:solidFill>
                  <a:srgbClr val="94A3B8"/>
                </a:solidFill>
                <a:latin typeface="Consolas"/>
              </a:defRPr>
            </a:pPr>
            <a:r>
              <a:t>Slot 5  .  .  1  .  .  .  .  .  .  .  .  .  .  .  1  .</a:t>
            </a:r>
          </a:p>
          <a:p>
            <a:pPr>
              <a:lnSpc>
                <a:spcPts val="1550"/>
              </a:lnSpc>
              <a:defRPr sz="1400" b="0">
                <a:solidFill>
                  <a:srgbClr val="94A3B8"/>
                </a:solidFill>
                <a:latin typeface="Consolas"/>
              </a:defRPr>
            </a:pPr>
            <a:r>
              <a:t>Slot 6  .  .  .  .  1  .  .  1  .  .  .  .  .  .  .  .</a:t>
            </a:r>
          </a:p>
          <a:p>
            <a:pPr>
              <a:lnSpc>
                <a:spcPts val="1550"/>
              </a:lnSpc>
              <a:defRPr sz="1400" b="0">
                <a:solidFill>
                  <a:srgbClr val="94A3B8"/>
                </a:solidFill>
                <a:latin typeface="Consolas"/>
              </a:defRPr>
            </a:pPr>
            <a:r>
              <a:t>Slot 7  .  .  .  .  .  .  .  .  1  .  .  1  .  .  .  .</a:t>
            </a:r>
          </a:p>
          <a:p>
            <a:pPr>
              <a:lnSpc>
                <a:spcPts val="1550"/>
              </a:lnSpc>
              <a:defRPr sz="1400" b="1">
                <a:solidFill>
                  <a:srgbClr val="F59E0B"/>
                </a:solidFill>
                <a:latin typeface="Consolas"/>
              </a:defRPr>
            </a:pPr>
            <a:r>
              <a:t>Slot 8  1  .  .  1  .  .  .  .  .  .  .  .  1  .  .  1</a:t>
            </a:r>
          </a:p>
        </p:txBody>
      </p:sp>
      <p:cxnSp>
        <p:nvCxnSpPr>
          <p:cNvPr id="7" name="Connector 6"/>
          <p:cNvCxnSpPr/>
          <p:nvPr/>
        </p:nvCxnSpPr>
        <p:spPr>
          <a:xfrm>
            <a:off x="7269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269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69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412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269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412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412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555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412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55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55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555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698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69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269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69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12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269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12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12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55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412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555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555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555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98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269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69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269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412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269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412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412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555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412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55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555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55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698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269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12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555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858000" y="1234440"/>
            <a:ext cx="822960" cy="822960"/>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949440" y="1325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13</a:t>
            </a:r>
          </a:p>
        </p:txBody>
      </p:sp>
      <p:sp>
        <p:nvSpPr>
          <p:cNvPr id="51" name="Oval 50"/>
          <p:cNvSpPr/>
          <p:nvPr/>
        </p:nvSpPr>
        <p:spPr>
          <a:xfrm>
            <a:off x="8092440" y="1325880"/>
            <a:ext cx="640080" cy="64008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14</a:t>
            </a:r>
          </a:p>
        </p:txBody>
      </p:sp>
      <p:sp>
        <p:nvSpPr>
          <p:cNvPr id="52" name="Oval 51"/>
          <p:cNvSpPr/>
          <p:nvPr/>
        </p:nvSpPr>
        <p:spPr>
          <a:xfrm>
            <a:off x="9235440" y="1325880"/>
            <a:ext cx="640080" cy="64008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15</a:t>
            </a:r>
          </a:p>
        </p:txBody>
      </p:sp>
      <p:sp>
        <p:nvSpPr>
          <p:cNvPr id="53" name="Oval 52"/>
          <p:cNvSpPr/>
          <p:nvPr/>
        </p:nvSpPr>
        <p:spPr>
          <a:xfrm>
            <a:off x="10287000" y="1234440"/>
            <a:ext cx="822960" cy="822960"/>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378440" y="1325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16</a:t>
            </a:r>
          </a:p>
        </p:txBody>
      </p:sp>
      <p:sp>
        <p:nvSpPr>
          <p:cNvPr id="55" name="Oval 54"/>
          <p:cNvSpPr/>
          <p:nvPr/>
        </p:nvSpPr>
        <p:spPr>
          <a:xfrm>
            <a:off x="6949440" y="2468880"/>
            <a:ext cx="640080" cy="6400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09</a:t>
            </a:r>
          </a:p>
        </p:txBody>
      </p:sp>
      <p:sp>
        <p:nvSpPr>
          <p:cNvPr id="56" name="Oval 55"/>
          <p:cNvSpPr/>
          <p:nvPr/>
        </p:nvSpPr>
        <p:spPr>
          <a:xfrm>
            <a:off x="8092440" y="2468880"/>
            <a:ext cx="640080" cy="640080"/>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10</a:t>
            </a:r>
          </a:p>
        </p:txBody>
      </p:sp>
      <p:sp>
        <p:nvSpPr>
          <p:cNvPr id="57" name="Oval 56"/>
          <p:cNvSpPr/>
          <p:nvPr/>
        </p:nvSpPr>
        <p:spPr>
          <a:xfrm>
            <a:off x="9235440" y="2468880"/>
            <a:ext cx="640080" cy="640080"/>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11</a:t>
            </a:r>
          </a:p>
        </p:txBody>
      </p:sp>
      <p:sp>
        <p:nvSpPr>
          <p:cNvPr id="58" name="Oval 57"/>
          <p:cNvSpPr/>
          <p:nvPr/>
        </p:nvSpPr>
        <p:spPr>
          <a:xfrm>
            <a:off x="10378440" y="2468880"/>
            <a:ext cx="640080" cy="6400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12</a:t>
            </a:r>
          </a:p>
        </p:txBody>
      </p:sp>
      <p:sp>
        <p:nvSpPr>
          <p:cNvPr id="59" name="Oval 58"/>
          <p:cNvSpPr/>
          <p:nvPr/>
        </p:nvSpPr>
        <p:spPr>
          <a:xfrm>
            <a:off x="6949440" y="3611880"/>
            <a:ext cx="640080" cy="64008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05</a:t>
            </a:r>
          </a:p>
        </p:txBody>
      </p:sp>
      <p:sp>
        <p:nvSpPr>
          <p:cNvPr id="60" name="Oval 59"/>
          <p:cNvSpPr/>
          <p:nvPr/>
        </p:nvSpPr>
        <p:spPr>
          <a:xfrm>
            <a:off x="8092440" y="3611880"/>
            <a:ext cx="640080" cy="64008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06</a:t>
            </a:r>
          </a:p>
        </p:txBody>
      </p:sp>
      <p:sp>
        <p:nvSpPr>
          <p:cNvPr id="61" name="Oval 60"/>
          <p:cNvSpPr/>
          <p:nvPr/>
        </p:nvSpPr>
        <p:spPr>
          <a:xfrm>
            <a:off x="9235440" y="3611880"/>
            <a:ext cx="640080" cy="64008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07</a:t>
            </a:r>
          </a:p>
        </p:txBody>
      </p:sp>
      <p:sp>
        <p:nvSpPr>
          <p:cNvPr id="62" name="Oval 61"/>
          <p:cNvSpPr/>
          <p:nvPr/>
        </p:nvSpPr>
        <p:spPr>
          <a:xfrm>
            <a:off x="10378440" y="3611880"/>
            <a:ext cx="640080" cy="64008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08</a:t>
            </a:r>
          </a:p>
        </p:txBody>
      </p:sp>
      <p:sp>
        <p:nvSpPr>
          <p:cNvPr id="63" name="Oval 62"/>
          <p:cNvSpPr/>
          <p:nvPr/>
        </p:nvSpPr>
        <p:spPr>
          <a:xfrm>
            <a:off x="6858000" y="4663440"/>
            <a:ext cx="822960" cy="822960"/>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949440" y="4754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01</a:t>
            </a:r>
          </a:p>
        </p:txBody>
      </p:sp>
      <p:sp>
        <p:nvSpPr>
          <p:cNvPr id="65" name="Oval 64"/>
          <p:cNvSpPr/>
          <p:nvPr/>
        </p:nvSpPr>
        <p:spPr>
          <a:xfrm>
            <a:off x="8092440" y="4754880"/>
            <a:ext cx="640080" cy="64008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02</a:t>
            </a:r>
          </a:p>
        </p:txBody>
      </p:sp>
      <p:sp>
        <p:nvSpPr>
          <p:cNvPr id="66" name="Oval 65"/>
          <p:cNvSpPr/>
          <p:nvPr/>
        </p:nvSpPr>
        <p:spPr>
          <a:xfrm>
            <a:off x="9235440" y="4754880"/>
            <a:ext cx="640080" cy="64008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03</a:t>
            </a:r>
          </a:p>
        </p:txBody>
      </p:sp>
      <p:sp>
        <p:nvSpPr>
          <p:cNvPr id="67" name="Oval 66"/>
          <p:cNvSpPr/>
          <p:nvPr/>
        </p:nvSpPr>
        <p:spPr>
          <a:xfrm>
            <a:off x="10287000" y="4663440"/>
            <a:ext cx="822960" cy="822960"/>
          </a:xfrm>
          <a:prstGeom prst="ellipse">
            <a:avLst/>
          </a:prstGeom>
          <a:no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378440" y="4754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04</a:t>
            </a:r>
          </a:p>
        </p:txBody>
      </p:sp>
      <p:sp>
        <p:nvSpPr>
          <p:cNvPr id="69" name="TextBox 68"/>
          <p:cNvSpPr txBox="1"/>
          <p:nvPr/>
        </p:nvSpPr>
        <p:spPr>
          <a:xfrm>
            <a:off x="6675120" y="5715000"/>
            <a:ext cx="4114800" cy="411480"/>
          </a:xfrm>
          <a:prstGeom prst="rect">
            <a:avLst/>
          </a:prstGeom>
          <a:noFill/>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2743200" cy="1280160"/>
          </a:xfrm>
          <a:prstGeom prst="rect">
            <a:avLst/>
          </a:prstGeom>
          <a:noFill/>
        </p:spPr>
        <p:txBody>
          <a:bodyPr wrap="none" lIns="0" tIns="0" rIns="0" bIns="0">
            <a:spAutoFit/>
          </a:bodyPr>
          <a:lstStyle/>
          <a:p>
            <a:pPr>
              <a:defRPr sz="11000" b="1">
                <a:solidFill>
                  <a:srgbClr val="D97706"/>
                </a:solidFill>
                <a:latin typeface="Georgia"/>
              </a:defRPr>
            </a:pPr>
            <a:r>
              <a:t>9</a:t>
            </a:r>
          </a:p>
        </p:txBody>
      </p:sp>
      <p:sp>
        <p:nvSpPr>
          <p:cNvPr id="6" name="TextBox 5"/>
          <p:cNvSpPr txBox="1"/>
          <p:nvPr/>
        </p:nvSpPr>
        <p:spPr>
          <a:xfrm>
            <a:off x="914400" y="3017520"/>
            <a:ext cx="5303520" cy="411480"/>
          </a:xfrm>
          <a:prstGeom prst="rect">
            <a:avLst/>
          </a:prstGeom>
          <a:noFill/>
        </p:spPr>
        <p:txBody>
          <a:bodyPr wrap="square" lIns="0" tIns="0" rIns="0" bIns="0">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3566160"/>
            <a:ext cx="5303520" cy="1417320"/>
          </a:xfrm>
          <a:prstGeom prst="rect">
            <a:avLst/>
          </a:prstGeom>
          <a:noFill/>
        </p:spPr>
        <p:txBody>
          <a:bodyPr wrap="square" lIns="0" tIns="0" rIns="0" bIns="0">
            <a:spAutoFit/>
          </a:bodyPr>
          <a:lstStyle/>
          <a:p>
            <a:pPr>
              <a:defRPr sz="2000">
                <a:solidFill>
                  <a:srgbClr val="1B1F2A"/>
                </a:solidFill>
                <a:latin typeface="Calibri"/>
              </a:defRPr>
            </a:pPr>
            <a:r>
              <a:t>• Diagonal neighbors reach each other (424 m ≤ 500 m).</a:t>
            </a:r>
          </a:p>
          <a:p>
            <a:pPr>
              <a:spcBef>
                <a:spcPts val="600"/>
              </a:spcBef>
              <a:defRPr sz="2000">
                <a:solidFill>
                  <a:srgbClr val="1B1F2A"/>
                </a:solidFill>
                <a:latin typeface="Calibri"/>
              </a:defRPr>
            </a:pPr>
            <a:r>
              <a:t>• Every pair in any 3×3 block is within 2 hops in G.</a:t>
            </a:r>
          </a:p>
          <a:p>
            <a:pPr>
              <a:spcBef>
                <a:spcPts val="600"/>
              </a:spcBef>
              <a:defRPr sz="2000">
                <a:solidFill>
                  <a:srgbClr val="1B1F2A"/>
                </a:solidFill>
                <a:latin typeface="Calibri"/>
              </a:defRPr>
            </a:pPr>
            <a:r>
              <a:t>• That forms a 9-clique in G², forcing 9 distinct slots.</a:t>
            </a:r>
          </a:p>
        </p:txBody>
      </p:sp>
      <p:sp>
        <p:nvSpPr>
          <p:cNvPr id="8" name="TextBox 7"/>
          <p:cNvSpPr txBox="1"/>
          <p:nvPr/>
        </p:nvSpPr>
        <p:spPr>
          <a:xfrm>
            <a:off x="914400" y="5166360"/>
            <a:ext cx="5303520" cy="1005840"/>
          </a:xfrm>
          <a:prstGeom prst="rect">
            <a:avLst/>
          </a:prstGeom>
          <a:noFill/>
        </p:spPr>
        <p:txBody>
          <a:bodyPr wrap="square" lIns="0" tIns="0" rIns="0" bIns="0">
            <a:spAutoFit/>
          </a:bodyPr>
          <a:lstStyle/>
          <a:p>
            <a:pPr>
              <a:defRPr sz="2000">
                <a:solidFill>
                  <a:srgbClr val="D97706"/>
                </a:solidFill>
                <a:latin typeface="Calibri"/>
              </a:defRPr>
            </a:pPr>
            <a:r>
              <a:t>The brief's sample shows 5 slots. Node_01 and Node_03 are 600 m apart, but Node_02 hears both, so distance-2 forbids sharing.</a:t>
            </a:r>
          </a:p>
        </p:txBody>
      </p:sp>
      <p:sp>
        <p:nvSpPr>
          <p:cNvPr id="9" name="Rectangle 8"/>
          <p:cNvSpPr/>
          <p:nvPr/>
        </p:nvSpPr>
        <p:spPr>
          <a:xfrm>
            <a:off x="6784848" y="2304288"/>
            <a:ext cx="3255264" cy="3255264"/>
          </a:xfrm>
          <a:prstGeom prst="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7269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69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269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412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269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12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555480" y="1645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412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555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555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555480" y="1645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698480" y="1645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269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269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412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269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412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12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555480" y="2788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8412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555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555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9555480" y="2788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98480" y="2788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269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269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269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412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269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12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12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555480" y="3931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412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555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555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555480" y="3931920"/>
            <a:ext cx="114300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698480" y="3931920"/>
            <a:ext cx="0" cy="114300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269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412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555480" y="5074920"/>
            <a:ext cx="1143000" cy="0"/>
          </a:xfrm>
          <a:prstGeom prst="line">
            <a:avLst/>
          </a:prstGeom>
          <a:ln w="12700">
            <a:solidFill>
              <a:srgbClr val="CBD5E1"/>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949440" y="1325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13</a:t>
            </a:r>
          </a:p>
        </p:txBody>
      </p:sp>
      <p:sp>
        <p:nvSpPr>
          <p:cNvPr id="53" name="Oval 52"/>
          <p:cNvSpPr/>
          <p:nvPr/>
        </p:nvSpPr>
        <p:spPr>
          <a:xfrm>
            <a:off x="8092440" y="1325880"/>
            <a:ext cx="640080" cy="64008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14</a:t>
            </a:r>
          </a:p>
        </p:txBody>
      </p:sp>
      <p:sp>
        <p:nvSpPr>
          <p:cNvPr id="54" name="Oval 53"/>
          <p:cNvSpPr/>
          <p:nvPr/>
        </p:nvSpPr>
        <p:spPr>
          <a:xfrm>
            <a:off x="9235440" y="1325880"/>
            <a:ext cx="640080" cy="64008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15</a:t>
            </a:r>
          </a:p>
        </p:txBody>
      </p:sp>
      <p:sp>
        <p:nvSpPr>
          <p:cNvPr id="55" name="Oval 54"/>
          <p:cNvSpPr/>
          <p:nvPr/>
        </p:nvSpPr>
        <p:spPr>
          <a:xfrm>
            <a:off x="10378440" y="1325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16</a:t>
            </a:r>
          </a:p>
        </p:txBody>
      </p:sp>
      <p:sp>
        <p:nvSpPr>
          <p:cNvPr id="56" name="Oval 55"/>
          <p:cNvSpPr/>
          <p:nvPr/>
        </p:nvSpPr>
        <p:spPr>
          <a:xfrm>
            <a:off x="6949440" y="2468880"/>
            <a:ext cx="640080" cy="6400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09</a:t>
            </a:r>
          </a:p>
        </p:txBody>
      </p:sp>
      <p:sp>
        <p:nvSpPr>
          <p:cNvPr id="57" name="Oval 56"/>
          <p:cNvSpPr/>
          <p:nvPr/>
        </p:nvSpPr>
        <p:spPr>
          <a:xfrm>
            <a:off x="8092440" y="2468880"/>
            <a:ext cx="640080" cy="640080"/>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10</a:t>
            </a:r>
          </a:p>
        </p:txBody>
      </p:sp>
      <p:sp>
        <p:nvSpPr>
          <p:cNvPr id="58" name="Oval 57"/>
          <p:cNvSpPr/>
          <p:nvPr/>
        </p:nvSpPr>
        <p:spPr>
          <a:xfrm>
            <a:off x="9235440" y="2468880"/>
            <a:ext cx="640080" cy="640080"/>
          </a:xfrm>
          <a:prstGeom prst="ellipse">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11</a:t>
            </a:r>
          </a:p>
        </p:txBody>
      </p:sp>
      <p:sp>
        <p:nvSpPr>
          <p:cNvPr id="59" name="Oval 58"/>
          <p:cNvSpPr/>
          <p:nvPr/>
        </p:nvSpPr>
        <p:spPr>
          <a:xfrm>
            <a:off x="10378440" y="2468880"/>
            <a:ext cx="640080" cy="640080"/>
          </a:xfrm>
          <a:prstGeom prst="ellipse">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12</a:t>
            </a:r>
          </a:p>
        </p:txBody>
      </p:sp>
      <p:sp>
        <p:nvSpPr>
          <p:cNvPr id="60" name="Oval 59"/>
          <p:cNvSpPr/>
          <p:nvPr/>
        </p:nvSpPr>
        <p:spPr>
          <a:xfrm>
            <a:off x="6949440" y="3611880"/>
            <a:ext cx="640080" cy="64008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05</a:t>
            </a:r>
          </a:p>
        </p:txBody>
      </p:sp>
      <p:sp>
        <p:nvSpPr>
          <p:cNvPr id="61" name="Oval 60"/>
          <p:cNvSpPr/>
          <p:nvPr/>
        </p:nvSpPr>
        <p:spPr>
          <a:xfrm>
            <a:off x="8092440" y="3611880"/>
            <a:ext cx="640080" cy="640080"/>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06</a:t>
            </a:r>
          </a:p>
        </p:txBody>
      </p:sp>
      <p:sp>
        <p:nvSpPr>
          <p:cNvPr id="62" name="Oval 61"/>
          <p:cNvSpPr/>
          <p:nvPr/>
        </p:nvSpPr>
        <p:spPr>
          <a:xfrm>
            <a:off x="9235440" y="3611880"/>
            <a:ext cx="640080" cy="64008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07</a:t>
            </a:r>
          </a:p>
        </p:txBody>
      </p:sp>
      <p:sp>
        <p:nvSpPr>
          <p:cNvPr id="63" name="Oval 62"/>
          <p:cNvSpPr/>
          <p:nvPr/>
        </p:nvSpPr>
        <p:spPr>
          <a:xfrm>
            <a:off x="10378440" y="3611880"/>
            <a:ext cx="640080" cy="640080"/>
          </a:xfrm>
          <a:prstGeom prst="ellipse">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08</a:t>
            </a:r>
          </a:p>
        </p:txBody>
      </p:sp>
      <p:sp>
        <p:nvSpPr>
          <p:cNvPr id="64" name="Oval 63"/>
          <p:cNvSpPr/>
          <p:nvPr/>
        </p:nvSpPr>
        <p:spPr>
          <a:xfrm>
            <a:off x="6949440" y="4754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01</a:t>
            </a:r>
          </a:p>
        </p:txBody>
      </p:sp>
      <p:sp>
        <p:nvSpPr>
          <p:cNvPr id="65" name="Oval 64"/>
          <p:cNvSpPr/>
          <p:nvPr/>
        </p:nvSpPr>
        <p:spPr>
          <a:xfrm>
            <a:off x="8092440" y="4754880"/>
            <a:ext cx="640080" cy="640080"/>
          </a:xfrm>
          <a:prstGeom prst="ellipse">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02</a:t>
            </a:r>
          </a:p>
        </p:txBody>
      </p:sp>
      <p:sp>
        <p:nvSpPr>
          <p:cNvPr id="66" name="Oval 65"/>
          <p:cNvSpPr/>
          <p:nvPr/>
        </p:nvSpPr>
        <p:spPr>
          <a:xfrm>
            <a:off x="9235440" y="4754880"/>
            <a:ext cx="640080" cy="640080"/>
          </a:xfrm>
          <a:prstGeom prst="ellipse">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03</a:t>
            </a:r>
          </a:p>
        </p:txBody>
      </p:sp>
      <p:sp>
        <p:nvSpPr>
          <p:cNvPr id="67" name="Oval 66"/>
          <p:cNvSpPr/>
          <p:nvPr/>
        </p:nvSpPr>
        <p:spPr>
          <a:xfrm>
            <a:off x="10378440" y="4754880"/>
            <a:ext cx="640080" cy="64008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04</a:t>
            </a:r>
          </a:p>
        </p:txBody>
      </p:sp>
      <p:sp>
        <p:nvSpPr>
          <p:cNvPr id="68" name="TextBox 67"/>
          <p:cNvSpPr txBox="1"/>
          <p:nvPr/>
        </p:nvSpPr>
        <p:spPr>
          <a:xfrm>
            <a:off x="6675120" y="5715000"/>
            <a:ext cx="4114800" cy="411480"/>
          </a:xfrm>
          <a:prstGeom prst="rect">
            <a:avLst/>
          </a:prstGeom>
          <a:noFill/>
        </p:spPr>
        <p:txBody>
          <a:bodyPr wrap="none">
            <a:spAutoFit/>
          </a:bodyPr>
          <a:lstStyle/>
          <a:p>
            <a:pPr algn="ctr">
              <a:defRPr sz="2000" b="1">
                <a:solidFill>
                  <a:srgbClr val="D97706"/>
                </a:solidFill>
                <a:latin typeface="Calibri"/>
              </a:defRPr>
            </a:pPr>
            <a:r>
              <a:t>Any 3×3 subgrid forms a 9-clique in G²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640080" y="1508760"/>
          <a:ext cx="5120640" cy="43891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126480" y="1508760"/>
          <a:ext cx="5303520" cy="3108960"/>
        </p:xfrm>
        <a:graphic>
          <a:graphicData uri="http://schemas.openxmlformats.org/drawingml/2006/table">
            <a:tbl>
              <a:tblPr firstRow="1" bandRow="1">
                <a:tableStyleId>{5C22544A-7EE6-4342-B048-85BDC9FD1C3A}</a:tableStyleId>
              </a:tblPr>
              <a:tblGrid>
                <a:gridCol w="2011680"/>
                <a:gridCol w="1005840"/>
                <a:gridCol w="1005840"/>
                <a:gridCol w="1280160"/>
              </a:tblGrid>
              <a:tr h="621792">
                <a:tc>
                  <a:txBody>
                    <a:bodyPr/>
                    <a:lstStyle/>
                    <a:p>
                      <a:pPr algn="l">
                        <a:defRPr sz="2000" b="1">
                          <a:solidFill>
                            <a:srgbClr val="1B1F2A"/>
                          </a:solidFill>
                          <a:latin typeface="Georgia"/>
                        </a:defRPr>
                      </a:pPr>
                      <a:r>
                        <a:t>Topology</a:t>
                      </a:r>
                    </a:p>
                  </a:txBody>
                  <a:tcPr marL="54864" marR="54864">
                    <a:noFill/>
                  </a:tcPr>
                </a:tc>
                <a:tc>
                  <a:txBody>
                    <a:bodyPr/>
                    <a:lstStyle/>
                    <a:p>
                      <a:pPr algn="ctr">
                        <a:defRPr sz="2000" b="1">
                          <a:solidFill>
                            <a:srgbClr val="1B1F2A"/>
                          </a:solidFill>
                          <a:latin typeface="Georgia"/>
                        </a:defRPr>
                      </a:pPr>
                      <a:r>
                        <a:t>G edges</a:t>
                      </a:r>
                    </a:p>
                  </a:txBody>
                  <a:tcPr marL="54864" marR="54864">
                    <a:noFill/>
                  </a:tcPr>
                </a:tc>
                <a:tc>
                  <a:txBody>
                    <a:bodyPr/>
                    <a:lstStyle/>
                    <a:p>
                      <a:pPr algn="ctr">
                        <a:defRPr sz="2000" b="1">
                          <a:solidFill>
                            <a:srgbClr val="1B1F2A"/>
                          </a:solidFill>
                          <a:latin typeface="Georgia"/>
                        </a:defRPr>
                      </a:pPr>
                      <a:r>
                        <a:t>G² edges</a:t>
                      </a:r>
                    </a:p>
                  </a:txBody>
                  <a:tcPr marL="54864" marR="54864">
                    <a:noFill/>
                  </a:tcPr>
                </a:tc>
                <a:tc>
                  <a:txBody>
                    <a:bodyPr/>
                    <a:lstStyle/>
                    <a:p>
                      <a:pPr algn="ctr">
                        <a:defRPr sz="2000" b="1">
                          <a:solidFill>
                            <a:srgbClr val="1B1F2A"/>
                          </a:solidFill>
                          <a:latin typeface="Georgia"/>
                        </a:defRPr>
                      </a:pPr>
                      <a:r>
                        <a:t>Optimal</a:t>
                      </a:r>
                    </a:p>
                  </a:txBody>
                  <a:tcPr marL="54864" marR="54864">
                    <a:noFill/>
                  </a:tcPr>
                </a:tc>
              </a:tr>
              <a:tr h="621792">
                <a:tc>
                  <a:txBody>
                    <a:bodyPr/>
                    <a:lstStyle/>
                    <a:p>
                      <a:pPr algn="l">
                        <a:defRPr sz="1800">
                          <a:solidFill>
                            <a:srgbClr val="1B1F2A"/>
                          </a:solidFill>
                          <a:latin typeface="Calibri"/>
                        </a:defRPr>
                      </a:pPr>
                      <a:r>
                        <a:t>4x4 Grid</a:t>
                      </a:r>
                    </a:p>
                  </a:txBody>
                  <a:tcPr marL="54864" marR="54864">
                    <a:noFill/>
                  </a:tcPr>
                </a:tc>
                <a:tc>
                  <a:txBody>
                    <a:bodyPr/>
                    <a:lstStyle/>
                    <a:p>
                      <a:pPr algn="ctr">
                        <a:defRPr sz="1800">
                          <a:solidFill>
                            <a:srgbClr val="1B1F2A"/>
                          </a:solidFill>
                          <a:latin typeface="Calibri"/>
                        </a:defRPr>
                      </a:pPr>
                      <a:r>
                        <a:t>42</a:t>
                      </a:r>
                    </a:p>
                  </a:txBody>
                  <a:tcPr marL="54864" marR="54864">
                    <a:noFill/>
                  </a:tcPr>
                </a:tc>
                <a:tc>
                  <a:txBody>
                    <a:bodyPr/>
                    <a:lstStyle/>
                    <a:p>
                      <a:pPr algn="ctr">
                        <a:defRPr sz="1800">
                          <a:solidFill>
                            <a:srgbClr val="1B1F2A"/>
                          </a:solidFill>
                          <a:latin typeface="Calibri"/>
                        </a:defRPr>
                      </a:pPr>
                      <a:r>
                        <a:t>90</a:t>
                      </a:r>
                    </a:p>
                  </a:txBody>
                  <a:tcPr marL="54864" marR="54864">
                    <a:noFill/>
                  </a:tcPr>
                </a:tc>
                <a:tc>
                  <a:txBody>
                    <a:bodyPr/>
                    <a:lstStyle/>
                    <a:p>
                      <a:pPr algn="ctr">
                        <a:defRPr sz="1800" b="1">
                          <a:solidFill>
                            <a:srgbClr val="1B1F2A"/>
                          </a:solidFill>
                          <a:latin typeface="Calibri"/>
                        </a:defRPr>
                      </a:pPr>
                      <a:r>
                        <a:t>9 slots</a:t>
                      </a:r>
                    </a:p>
                  </a:txBody>
                  <a:tcPr marL="54864" marR="54864">
                    <a:noFill/>
                  </a:tcPr>
                </a:tc>
              </a:tr>
              <a:tr h="621792">
                <a:tc>
                  <a:txBody>
                    <a:bodyPr/>
                    <a:lstStyle/>
                    <a:p>
                      <a:pPr algn="l">
                        <a:defRPr sz="1800">
                          <a:solidFill>
                            <a:srgbClr val="1B1F2A"/>
                          </a:solidFill>
                          <a:latin typeface="Calibri"/>
                        </a:defRPr>
                      </a:pPr>
                      <a:r>
                        <a:t>Sparse Line</a:t>
                      </a:r>
                    </a:p>
                  </a:txBody>
                  <a:tcPr marL="54864" marR="54864">
                    <a:noFill/>
                  </a:tcPr>
                </a:tc>
                <a:tc>
                  <a:txBody>
                    <a:bodyPr/>
                    <a:lstStyle/>
                    <a:p>
                      <a:pPr algn="ctr">
                        <a:defRPr sz="1800">
                          <a:solidFill>
                            <a:srgbClr val="1B1F2A"/>
                          </a:solidFill>
                          <a:latin typeface="Calibri"/>
                        </a:defRPr>
                      </a:pPr>
                      <a:r>
                        <a:t>15</a:t>
                      </a:r>
                    </a:p>
                  </a:txBody>
                  <a:tcPr marL="54864" marR="54864">
                    <a:noFill/>
                  </a:tcPr>
                </a:tc>
                <a:tc>
                  <a:txBody>
                    <a:bodyPr/>
                    <a:lstStyle/>
                    <a:p>
                      <a:pPr algn="ctr">
                        <a:defRPr sz="1800">
                          <a:solidFill>
                            <a:srgbClr val="1B1F2A"/>
                          </a:solidFill>
                          <a:latin typeface="Calibri"/>
                        </a:defRPr>
                      </a:pPr>
                      <a:r>
                        <a:t>29</a:t>
                      </a:r>
                    </a:p>
                  </a:txBody>
                  <a:tcPr marL="54864" marR="54864">
                    <a:noFill/>
                  </a:tcPr>
                </a:tc>
                <a:tc>
                  <a:txBody>
                    <a:bodyPr/>
                    <a:lstStyle/>
                    <a:p>
                      <a:pPr algn="ctr">
                        <a:defRPr sz="1800" b="1">
                          <a:solidFill>
                            <a:srgbClr val="1B1F2A"/>
                          </a:solidFill>
                          <a:latin typeface="Calibri"/>
                        </a:defRPr>
                      </a:pPr>
                      <a:r>
                        <a:t>3 slots</a:t>
                      </a:r>
                    </a:p>
                  </a:txBody>
                  <a:tcPr marL="54864" marR="54864">
                    <a:noFill/>
                  </a:tcPr>
                </a:tc>
              </a:tr>
              <a:tr h="621792">
                <a:tc>
                  <a:txBody>
                    <a:bodyPr/>
                    <a:lstStyle/>
                    <a:p>
                      <a:pPr algn="l">
                        <a:defRPr sz="1800">
                          <a:solidFill>
                            <a:srgbClr val="1B1F2A"/>
                          </a:solidFill>
                          <a:latin typeface="Calibri"/>
                        </a:defRPr>
                      </a:pPr>
                      <a:r>
                        <a:t>Dense Cluster</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b="1">
                          <a:solidFill>
                            <a:srgbClr val="1B1F2A"/>
                          </a:solidFill>
                          <a:latin typeface="Calibri"/>
                        </a:defRPr>
                      </a:pPr>
                      <a:r>
                        <a:t>16 slots</a:t>
                      </a:r>
                    </a:p>
                  </a:txBody>
                  <a:tcPr marL="54864" marR="54864">
                    <a:noFill/>
                  </a:tcPr>
                </a:tc>
              </a:tr>
              <a:tr h="621792">
                <a:tc>
                  <a:txBody>
                    <a:bodyPr/>
                    <a:lstStyle/>
                    <a:p>
                      <a:pPr algn="l">
                        <a:defRPr sz="1800">
                          <a:solidFill>
                            <a:srgbClr val="1B1F2A"/>
                          </a:solidFill>
                          <a:latin typeface="Calibri"/>
                        </a:defRPr>
                      </a:pPr>
                      <a:r>
                        <a:t>Two Clusters</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126480" y="4892040"/>
            <a:ext cx="5303520" cy="1005840"/>
          </a:xfrm>
          <a:prstGeom prst="rect">
            <a:avLst/>
          </a:prstGeom>
          <a:noFill/>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62895" cy="594360"/>
          </a:xfrm>
          <a:prstGeom prst="rect">
            <a:avLst/>
          </a:prstGeom>
          <a:noFill/>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737360"/>
            <a:ext cx="1874519" cy="100584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Optimizer</a:t>
            </a:r>
          </a:p>
        </p:txBody>
      </p:sp>
      <p:sp>
        <p:nvSpPr>
          <p:cNvPr id="6" name="TextBox 5"/>
          <p:cNvSpPr txBox="1"/>
          <p:nvPr/>
        </p:nvSpPr>
        <p:spPr>
          <a:xfrm>
            <a:off x="457200" y="2880360"/>
            <a:ext cx="2240279" cy="411480"/>
          </a:xfrm>
          <a:prstGeom prst="rect">
            <a:avLst/>
          </a:prstGeom>
          <a:noFill/>
        </p:spPr>
        <p:txBody>
          <a:bodyPr wrap="none" lIns="0" tIns="0" rIns="0" bIns="0">
            <a:spAutoFit/>
          </a:bodyPr>
          <a:lstStyle/>
          <a:p>
            <a:pPr algn="ctr">
              <a:defRPr sz="1800" b="1">
                <a:solidFill>
                  <a:srgbClr val="0F766E"/>
                </a:solidFill>
                <a:latin typeface="Calibri"/>
              </a:defRPr>
            </a:pPr>
            <a:r>
              <a:t>tested offline</a:t>
            </a:r>
          </a:p>
        </p:txBody>
      </p:sp>
      <p:cxnSp>
        <p:nvCxnSpPr>
          <p:cNvPr id="7" name="Connector 6"/>
          <p:cNvCxnSpPr/>
          <p:nvPr/>
        </p:nvCxnSpPr>
        <p:spPr>
          <a:xfrm>
            <a:off x="2514599" y="2240280"/>
            <a:ext cx="36576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59" y="1737360"/>
            <a:ext cx="1874519" cy="100584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JSON</a:t>
            </a:r>
          </a:p>
        </p:txBody>
      </p:sp>
      <p:sp>
        <p:nvSpPr>
          <p:cNvPr id="9" name="TextBox 8"/>
          <p:cNvSpPr txBox="1"/>
          <p:nvPr/>
        </p:nvSpPr>
        <p:spPr>
          <a:xfrm>
            <a:off x="2697479" y="2880360"/>
            <a:ext cx="2240279" cy="411480"/>
          </a:xfrm>
          <a:prstGeom prst="rect">
            <a:avLst/>
          </a:prstGeom>
          <a:noFill/>
        </p:spPr>
        <p:txBody>
          <a:bodyPr wrap="none" lIns="0" tIns="0" rIns="0" bIns="0">
            <a:spAutoFit/>
          </a:bodyPr>
          <a:lstStyle/>
          <a:p>
            <a:pPr algn="ctr">
              <a:defRPr sz="1800" b="1">
                <a:solidFill>
                  <a:srgbClr val="0F766E"/>
                </a:solidFill>
                <a:latin typeface="Calibri"/>
              </a:defRPr>
            </a:pPr>
            <a:r>
              <a:t>tested offline</a:t>
            </a:r>
          </a:p>
        </p:txBody>
      </p:sp>
      <p:cxnSp>
        <p:nvCxnSpPr>
          <p:cNvPr id="10" name="Connector 9"/>
          <p:cNvCxnSpPr/>
          <p:nvPr/>
        </p:nvCxnSpPr>
        <p:spPr>
          <a:xfrm>
            <a:off x="4754878" y="2240280"/>
            <a:ext cx="36576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38" y="1737360"/>
            <a:ext cx="1874519" cy="100584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Bridge</a:t>
            </a:r>
          </a:p>
        </p:txBody>
      </p:sp>
      <p:sp>
        <p:nvSpPr>
          <p:cNvPr id="12" name="TextBox 11"/>
          <p:cNvSpPr txBox="1"/>
          <p:nvPr/>
        </p:nvSpPr>
        <p:spPr>
          <a:xfrm>
            <a:off x="4937758" y="2880360"/>
            <a:ext cx="2240279" cy="411480"/>
          </a:xfrm>
          <a:prstGeom prst="rect">
            <a:avLst/>
          </a:prstGeom>
          <a:noFill/>
        </p:spPr>
        <p:txBody>
          <a:bodyPr wrap="none" lIns="0" tIns="0" rIns="0" bIns="0">
            <a:spAutoFit/>
          </a:bodyPr>
          <a:lstStyle/>
          <a:p>
            <a:pPr algn="ctr">
              <a:defRPr sz="1800" b="1">
                <a:solidFill>
                  <a:srgbClr val="0F766E"/>
                </a:solidFill>
                <a:latin typeface="Calibri"/>
              </a:defRPr>
            </a:pPr>
            <a:r>
              <a:t>tested offline</a:t>
            </a:r>
          </a:p>
        </p:txBody>
      </p:sp>
      <p:cxnSp>
        <p:nvCxnSpPr>
          <p:cNvPr id="13" name="Connector 12"/>
          <p:cNvCxnSpPr/>
          <p:nvPr/>
        </p:nvCxnSpPr>
        <p:spPr>
          <a:xfrm>
            <a:off x="6995157" y="2240280"/>
            <a:ext cx="365760" cy="0"/>
          </a:xfrm>
          <a:prstGeom prst="line">
            <a:avLst/>
          </a:prstGeom>
          <a:ln w="31750">
            <a:solidFill>
              <a:srgbClr val="0F766E"/>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60917" y="1737360"/>
            <a:ext cx="1874519" cy="100584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XML</a:t>
            </a:r>
          </a:p>
        </p:txBody>
      </p:sp>
      <p:sp>
        <p:nvSpPr>
          <p:cNvPr id="15" name="TextBox 14"/>
          <p:cNvSpPr txBox="1"/>
          <p:nvPr/>
        </p:nvSpPr>
        <p:spPr>
          <a:xfrm>
            <a:off x="7178037" y="2880360"/>
            <a:ext cx="2240279" cy="411480"/>
          </a:xfrm>
          <a:prstGeom prst="rect">
            <a:avLst/>
          </a:prstGeom>
          <a:noFill/>
        </p:spPr>
        <p:txBody>
          <a:bodyPr wrap="none" lIns="0" tIns="0" rIns="0" bIns="0">
            <a:spAutoFit/>
          </a:bodyPr>
          <a:lstStyle/>
          <a:p>
            <a:pPr algn="ctr">
              <a:defRPr sz="1800" b="1">
                <a:solidFill>
                  <a:srgbClr val="0F766E"/>
                </a:solidFill>
                <a:latin typeface="Calibri"/>
              </a:defRPr>
            </a:pPr>
            <a:r>
              <a:t>tested offline</a:t>
            </a:r>
          </a:p>
        </p:txBody>
      </p:sp>
      <p:cxnSp>
        <p:nvCxnSpPr>
          <p:cNvPr id="16" name="Connector 15"/>
          <p:cNvCxnSpPr/>
          <p:nvPr/>
        </p:nvCxnSpPr>
        <p:spPr>
          <a:xfrm>
            <a:off x="9235436" y="2240280"/>
            <a:ext cx="365760" cy="0"/>
          </a:xfrm>
          <a:prstGeom prst="line">
            <a:avLst/>
          </a:prstGeom>
          <a:ln w="31750">
            <a:solidFill>
              <a:srgbClr val="D9770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601196" y="1737360"/>
            <a:ext cx="1874519" cy="100584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FFFFFF"/>
                </a:solidFill>
                <a:latin typeface="Calibri"/>
              </a:defRPr>
            </a:pPr>
            <a:r>
              <a:t>EMANE</a:t>
            </a:r>
          </a:p>
        </p:txBody>
      </p:sp>
      <p:sp>
        <p:nvSpPr>
          <p:cNvPr id="18" name="TextBox 17"/>
          <p:cNvSpPr txBox="1"/>
          <p:nvPr/>
        </p:nvSpPr>
        <p:spPr>
          <a:xfrm>
            <a:off x="9418316" y="2880360"/>
            <a:ext cx="2240279" cy="411480"/>
          </a:xfrm>
          <a:prstGeom prst="rect">
            <a:avLst/>
          </a:prstGeom>
          <a:noFill/>
        </p:spPr>
        <p:txBody>
          <a:bodyPr wrap="none" lIns="0" tIns="0" rIns="0" bIns="0">
            <a:spAutoFit/>
          </a:bodyPr>
          <a:lstStyle/>
          <a:p>
            <a:pPr algn="ctr">
              <a:defRPr sz="1800" b="1">
                <a:solidFill>
                  <a:srgbClr val="D97706"/>
                </a:solidFill>
                <a:latin typeface="Calibri"/>
              </a:defRPr>
            </a:pPr>
            <a:r>
              <a:t>not run</a:t>
            </a:r>
          </a:p>
        </p:txBody>
      </p:sp>
      <p:sp>
        <p:nvSpPr>
          <p:cNvPr id="19" name="TextBox 18"/>
          <p:cNvSpPr txBox="1"/>
          <p:nvPr/>
        </p:nvSpPr>
        <p:spPr>
          <a:xfrm>
            <a:off x="731520" y="3794760"/>
            <a:ext cx="10515600" cy="2194560"/>
          </a:xfrm>
          <a:prstGeom prst="rect">
            <a:avLst/>
          </a:prstGeom>
          <a:noFill/>
        </p:spPr>
        <p:txBody>
          <a:bodyPr wrap="square" lIns="0" tIns="0" rIns="0" bIns="0">
            <a:spAutoFit/>
          </a:bodyPr>
          <a:lstStyle/>
          <a:p>
            <a:pPr>
              <a:defRPr sz="2000">
                <a:solidFill>
                  <a:srgbClr val="1B1F2A"/>
                </a:solidFill>
                <a:latin typeface="Calibri"/>
              </a:defRPr>
            </a:pPr>
            <a:r>
              <a:t>• EMANE needs pathloss set to ~500 m, or all 16 radios hear each other.</a:t>
            </a:r>
          </a:p>
          <a:p>
            <a:pPr>
              <a:spcBef>
                <a:spcPts val="1400"/>
              </a:spcBef>
              <a:defRPr sz="2000">
                <a:solidFill>
                  <a:srgbClr val="1B1F2A"/>
                </a:solidFill>
                <a:latin typeface="Calibri"/>
              </a:defRPr>
            </a:pPr>
            <a:r>
              <a:t>• Next step is running the container with virtual TAP interfaces.</a:t>
            </a:r>
          </a:p>
          <a:p>
            <a:pPr>
              <a:spcBef>
                <a:spcPts val="1400"/>
              </a:spcBef>
              <a:defRPr sz="20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