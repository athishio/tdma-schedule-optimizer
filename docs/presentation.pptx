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4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4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took 0.16 milliseconds and found 9 slots. Smallest-last ordering based on graph degeneracy took 0.12 milliseconds and gave the same 9 slots. To test whether random orders could shake loose an 8-slot schedule, I ran 1000 seeded random restarts; that took 26.3 milliseconds, but the best schedule remained 9 slots. Finally, I built a local search routine with Kempe-chain swaps and tabu search to try to eliminate the ninth color; after 60.2 milliseconds it still couldn't reach 8. Because all five heuristics stalled at 9, I couldn't tell if 9 was an algorithmic limitation or a physical lower bound. That's why I added an exact solver using Google OR-Tools CP-SAT with maximum-clique pre-coloring, solving in 0.57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forcing every node into a distinct slot for 16 total. Finally, for two disconnected 8-node clusters separated by 3000 meters, both clusters run simultaneously, yielding 8 slots. In every case, the heuristics found the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txBody>
          <a:bodyPr rtlCol="0" anchor="ctr"/>
          <a:lstStyle/>
          <a:p>
            <a:pPr algn="ctr"/>
          </a:p>
        </p:txBody>
      </p:sp>
      <p:sp>
        <p:nvSpPr>
          <p:cNvPr id="3" name="TextBox 2"/>
          <p:cNvSpPr txBox="1"/>
          <p:nvPr/>
        </p:nvSpPr>
        <p:spPr>
          <a:xfrm>
            <a:off x="914400" y="1371600"/>
            <a:ext cx="7315200" cy="1188720"/>
          </a:xfrm>
          <a:prstGeom prst="rect">
            <a:avLst/>
          </a:prstGeom>
          <a:noFill/>
          <a:effectLst/>
        </p:spPr>
        <p:txBody>
          <a:bodyPr wrap="square" lIns="0" tIns="0" rIns="0" bIns="0">
            <a:spAutoFit/>
          </a:bodyPr>
          <a:lstStyle/>
          <a:p>
            <a:pPr>
              <a:defRPr sz="4000" b="1">
                <a:solidFill>
                  <a:srgbClr val="FFFFFF"/>
                </a:solidFill>
                <a:latin typeface="Georgia"/>
              </a:defRPr>
            </a:pPr>
            <a:r>
              <a:t>Packing a radio network into the fewest time slots</a:t>
            </a:r>
          </a:p>
        </p:txBody>
      </p:sp>
      <p:sp>
        <p:nvSpPr>
          <p:cNvPr id="4" name="Rectangle 3"/>
          <p:cNvSpPr/>
          <p:nvPr/>
        </p:nvSpPr>
        <p:spPr>
          <a:xfrm>
            <a:off x="914400" y="2926080"/>
            <a:ext cx="6858000" cy="19050"/>
          </a:xfrm>
          <a:prstGeom prst="rect">
            <a:avLst/>
          </a:prstGeom>
          <a:solidFill>
            <a:srgbClr val="D97706"/>
          </a:solidFill>
          <a:ln>
            <a:noFill/>
          </a:ln>
          <a:effectLst/>
        </p:spPr>
        <p:txBody>
          <a:bodyPr rtlCol="0" anchor="ctr"/>
          <a:lstStyle/>
          <a:p>
            <a:pPr algn="ctr"/>
          </a:p>
        </p:txBody>
      </p:sp>
      <p:sp>
        <p:nvSpPr>
          <p:cNvPr id="5" name="TextBox 4"/>
          <p:cNvSpPr txBox="1"/>
          <p:nvPr/>
        </p:nvSpPr>
        <p:spPr>
          <a:xfrm>
            <a:off x="914400" y="3291840"/>
            <a:ext cx="6858000" cy="365760"/>
          </a:xfrm>
          <a:prstGeom prst="rect">
            <a:avLst/>
          </a:prstGeom>
          <a:noFill/>
          <a:effectLst/>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914400" y="4114800"/>
            <a:ext cx="6858000" cy="365760"/>
          </a:xfrm>
          <a:prstGeom prst="rect">
            <a:avLst/>
          </a:prstGeom>
          <a:noFill/>
          <a:effectLst/>
        </p:spPr>
        <p:txBody>
          <a:bodyPr wrap="none" lIns="0" tIns="0" rIns="0" bIns="0">
            <a:spAutoFit/>
          </a:bodyPr>
          <a:lstStyle/>
          <a:p>
            <a:pPr>
              <a:defRPr sz="2200" b="1">
                <a:solidFill>
                  <a:srgbClr val="FFFFFF"/>
                </a:solidFill>
                <a:latin typeface="Calibri"/>
              </a:defRPr>
            </a:pPr>
            <a:r>
              <a:t>Athish M</a:t>
            </a:r>
          </a:p>
        </p:txBody>
      </p:sp>
      <p:sp>
        <p:nvSpPr>
          <p:cNvPr id="7" name="TextBox 6"/>
          <p:cNvSpPr txBox="1"/>
          <p:nvPr/>
        </p:nvSpPr>
        <p:spPr>
          <a:xfrm>
            <a:off x="914400" y="4846320"/>
            <a:ext cx="6858000" cy="365760"/>
          </a:xfrm>
          <a:prstGeom prst="rect">
            <a:avLst/>
          </a:prstGeom>
          <a:noFill/>
          <a:effectLst/>
        </p:spPr>
        <p:txBody>
          <a:bodyPr wrap="none" lIns="0" tIns="0" rIns="0" bIns="0">
            <a:spAutoFit/>
          </a:bodyPr>
          <a:lstStyle/>
          <a:p>
            <a:pPr>
              <a:defRPr sz="1600">
                <a:solidFill>
                  <a:srgbClr val="94A3B8"/>
                </a:solidFill>
                <a:latin typeface="Calibri"/>
              </a:defRPr>
            </a:pPr>
            <a:r>
              <a:t>Wireless protocol development take-home task</a:t>
            </a:r>
          </a:p>
        </p:txBody>
      </p:sp>
      <p:sp>
        <p:nvSpPr>
          <p:cNvPr id="8" name="Oval 7"/>
          <p:cNvSpPr/>
          <p:nvPr/>
        </p:nvSpPr>
        <p:spPr>
          <a:xfrm>
            <a:off x="8686800" y="1828800"/>
            <a:ext cx="457200" cy="457200"/>
          </a:xfrm>
          <a:prstGeom prst="ellipse">
            <a:avLst/>
          </a:prstGeom>
          <a:solidFill>
            <a:srgbClr val="D97706"/>
          </a:solidFill>
          <a:ln>
            <a:noFill/>
          </a:ln>
          <a:effectLst/>
        </p:spPr>
        <p:txBody>
          <a:bodyPr rtlCol="0" anchor="ctr"/>
          <a:lstStyle/>
          <a:p>
            <a:pPr algn="ctr"/>
          </a:p>
        </p:txBody>
      </p:sp>
      <p:sp>
        <p:nvSpPr>
          <p:cNvPr id="9" name="Oval 8"/>
          <p:cNvSpPr/>
          <p:nvPr/>
        </p:nvSpPr>
        <p:spPr>
          <a:xfrm>
            <a:off x="9464040" y="1828800"/>
            <a:ext cx="457200" cy="457200"/>
          </a:xfrm>
          <a:prstGeom prst="ellipse">
            <a:avLst/>
          </a:prstGeom>
          <a:solidFill>
            <a:srgbClr val="059669"/>
          </a:solidFill>
          <a:ln>
            <a:noFill/>
          </a:ln>
          <a:effectLst/>
        </p:spPr>
        <p:txBody>
          <a:bodyPr rtlCol="0" anchor="ctr"/>
          <a:lstStyle/>
          <a:p>
            <a:pPr algn="ctr"/>
          </a:p>
        </p:txBody>
      </p:sp>
      <p:sp>
        <p:nvSpPr>
          <p:cNvPr id="10" name="Oval 9"/>
          <p:cNvSpPr/>
          <p:nvPr/>
        </p:nvSpPr>
        <p:spPr>
          <a:xfrm>
            <a:off x="10241280" y="1828800"/>
            <a:ext cx="457200" cy="457200"/>
          </a:xfrm>
          <a:prstGeom prst="ellipse">
            <a:avLst/>
          </a:prstGeom>
          <a:solidFill>
            <a:srgbClr val="B45309"/>
          </a:solidFill>
          <a:ln>
            <a:noFill/>
          </a:ln>
          <a:effectLst/>
        </p:spPr>
        <p:txBody>
          <a:bodyPr rtlCol="0" anchor="ctr"/>
          <a:lstStyle/>
          <a:p>
            <a:pPr algn="ctr"/>
          </a:p>
        </p:txBody>
      </p:sp>
      <p:sp>
        <p:nvSpPr>
          <p:cNvPr id="11" name="Oval 10"/>
          <p:cNvSpPr/>
          <p:nvPr/>
        </p:nvSpPr>
        <p:spPr>
          <a:xfrm>
            <a:off x="11018520" y="1828800"/>
            <a:ext cx="457200" cy="457200"/>
          </a:xfrm>
          <a:prstGeom prst="ellipse">
            <a:avLst/>
          </a:prstGeom>
          <a:solidFill>
            <a:srgbClr val="D97706"/>
          </a:solidFill>
          <a:ln>
            <a:noFill/>
          </a:ln>
          <a:effectLst/>
        </p:spPr>
        <p:txBody>
          <a:bodyPr rtlCol="0" anchor="ctr"/>
          <a:lstStyle/>
          <a:p>
            <a:pPr algn="ctr"/>
          </a:p>
        </p:txBody>
      </p:sp>
      <p:sp>
        <p:nvSpPr>
          <p:cNvPr id="12" name="Oval 11"/>
          <p:cNvSpPr/>
          <p:nvPr/>
        </p:nvSpPr>
        <p:spPr>
          <a:xfrm>
            <a:off x="8686800" y="2606040"/>
            <a:ext cx="457200" cy="457200"/>
          </a:xfrm>
          <a:prstGeom prst="ellipse">
            <a:avLst/>
          </a:prstGeom>
          <a:solidFill>
            <a:srgbClr val="1E3A8A"/>
          </a:solidFill>
          <a:ln>
            <a:noFill/>
          </a:ln>
          <a:effectLst/>
        </p:spPr>
        <p:txBody>
          <a:bodyPr rtlCol="0" anchor="ctr"/>
          <a:lstStyle/>
          <a:p>
            <a:pPr algn="ctr"/>
          </a:p>
        </p:txBody>
      </p:sp>
      <p:sp>
        <p:nvSpPr>
          <p:cNvPr id="13" name="Oval 12"/>
          <p:cNvSpPr/>
          <p:nvPr/>
        </p:nvSpPr>
        <p:spPr>
          <a:xfrm>
            <a:off x="9464040" y="2606040"/>
            <a:ext cx="457200" cy="457200"/>
          </a:xfrm>
          <a:prstGeom prst="ellipse">
            <a:avLst/>
          </a:prstGeom>
          <a:solidFill>
            <a:srgbClr val="7C3AED"/>
          </a:solidFill>
          <a:ln>
            <a:noFill/>
          </a:ln>
          <a:effectLst/>
        </p:spPr>
        <p:txBody>
          <a:bodyPr rtlCol="0" anchor="ctr"/>
          <a:lstStyle/>
          <a:p>
            <a:pPr algn="ctr"/>
          </a:p>
        </p:txBody>
      </p:sp>
      <p:sp>
        <p:nvSpPr>
          <p:cNvPr id="14" name="Oval 13"/>
          <p:cNvSpPr/>
          <p:nvPr/>
        </p:nvSpPr>
        <p:spPr>
          <a:xfrm>
            <a:off x="10241280" y="2606040"/>
            <a:ext cx="457200" cy="457200"/>
          </a:xfrm>
          <a:prstGeom prst="ellipse">
            <a:avLst/>
          </a:prstGeom>
          <a:solidFill>
            <a:srgbClr val="DB2777"/>
          </a:solidFill>
          <a:ln>
            <a:noFill/>
          </a:ln>
          <a:effectLst/>
        </p:spPr>
        <p:txBody>
          <a:bodyPr rtlCol="0" anchor="ctr"/>
          <a:lstStyle/>
          <a:p>
            <a:pPr algn="ctr"/>
          </a:p>
        </p:txBody>
      </p:sp>
      <p:sp>
        <p:nvSpPr>
          <p:cNvPr id="15" name="Oval 14"/>
          <p:cNvSpPr/>
          <p:nvPr/>
        </p:nvSpPr>
        <p:spPr>
          <a:xfrm>
            <a:off x="11018520" y="2606040"/>
            <a:ext cx="457200" cy="457200"/>
          </a:xfrm>
          <a:prstGeom prst="ellipse">
            <a:avLst/>
          </a:prstGeom>
          <a:solidFill>
            <a:srgbClr val="1E3A8A"/>
          </a:solidFill>
          <a:ln>
            <a:noFill/>
          </a:ln>
          <a:effectLst/>
        </p:spPr>
        <p:txBody>
          <a:bodyPr rtlCol="0" anchor="ctr"/>
          <a:lstStyle/>
          <a:p>
            <a:pPr algn="ctr"/>
          </a:p>
        </p:txBody>
      </p:sp>
      <p:sp>
        <p:nvSpPr>
          <p:cNvPr id="16" name="Oval 15"/>
          <p:cNvSpPr/>
          <p:nvPr/>
        </p:nvSpPr>
        <p:spPr>
          <a:xfrm>
            <a:off x="8686800" y="3383280"/>
            <a:ext cx="457200" cy="457200"/>
          </a:xfrm>
          <a:prstGeom prst="ellipse">
            <a:avLst/>
          </a:prstGeom>
          <a:solidFill>
            <a:srgbClr val="475569"/>
          </a:solidFill>
          <a:ln>
            <a:noFill/>
          </a:ln>
          <a:effectLst/>
        </p:spPr>
        <p:txBody>
          <a:bodyPr rtlCol="0" anchor="ctr"/>
          <a:lstStyle/>
          <a:p>
            <a:pPr algn="ctr"/>
          </a:p>
        </p:txBody>
      </p:sp>
      <p:sp>
        <p:nvSpPr>
          <p:cNvPr id="17" name="Oval 16"/>
          <p:cNvSpPr/>
          <p:nvPr/>
        </p:nvSpPr>
        <p:spPr>
          <a:xfrm>
            <a:off x="9464040" y="3383280"/>
            <a:ext cx="457200" cy="457200"/>
          </a:xfrm>
          <a:prstGeom prst="ellipse">
            <a:avLst/>
          </a:prstGeom>
          <a:solidFill>
            <a:srgbClr val="0F766E"/>
          </a:solidFill>
          <a:ln>
            <a:noFill/>
          </a:ln>
          <a:effectLst/>
        </p:spPr>
        <p:txBody>
          <a:bodyPr rtlCol="0" anchor="ctr"/>
          <a:lstStyle/>
          <a:p>
            <a:pPr algn="ctr"/>
          </a:p>
        </p:txBody>
      </p:sp>
      <p:sp>
        <p:nvSpPr>
          <p:cNvPr id="18" name="Oval 17"/>
          <p:cNvSpPr/>
          <p:nvPr/>
        </p:nvSpPr>
        <p:spPr>
          <a:xfrm>
            <a:off x="10241280" y="3383280"/>
            <a:ext cx="457200" cy="457200"/>
          </a:xfrm>
          <a:prstGeom prst="ellipse">
            <a:avLst/>
          </a:prstGeom>
          <a:solidFill>
            <a:srgbClr val="2563EB"/>
          </a:solidFill>
          <a:ln>
            <a:noFill/>
          </a:ln>
          <a:effectLst/>
        </p:spPr>
        <p:txBody>
          <a:bodyPr rtlCol="0" anchor="ctr"/>
          <a:lstStyle/>
          <a:p>
            <a:pPr algn="ctr"/>
          </a:p>
        </p:txBody>
      </p:sp>
      <p:sp>
        <p:nvSpPr>
          <p:cNvPr id="19" name="Oval 18"/>
          <p:cNvSpPr/>
          <p:nvPr/>
        </p:nvSpPr>
        <p:spPr>
          <a:xfrm>
            <a:off x="11018520" y="3383280"/>
            <a:ext cx="457200" cy="457200"/>
          </a:xfrm>
          <a:prstGeom prst="ellipse">
            <a:avLst/>
          </a:prstGeom>
          <a:solidFill>
            <a:srgbClr val="475569"/>
          </a:solidFill>
          <a:ln>
            <a:noFill/>
          </a:ln>
          <a:effectLst/>
        </p:spPr>
        <p:txBody>
          <a:bodyPr rtlCol="0" anchor="ctr"/>
          <a:lstStyle/>
          <a:p>
            <a:pPr algn="ctr"/>
          </a:p>
        </p:txBody>
      </p:sp>
      <p:sp>
        <p:nvSpPr>
          <p:cNvPr id="20" name="Oval 19"/>
          <p:cNvSpPr/>
          <p:nvPr/>
        </p:nvSpPr>
        <p:spPr>
          <a:xfrm>
            <a:off x="8686800" y="4160520"/>
            <a:ext cx="457200" cy="457200"/>
          </a:xfrm>
          <a:prstGeom prst="ellipse">
            <a:avLst/>
          </a:prstGeom>
          <a:solidFill>
            <a:srgbClr val="D97706"/>
          </a:solidFill>
          <a:ln>
            <a:noFill/>
          </a:ln>
          <a:effectLst/>
        </p:spPr>
        <p:txBody>
          <a:bodyPr rtlCol="0" anchor="ctr"/>
          <a:lstStyle/>
          <a:p>
            <a:pPr algn="ctr"/>
          </a:p>
        </p:txBody>
      </p:sp>
      <p:sp>
        <p:nvSpPr>
          <p:cNvPr id="21" name="Oval 20"/>
          <p:cNvSpPr/>
          <p:nvPr/>
        </p:nvSpPr>
        <p:spPr>
          <a:xfrm>
            <a:off x="9464040" y="4160520"/>
            <a:ext cx="457200" cy="457200"/>
          </a:xfrm>
          <a:prstGeom prst="ellipse">
            <a:avLst/>
          </a:prstGeom>
          <a:solidFill>
            <a:srgbClr val="059669"/>
          </a:solidFill>
          <a:ln>
            <a:noFill/>
          </a:ln>
          <a:effectLst/>
        </p:spPr>
        <p:txBody>
          <a:bodyPr rtlCol="0" anchor="ctr"/>
          <a:lstStyle/>
          <a:p>
            <a:pPr algn="ctr"/>
          </a:p>
        </p:txBody>
      </p:sp>
      <p:sp>
        <p:nvSpPr>
          <p:cNvPr id="22" name="Oval 21"/>
          <p:cNvSpPr/>
          <p:nvPr/>
        </p:nvSpPr>
        <p:spPr>
          <a:xfrm>
            <a:off x="10241280" y="4160520"/>
            <a:ext cx="457200" cy="457200"/>
          </a:xfrm>
          <a:prstGeom prst="ellipse">
            <a:avLst/>
          </a:prstGeom>
          <a:solidFill>
            <a:srgbClr val="B45309"/>
          </a:solidFill>
          <a:ln>
            <a:noFill/>
          </a:ln>
          <a:effectLst/>
        </p:spPr>
        <p:txBody>
          <a:bodyPr rtlCol="0" anchor="ctr"/>
          <a:lstStyle/>
          <a:p>
            <a:pPr algn="ctr"/>
          </a:p>
        </p:txBody>
      </p:sp>
      <p:sp>
        <p:nvSpPr>
          <p:cNvPr id="23" name="Oval 22"/>
          <p:cNvSpPr/>
          <p:nvPr/>
        </p:nvSpPr>
        <p:spPr>
          <a:xfrm>
            <a:off x="11018520" y="4160520"/>
            <a:ext cx="457200" cy="457200"/>
          </a:xfrm>
          <a:prstGeom prst="ellipse">
            <a:avLst/>
          </a:prstGeom>
          <a:solidFill>
            <a:srgbClr val="D97706"/>
          </a:solidFill>
          <a:ln>
            <a:noFill/>
          </a:ln>
          <a:effectLst/>
        </p:spPr>
        <p:txBody>
          <a:bodyPr rtlCol="0" anchor="ctr"/>
          <a:lstStyle/>
          <a:p>
            <a:pPr algn="ctr"/>
          </a:p>
        </p:txBody>
      </p:sp>
      <p:sp>
        <p:nvSpPr>
          <p:cNvPr id="24" name="TextBox 23"/>
          <p:cNvSpPr txBox="1"/>
          <p:nvPr/>
        </p:nvSpPr>
        <p:spPr>
          <a:xfrm>
            <a:off x="8321040" y="5120640"/>
            <a:ext cx="3474720" cy="365760"/>
          </a:xfrm>
          <a:prstGeom prst="rect">
            <a:avLst/>
          </a:prstGeom>
          <a:noFill/>
          <a:effectLst/>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280160"/>
            <a:ext cx="10362895" cy="411480"/>
          </a:xfrm>
          <a:prstGeom prst="rect">
            <a:avLst/>
          </a:prstGeom>
          <a:noFill/>
          <a:effectLst/>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3063240" y="3680460"/>
            <a:ext cx="2322576" cy="0"/>
          </a:xfrm>
          <a:prstGeom prst="line">
            <a:avLst/>
          </a:prstGeom>
          <a:ln w="44450">
            <a:solidFill>
              <a:srgbClr val="0F766E"/>
            </a:solidFill>
          </a:ln>
          <a:effectLst/>
        </p:spPr>
      </p:cxnSp>
      <p:cxnSp>
        <p:nvCxnSpPr>
          <p:cNvPr id="7" name="Connector 6"/>
          <p:cNvCxnSpPr/>
          <p:nvPr/>
        </p:nvCxnSpPr>
        <p:spPr>
          <a:xfrm flipH="1">
            <a:off x="6803136" y="3680460"/>
            <a:ext cx="2322576" cy="0"/>
          </a:xfrm>
          <a:prstGeom prst="line">
            <a:avLst/>
          </a:prstGeom>
          <a:ln w="44450">
            <a:solidFill>
              <a:srgbClr val="0F766E"/>
            </a:solidFill>
          </a:ln>
          <a:effectLst/>
        </p:spPr>
      </p:cxnSp>
      <p:sp>
        <p:nvSpPr>
          <p:cNvPr id="8" name="TextBox 7"/>
          <p:cNvSpPr txBox="1"/>
          <p:nvPr/>
        </p:nvSpPr>
        <p:spPr>
          <a:xfrm>
            <a:off x="3154680"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894576"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354580" y="2194560"/>
            <a:ext cx="7479792" cy="0"/>
          </a:xfrm>
          <a:prstGeom prst="line">
            <a:avLst/>
          </a:prstGeom>
          <a:ln w="31750">
            <a:solidFill>
              <a:srgbClr val="D97706"/>
            </a:solidFill>
          </a:ln>
          <a:effectLst/>
        </p:spPr>
      </p:cxnSp>
      <p:sp>
        <p:nvSpPr>
          <p:cNvPr id="11" name="TextBox 10"/>
          <p:cNvSpPr txBox="1"/>
          <p:nvPr/>
        </p:nvSpPr>
        <p:spPr>
          <a:xfrm>
            <a:off x="4014216" y="1737360"/>
            <a:ext cx="4114800" cy="411480"/>
          </a:xfrm>
          <a:prstGeom prst="rect">
            <a:avLst/>
          </a:prstGeom>
          <a:noFill/>
          <a:effectLst/>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1645920"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A</a:t>
            </a:r>
          </a:p>
        </p:txBody>
      </p:sp>
      <p:sp>
        <p:nvSpPr>
          <p:cNvPr id="13" name="TextBox 12"/>
          <p:cNvSpPr txBox="1"/>
          <p:nvPr/>
        </p:nvSpPr>
        <p:spPr>
          <a:xfrm>
            <a:off x="548640"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385816" y="2971800"/>
            <a:ext cx="1417320" cy="1417320"/>
          </a:xfrm>
          <a:prstGeom prst="ellipse">
            <a:avLst/>
          </a:prstGeom>
          <a:solidFill>
            <a:srgbClr val="1B1F2A"/>
          </a:solidFill>
          <a:ln>
            <a:noFill/>
          </a:ln>
          <a:effectLst/>
        </p:spPr>
        <p:txBody>
          <a:bodyPr rtlCol="0" anchor="ctr"/>
          <a:lstStyle/>
          <a:p>
            <a:pPr algn="ctr">
              <a:defRPr sz="3200" b="1">
                <a:solidFill>
                  <a:srgbClr val="FFFFFF"/>
                </a:solidFill>
                <a:latin typeface="Georgia"/>
              </a:defRPr>
            </a:pPr>
            <a:r>
              <a:t>B</a:t>
            </a:r>
          </a:p>
        </p:txBody>
      </p:sp>
      <p:sp>
        <p:nvSpPr>
          <p:cNvPr id="15" name="TextBox 14"/>
          <p:cNvSpPr txBox="1"/>
          <p:nvPr/>
        </p:nvSpPr>
        <p:spPr>
          <a:xfrm>
            <a:off x="4288536" y="4617720"/>
            <a:ext cx="3611880" cy="548640"/>
          </a:xfrm>
          <a:prstGeom prst="rect">
            <a:avLst/>
          </a:prstGeom>
          <a:noFill/>
          <a:effectLst/>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125712"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C</a:t>
            </a:r>
          </a:p>
        </p:txBody>
      </p:sp>
      <p:sp>
        <p:nvSpPr>
          <p:cNvPr id="17" name="TextBox 16"/>
          <p:cNvSpPr txBox="1"/>
          <p:nvPr/>
        </p:nvSpPr>
        <p:spPr>
          <a:xfrm>
            <a:off x="8028432"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532120"/>
            <a:ext cx="10362895" cy="548640"/>
          </a:xfrm>
          <a:prstGeom prst="rect">
            <a:avLst/>
          </a:prstGeom>
          <a:noFill/>
          <a:effectLst/>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71600"/>
            <a:ext cx="10362895" cy="411480"/>
          </a:xfrm>
          <a:prstGeom prst="rect">
            <a:avLst/>
          </a:prstGeom>
          <a:noFill/>
          <a:effectLst/>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594360" y="2121408"/>
            <a:ext cx="2606040" cy="411480"/>
          </a:xfrm>
          <a:prstGeom prst="rect">
            <a:avLst/>
          </a:prstGeom>
          <a:noFill/>
          <a:effectLst/>
        </p:spPr>
        <p:txBody>
          <a:bodyPr wrap="none" lIns="0" tIns="0" rIns="0" bIns="0">
            <a:spAutoFit/>
          </a:bodyPr>
          <a:lstStyle/>
          <a:p>
            <a:pPr>
              <a:defRPr sz="2000" b="1">
                <a:solidFill>
                  <a:srgbClr val="1B1F2A"/>
                </a:solidFill>
                <a:latin typeface="Georgia"/>
              </a:defRPr>
            </a:pPr>
            <a:r>
              <a:t>Physical graph G</a:t>
            </a:r>
          </a:p>
        </p:txBody>
      </p:sp>
      <p:cxnSp>
        <p:nvCxnSpPr>
          <p:cNvPr id="7" name="Connector 6"/>
          <p:cNvCxnSpPr/>
          <p:nvPr/>
        </p:nvCxnSpPr>
        <p:spPr>
          <a:xfrm>
            <a:off x="3718407" y="2331720"/>
            <a:ext cx="1188720" cy="0"/>
          </a:xfrm>
          <a:prstGeom prst="line">
            <a:avLst/>
          </a:prstGeom>
          <a:ln w="44450">
            <a:solidFill>
              <a:srgbClr val="0F766E"/>
            </a:solidFill>
          </a:ln>
          <a:effectLst/>
        </p:spPr>
      </p:cxnSp>
      <p:cxnSp>
        <p:nvCxnSpPr>
          <p:cNvPr id="8" name="Connector 7"/>
          <p:cNvCxnSpPr/>
          <p:nvPr/>
        </p:nvCxnSpPr>
        <p:spPr>
          <a:xfrm>
            <a:off x="4907127" y="2331720"/>
            <a:ext cx="1188720" cy="0"/>
          </a:xfrm>
          <a:prstGeom prst="line">
            <a:avLst/>
          </a:prstGeom>
          <a:ln w="44450">
            <a:solidFill>
              <a:srgbClr val="0F766E"/>
            </a:solidFill>
          </a:ln>
          <a:effectLst/>
        </p:spPr>
      </p:cxnSp>
      <p:cxnSp>
        <p:nvCxnSpPr>
          <p:cNvPr id="9" name="Connector 8"/>
          <p:cNvCxnSpPr/>
          <p:nvPr/>
        </p:nvCxnSpPr>
        <p:spPr>
          <a:xfrm>
            <a:off x="6095847" y="2331720"/>
            <a:ext cx="1188720" cy="0"/>
          </a:xfrm>
          <a:prstGeom prst="line">
            <a:avLst/>
          </a:prstGeom>
          <a:ln w="44450">
            <a:solidFill>
              <a:srgbClr val="0F766E"/>
            </a:solidFill>
          </a:ln>
          <a:effectLst/>
        </p:spPr>
      </p:cxnSp>
      <p:cxnSp>
        <p:nvCxnSpPr>
          <p:cNvPr id="10" name="Connector 9"/>
          <p:cNvCxnSpPr/>
          <p:nvPr/>
        </p:nvCxnSpPr>
        <p:spPr>
          <a:xfrm>
            <a:off x="7284567" y="2331720"/>
            <a:ext cx="1188720" cy="0"/>
          </a:xfrm>
          <a:prstGeom prst="line">
            <a:avLst/>
          </a:prstGeom>
          <a:ln w="44450">
            <a:solidFill>
              <a:srgbClr val="0F766E"/>
            </a:solidFill>
          </a:ln>
          <a:effectLst/>
        </p:spPr>
      </p:cxnSp>
      <p:sp>
        <p:nvSpPr>
          <p:cNvPr id="11" name="Oval 10"/>
          <p:cNvSpPr/>
          <p:nvPr/>
        </p:nvSpPr>
        <p:spPr>
          <a:xfrm>
            <a:off x="3352647" y="196596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1</a:t>
            </a:r>
          </a:p>
        </p:txBody>
      </p:sp>
      <p:sp>
        <p:nvSpPr>
          <p:cNvPr id="12" name="Oval 11"/>
          <p:cNvSpPr/>
          <p:nvPr/>
        </p:nvSpPr>
        <p:spPr>
          <a:xfrm>
            <a:off x="4541367" y="196596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2</a:t>
            </a:r>
          </a:p>
        </p:txBody>
      </p:sp>
      <p:sp>
        <p:nvSpPr>
          <p:cNvPr id="13" name="Oval 12"/>
          <p:cNvSpPr/>
          <p:nvPr/>
        </p:nvSpPr>
        <p:spPr>
          <a:xfrm>
            <a:off x="5730087" y="196596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3</a:t>
            </a:r>
          </a:p>
        </p:txBody>
      </p:sp>
      <p:sp>
        <p:nvSpPr>
          <p:cNvPr id="14" name="Oval 13"/>
          <p:cNvSpPr/>
          <p:nvPr/>
        </p:nvSpPr>
        <p:spPr>
          <a:xfrm>
            <a:off x="6918807" y="196596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4</a:t>
            </a:r>
          </a:p>
        </p:txBody>
      </p:sp>
      <p:sp>
        <p:nvSpPr>
          <p:cNvPr id="15" name="Oval 14"/>
          <p:cNvSpPr/>
          <p:nvPr/>
        </p:nvSpPr>
        <p:spPr>
          <a:xfrm>
            <a:off x="8107527" y="196596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5</a:t>
            </a:r>
          </a:p>
        </p:txBody>
      </p:sp>
      <p:sp>
        <p:nvSpPr>
          <p:cNvPr id="16" name="TextBox 15"/>
          <p:cNvSpPr txBox="1"/>
          <p:nvPr/>
        </p:nvSpPr>
        <p:spPr>
          <a:xfrm>
            <a:off x="3352647" y="2770632"/>
            <a:ext cx="5486400" cy="320040"/>
          </a:xfrm>
          <a:prstGeom prst="rect">
            <a:avLst/>
          </a:prstGeom>
          <a:noFill/>
          <a:effectLst/>
        </p:spPr>
        <p:txBody>
          <a:bodyPr wrap="none" lIns="0" tIns="0" rIns="0" bIns="0">
            <a:spAutoFit/>
          </a:bodyPr>
          <a:lstStyle/>
          <a:p>
            <a:pPr algn="ctr">
              <a:defRPr sz="1800">
                <a:solidFill>
                  <a:srgbClr val="64748B"/>
                </a:solidFill>
                <a:latin typeface="Calibri"/>
              </a:defRPr>
            </a:pPr>
            <a:r>
              <a:t>Edges where distance ≤ 500 m</a:t>
            </a:r>
          </a:p>
        </p:txBody>
      </p:sp>
      <p:sp>
        <p:nvSpPr>
          <p:cNvPr id="17" name="TextBox 16"/>
          <p:cNvSpPr txBox="1"/>
          <p:nvPr/>
        </p:nvSpPr>
        <p:spPr>
          <a:xfrm>
            <a:off x="3352647" y="3200400"/>
            <a:ext cx="5486400" cy="411480"/>
          </a:xfrm>
          <a:prstGeom prst="rect">
            <a:avLst/>
          </a:prstGeom>
          <a:noFill/>
          <a:effectLst/>
        </p:spPr>
        <p:txBody>
          <a:bodyPr wrap="none" lIns="0" tIns="0" rIns="0" bIns="0">
            <a:spAutoFit/>
          </a:bodyPr>
          <a:lstStyle/>
          <a:p>
            <a:pPr algn="ctr">
              <a:defRPr sz="2200" b="1">
                <a:solidFill>
                  <a:srgbClr val="D97706"/>
                </a:solidFill>
                <a:latin typeface="Georgia"/>
              </a:defRPr>
            </a:pPr>
            <a:r>
              <a:t>↓   Square it</a:t>
            </a:r>
          </a:p>
        </p:txBody>
      </p:sp>
      <p:sp>
        <p:nvSpPr>
          <p:cNvPr id="18" name="TextBox 17"/>
          <p:cNvSpPr txBox="1"/>
          <p:nvPr/>
        </p:nvSpPr>
        <p:spPr>
          <a:xfrm>
            <a:off x="594360" y="4590288"/>
            <a:ext cx="2606040" cy="411480"/>
          </a:xfrm>
          <a:prstGeom prst="rect">
            <a:avLst/>
          </a:prstGeom>
          <a:noFill/>
          <a:effectLst/>
        </p:spPr>
        <p:txBody>
          <a:bodyPr wrap="none" lIns="0" tIns="0" rIns="0" bIns="0">
            <a:spAutoFit/>
          </a:bodyPr>
          <a:lstStyle/>
          <a:p>
            <a:pPr>
              <a:defRPr sz="2000" b="1">
                <a:solidFill>
                  <a:srgbClr val="1B1F2A"/>
                </a:solidFill>
                <a:latin typeface="Georgia"/>
              </a:defRPr>
            </a:pPr>
            <a:r>
              <a:t>Conflict graph G²</a:t>
            </a:r>
          </a:p>
        </p:txBody>
      </p:sp>
      <p:cxnSp>
        <p:nvCxnSpPr>
          <p:cNvPr id="19" name="Connector 18"/>
          <p:cNvCxnSpPr/>
          <p:nvPr/>
        </p:nvCxnSpPr>
        <p:spPr>
          <a:xfrm>
            <a:off x="3718407" y="4800600"/>
            <a:ext cx="1188720" cy="0"/>
          </a:xfrm>
          <a:prstGeom prst="line">
            <a:avLst/>
          </a:prstGeom>
          <a:ln w="44450">
            <a:solidFill>
              <a:srgbClr val="0F766E"/>
            </a:solidFill>
          </a:ln>
          <a:effectLst/>
        </p:spPr>
      </p:cxnSp>
      <p:cxnSp>
        <p:nvCxnSpPr>
          <p:cNvPr id="20" name="Connector 19"/>
          <p:cNvCxnSpPr/>
          <p:nvPr/>
        </p:nvCxnSpPr>
        <p:spPr>
          <a:xfrm>
            <a:off x="4907127" y="4800600"/>
            <a:ext cx="1188720" cy="0"/>
          </a:xfrm>
          <a:prstGeom prst="line">
            <a:avLst/>
          </a:prstGeom>
          <a:ln w="44450">
            <a:solidFill>
              <a:srgbClr val="0F766E"/>
            </a:solidFill>
          </a:ln>
          <a:effectLst/>
        </p:spPr>
      </p:cxnSp>
      <p:cxnSp>
        <p:nvCxnSpPr>
          <p:cNvPr id="21" name="Connector 20"/>
          <p:cNvCxnSpPr/>
          <p:nvPr/>
        </p:nvCxnSpPr>
        <p:spPr>
          <a:xfrm>
            <a:off x="6095847" y="4800600"/>
            <a:ext cx="1188720" cy="0"/>
          </a:xfrm>
          <a:prstGeom prst="line">
            <a:avLst/>
          </a:prstGeom>
          <a:ln w="44450">
            <a:solidFill>
              <a:srgbClr val="0F766E"/>
            </a:solidFill>
          </a:ln>
          <a:effectLst/>
        </p:spPr>
      </p:cxnSp>
      <p:cxnSp>
        <p:nvCxnSpPr>
          <p:cNvPr id="22" name="Connector 21"/>
          <p:cNvCxnSpPr/>
          <p:nvPr/>
        </p:nvCxnSpPr>
        <p:spPr>
          <a:xfrm>
            <a:off x="7284567" y="4800600"/>
            <a:ext cx="1188720" cy="0"/>
          </a:xfrm>
          <a:prstGeom prst="line">
            <a:avLst/>
          </a:prstGeom>
          <a:ln w="44450">
            <a:solidFill>
              <a:srgbClr val="0F766E"/>
            </a:solidFill>
          </a:ln>
          <a:effectLst/>
        </p:spPr>
      </p:cxnSp>
      <p:cxnSp>
        <p:nvCxnSpPr>
          <p:cNvPr id="23" name="Connector 22"/>
          <p:cNvCxnSpPr/>
          <p:nvPr/>
        </p:nvCxnSpPr>
        <p:spPr>
          <a:xfrm flipV="1">
            <a:off x="3663543" y="4114800"/>
            <a:ext cx="0" cy="685800"/>
          </a:xfrm>
          <a:prstGeom prst="line">
            <a:avLst/>
          </a:prstGeom>
          <a:ln w="31750">
            <a:solidFill>
              <a:srgbClr val="D97706"/>
            </a:solidFill>
          </a:ln>
          <a:effectLst/>
        </p:spPr>
      </p:cxnSp>
      <p:cxnSp>
        <p:nvCxnSpPr>
          <p:cNvPr id="24" name="Connector 23"/>
          <p:cNvCxnSpPr/>
          <p:nvPr/>
        </p:nvCxnSpPr>
        <p:spPr>
          <a:xfrm>
            <a:off x="3663543" y="4114800"/>
            <a:ext cx="2377440" cy="0"/>
          </a:xfrm>
          <a:prstGeom prst="line">
            <a:avLst/>
          </a:prstGeom>
          <a:ln w="31750">
            <a:solidFill>
              <a:srgbClr val="D97706"/>
            </a:solidFill>
          </a:ln>
          <a:effectLst/>
        </p:spPr>
      </p:cxnSp>
      <p:cxnSp>
        <p:nvCxnSpPr>
          <p:cNvPr id="25" name="Connector 24"/>
          <p:cNvCxnSpPr/>
          <p:nvPr/>
        </p:nvCxnSpPr>
        <p:spPr>
          <a:xfrm>
            <a:off x="6040983" y="4114800"/>
            <a:ext cx="0" cy="685800"/>
          </a:xfrm>
          <a:prstGeom prst="line">
            <a:avLst/>
          </a:prstGeom>
          <a:ln w="31750">
            <a:solidFill>
              <a:srgbClr val="D97706"/>
            </a:solidFill>
          </a:ln>
          <a:effectLst/>
        </p:spPr>
      </p:cxnSp>
      <p:cxnSp>
        <p:nvCxnSpPr>
          <p:cNvPr id="26" name="Connector 25"/>
          <p:cNvCxnSpPr/>
          <p:nvPr/>
        </p:nvCxnSpPr>
        <p:spPr>
          <a:xfrm flipV="1">
            <a:off x="6150711" y="3977640"/>
            <a:ext cx="0" cy="822960"/>
          </a:xfrm>
          <a:prstGeom prst="line">
            <a:avLst/>
          </a:prstGeom>
          <a:ln w="31750">
            <a:solidFill>
              <a:srgbClr val="D97706"/>
            </a:solidFill>
          </a:ln>
          <a:effectLst/>
        </p:spPr>
      </p:cxnSp>
      <p:cxnSp>
        <p:nvCxnSpPr>
          <p:cNvPr id="27" name="Connector 26"/>
          <p:cNvCxnSpPr/>
          <p:nvPr/>
        </p:nvCxnSpPr>
        <p:spPr>
          <a:xfrm>
            <a:off x="6150711" y="3977640"/>
            <a:ext cx="2377440" cy="0"/>
          </a:xfrm>
          <a:prstGeom prst="line">
            <a:avLst/>
          </a:prstGeom>
          <a:ln w="31750">
            <a:solidFill>
              <a:srgbClr val="D97706"/>
            </a:solidFill>
          </a:ln>
          <a:effectLst/>
        </p:spPr>
      </p:cxnSp>
      <p:cxnSp>
        <p:nvCxnSpPr>
          <p:cNvPr id="28" name="Connector 27"/>
          <p:cNvCxnSpPr/>
          <p:nvPr/>
        </p:nvCxnSpPr>
        <p:spPr>
          <a:xfrm>
            <a:off x="8528151" y="3977640"/>
            <a:ext cx="0" cy="822960"/>
          </a:xfrm>
          <a:prstGeom prst="line">
            <a:avLst/>
          </a:prstGeom>
          <a:ln w="31750">
            <a:solidFill>
              <a:srgbClr val="D97706"/>
            </a:solidFill>
          </a:ln>
          <a:effectLst/>
        </p:spPr>
      </p:cxnSp>
      <p:cxnSp>
        <p:nvCxnSpPr>
          <p:cNvPr id="29" name="Connector 28"/>
          <p:cNvCxnSpPr/>
          <p:nvPr/>
        </p:nvCxnSpPr>
        <p:spPr>
          <a:xfrm flipV="1">
            <a:off x="4907127" y="3813048"/>
            <a:ext cx="0" cy="987552"/>
          </a:xfrm>
          <a:prstGeom prst="line">
            <a:avLst/>
          </a:prstGeom>
          <a:ln w="31750">
            <a:solidFill>
              <a:srgbClr val="D97706"/>
            </a:solidFill>
          </a:ln>
          <a:effectLst/>
        </p:spPr>
      </p:cxnSp>
      <p:cxnSp>
        <p:nvCxnSpPr>
          <p:cNvPr id="30" name="Connector 29"/>
          <p:cNvCxnSpPr/>
          <p:nvPr/>
        </p:nvCxnSpPr>
        <p:spPr>
          <a:xfrm>
            <a:off x="4907127" y="3813048"/>
            <a:ext cx="2377440" cy="0"/>
          </a:xfrm>
          <a:prstGeom prst="line">
            <a:avLst/>
          </a:prstGeom>
          <a:ln w="31750">
            <a:solidFill>
              <a:srgbClr val="D97706"/>
            </a:solidFill>
          </a:ln>
          <a:effectLst/>
        </p:spPr>
      </p:cxnSp>
      <p:cxnSp>
        <p:nvCxnSpPr>
          <p:cNvPr id="31" name="Connector 30"/>
          <p:cNvCxnSpPr/>
          <p:nvPr/>
        </p:nvCxnSpPr>
        <p:spPr>
          <a:xfrm>
            <a:off x="7284567" y="3813048"/>
            <a:ext cx="0" cy="987552"/>
          </a:xfrm>
          <a:prstGeom prst="line">
            <a:avLst/>
          </a:prstGeom>
          <a:ln w="31750">
            <a:solidFill>
              <a:srgbClr val="D97706"/>
            </a:solidFill>
          </a:ln>
          <a:effectLst/>
        </p:spPr>
      </p:cxnSp>
      <p:sp>
        <p:nvSpPr>
          <p:cNvPr id="32" name="Oval 31"/>
          <p:cNvSpPr/>
          <p:nvPr/>
        </p:nvSpPr>
        <p:spPr>
          <a:xfrm>
            <a:off x="3352647" y="443484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1</a:t>
            </a:r>
          </a:p>
        </p:txBody>
      </p:sp>
      <p:sp>
        <p:nvSpPr>
          <p:cNvPr id="33" name="Oval 32"/>
          <p:cNvSpPr/>
          <p:nvPr/>
        </p:nvSpPr>
        <p:spPr>
          <a:xfrm>
            <a:off x="4541367" y="443484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2</a:t>
            </a:r>
          </a:p>
        </p:txBody>
      </p:sp>
      <p:sp>
        <p:nvSpPr>
          <p:cNvPr id="34" name="Oval 33"/>
          <p:cNvSpPr/>
          <p:nvPr/>
        </p:nvSpPr>
        <p:spPr>
          <a:xfrm>
            <a:off x="5730087" y="443484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3</a:t>
            </a:r>
          </a:p>
        </p:txBody>
      </p:sp>
      <p:sp>
        <p:nvSpPr>
          <p:cNvPr id="35" name="Oval 34"/>
          <p:cNvSpPr/>
          <p:nvPr/>
        </p:nvSpPr>
        <p:spPr>
          <a:xfrm>
            <a:off x="6918807" y="443484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4</a:t>
            </a:r>
          </a:p>
        </p:txBody>
      </p:sp>
      <p:sp>
        <p:nvSpPr>
          <p:cNvPr id="36" name="Oval 35"/>
          <p:cNvSpPr/>
          <p:nvPr/>
        </p:nvSpPr>
        <p:spPr>
          <a:xfrm>
            <a:off x="8107527" y="443484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5</a:t>
            </a:r>
          </a:p>
        </p:txBody>
      </p:sp>
      <p:sp>
        <p:nvSpPr>
          <p:cNvPr id="37" name="TextBox 36"/>
          <p:cNvSpPr txBox="1"/>
          <p:nvPr/>
        </p:nvSpPr>
        <p:spPr>
          <a:xfrm>
            <a:off x="3352647" y="5239512"/>
            <a:ext cx="5486400" cy="320040"/>
          </a:xfrm>
          <a:prstGeom prst="rect">
            <a:avLst/>
          </a:prstGeom>
          <a:noFill/>
          <a:effectLst/>
        </p:spPr>
        <p:txBody>
          <a:bodyPr wrap="none">
            <a:spAutoFit/>
          </a:bodyPr>
          <a:lstStyle/>
          <a:p>
            <a:pPr algn="ctr">
              <a:defRPr sz="1800">
                <a:solidFill>
                  <a:srgbClr val="64748B"/>
                </a:solidFill>
                <a:latin typeface="Calibri"/>
              </a:defRPr>
            </a:pPr>
            <a:r>
              <a:t>1-hop and 2-hop neighbours become adjacent</a:t>
            </a:r>
          </a:p>
        </p:txBody>
      </p:sp>
      <p:sp>
        <p:nvSpPr>
          <p:cNvPr id="38" name="TextBox 37"/>
          <p:cNvSpPr txBox="1"/>
          <p:nvPr/>
        </p:nvSpPr>
        <p:spPr>
          <a:xfrm>
            <a:off x="914400" y="5760720"/>
            <a:ext cx="10362895" cy="411480"/>
          </a:xfrm>
          <a:prstGeom prst="rect">
            <a:avLst/>
          </a:prstGeom>
          <a:noFill/>
          <a:effectLst/>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Table 4"/>
          <p:cNvGraphicFramePr>
            <a:graphicFrameLocks noGrp="1"/>
          </p:cNvGraphicFramePr>
          <p:nvPr/>
        </p:nvGraphicFramePr>
        <p:xfrm>
          <a:off x="914400" y="1508760"/>
          <a:ext cx="10362895" cy="3840480"/>
        </p:xfrm>
        <a:graphic>
          <a:graphicData uri="http://schemas.openxmlformats.org/drawingml/2006/table">
            <a:tbl>
              <a:tblPr firstRow="1" bandRow="1">
                <a:tableStyleId>{5C22544A-7EE6-4342-B048-85BDC9FD1C3A}</a:tableStyleId>
                <a:effectLst/>
              </a:tblPr>
              <a:tblGrid>
                <a:gridCol w="4876495"/>
                <a:gridCol w="2743200"/>
                <a:gridCol w="2743200"/>
              </a:tblGrid>
              <a:tr h="548640">
                <a:tc>
                  <a:txBody>
                    <a:bodyPr/>
                    <a:lstStyle/>
                    <a:p>
                      <a:pPr algn="l">
                        <a:defRPr sz="2000" b="1">
                          <a:solidFill>
                            <a:srgbClr val="1B1F2A"/>
                          </a:solidFill>
                          <a:latin typeface="Georgia"/>
                        </a:defRPr>
                      </a:pPr>
                      <a:r>
                        <a:t>Method</a:t>
                      </a:r>
                    </a:p>
                  </a:txBody>
                  <a:tcPr>
                    <a:noFill/>
                  </a:tcPr>
                </a:tc>
                <a:tc>
                  <a:txBody>
                    <a:bodyPr/>
                    <a:lstStyle/>
                    <a:p>
                      <a:pPr algn="ctr">
                        <a:defRPr sz="2000" b="1">
                          <a:solidFill>
                            <a:srgbClr val="1B1F2A"/>
                          </a:solidFill>
                          <a:latin typeface="Georgia"/>
                        </a:defRPr>
                      </a:pPr>
                      <a:r>
                        <a:t>Slots on 4×4 grid</a:t>
                      </a:r>
                    </a:p>
                  </a:txBody>
                  <a:tcPr>
                    <a:noFill/>
                  </a:tcPr>
                </a:tc>
                <a:tc>
                  <a:txBody>
                    <a:bodyPr/>
                    <a:lstStyle/>
                    <a:p>
                      <a:pPr algn="ctr">
                        <a:defRPr sz="2000" b="1">
                          <a:solidFill>
                            <a:srgbClr val="1B1F2A"/>
                          </a:solidFill>
                          <a:latin typeface="Georgia"/>
                        </a:defRPr>
                      </a:pPr>
                      <a:r>
                        <a:t>Time</a:t>
                      </a:r>
                    </a:p>
                  </a:txBody>
                  <a:tcPr>
                    <a:noFill/>
                  </a:tcPr>
                </a:tc>
              </a:tr>
              <a:tr h="548640">
                <a:tc>
                  <a:txBody>
                    <a:bodyPr/>
                    <a:lstStyle/>
                    <a:p>
                      <a:pPr algn="l">
                        <a:defRPr sz="1800">
                          <a:solidFill>
                            <a:srgbClr val="1B1F2A"/>
                          </a:solidFill>
                          <a:latin typeface="Calibri"/>
                        </a:defRPr>
                      </a:pPr>
                      <a:r>
                        <a:t>Greedy by degree (Welsh-Powell)</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0.06 ms</a:t>
                      </a:r>
                    </a:p>
                  </a:txBody>
                  <a:tcPr>
                    <a:noFill/>
                  </a:tcPr>
                </a:tc>
              </a:tr>
              <a:tr h="548640">
                <a:tc>
                  <a:txBody>
                    <a:bodyPr/>
                    <a:lstStyle/>
                    <a:p>
                      <a:pPr algn="l">
                        <a:defRPr sz="1800">
                          <a:solidFill>
                            <a:srgbClr val="1B1F2A"/>
                          </a:solidFill>
                          <a:latin typeface="Calibri"/>
                        </a:defRPr>
                      </a:pPr>
                      <a:r>
                        <a:t>DSATUR (Saturation greedy)</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0.16 ms</a:t>
                      </a:r>
                    </a:p>
                  </a:txBody>
                  <a:tcPr>
                    <a:noFill/>
                  </a:tcPr>
                </a:tc>
              </a:tr>
              <a:tr h="548640">
                <a:tc>
                  <a:txBody>
                    <a:bodyPr/>
                    <a:lstStyle/>
                    <a:p>
                      <a:pPr algn="l">
                        <a:defRPr sz="1800">
                          <a:solidFill>
                            <a:srgbClr val="1B1F2A"/>
                          </a:solidFill>
                          <a:latin typeface="Calibri"/>
                        </a:defRPr>
                      </a:pPr>
                      <a:r>
                        <a:t>Smallest-last (Degeneracy order)</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0.12 ms</a:t>
                      </a:r>
                    </a:p>
                  </a:txBody>
                  <a:tcPr>
                    <a:noFill/>
                  </a:tcPr>
                </a:tc>
              </a:tr>
              <a:tr h="548640">
                <a:tc>
                  <a:txBody>
                    <a:bodyPr/>
                    <a:lstStyle/>
                    <a:p>
                      <a:pPr algn="l">
                        <a:defRPr sz="1800">
                          <a:solidFill>
                            <a:srgbClr val="1B1F2A"/>
                          </a:solidFill>
                          <a:latin typeface="Calibri"/>
                        </a:defRPr>
                      </a:pPr>
                      <a:r>
                        <a:t>1000 random restarts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26.3 ms</a:t>
                      </a:r>
                    </a:p>
                  </a:txBody>
                  <a:tcPr>
                    <a:noFill/>
                  </a:tcPr>
                </a:tc>
              </a:tr>
              <a:tr h="548640">
                <a:tc>
                  <a:txBody>
                    <a:bodyPr/>
                    <a:lstStyle/>
                    <a:p>
                      <a:pPr algn="l">
                        <a:defRPr sz="1800">
                          <a:solidFill>
                            <a:srgbClr val="1B1F2A"/>
                          </a:solidFill>
                          <a:latin typeface="Calibri"/>
                        </a:defRPr>
                      </a:pPr>
                      <a:r>
                        <a:t>Local search with Kempe swaps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60.2 ms</a:t>
                      </a:r>
                    </a:p>
                  </a:txBody>
                  <a:tcPr>
                    <a:noFill/>
                  </a:tcPr>
                </a:tc>
              </a:tr>
              <a:tr h="548640">
                <a:tc>
                  <a:txBody>
                    <a:bodyPr/>
                    <a:lstStyle/>
                    <a:p>
                      <a:pPr algn="l">
                        <a:defRPr sz="1800">
                          <a:solidFill>
                            <a:srgbClr val="1B1F2A"/>
                          </a:solidFill>
                          <a:latin typeface="Calibri"/>
                        </a:defRPr>
                      </a:pPr>
                      <a:r>
                        <a:t>Exact solver (CP-SAT)</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0.57 ms</a:t>
                      </a:r>
                    </a:p>
                  </a:txBody>
                  <a:tcPr>
                    <a:noFill/>
                  </a:tcPr>
                </a:tc>
              </a:tr>
            </a:tbl>
          </a:graphicData>
        </a:graphic>
      </p:graphicFrame>
      <p:sp>
        <p:nvSpPr>
          <p:cNvPr id="6" name="TextBox 5"/>
          <p:cNvSpPr txBox="1"/>
          <p:nvPr/>
        </p:nvSpPr>
        <p:spPr>
          <a:xfrm>
            <a:off x="914400" y="5760720"/>
            <a:ext cx="10362895" cy="411480"/>
          </a:xfrm>
          <a:prstGeom prst="rect">
            <a:avLst/>
          </a:prstGeom>
          <a:noFill/>
          <a:effectLst/>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ectangle 4"/>
          <p:cNvSpPr/>
          <p:nvPr/>
        </p:nvSpPr>
        <p:spPr>
          <a:xfrm>
            <a:off x="640080" y="1280160"/>
            <a:ext cx="5989320" cy="4892040"/>
          </a:xfrm>
          <a:prstGeom prst="rect">
            <a:avLst/>
          </a:prstGeom>
          <a:solidFill>
            <a:srgbClr val="1A1F2C"/>
          </a:solidFill>
          <a:ln>
            <a:noFill/>
          </a:ln>
          <a:effectLst/>
        </p:spPr>
        <p:txBody>
          <a:bodyPr rtlCol="0" anchor="ctr"/>
          <a:lstStyle/>
          <a:p>
            <a:pPr algn="ctr"/>
          </a:p>
        </p:txBody>
      </p:sp>
      <p:sp>
        <p:nvSpPr>
          <p:cNvPr id="6" name="TextBox 5"/>
          <p:cNvSpPr txBox="1"/>
          <p:nvPr/>
        </p:nvSpPr>
        <p:spPr>
          <a:xfrm>
            <a:off x="804672" y="1353312"/>
            <a:ext cx="5660136" cy="4745736"/>
          </a:xfrm>
          <a:prstGeom prst="rect">
            <a:avLst/>
          </a:prstGeom>
          <a:noFill/>
          <a:effectLst/>
        </p:spPr>
        <p:txBody>
          <a:bodyPr wrap="none" lIns="0" tIns="0" rIns="0" bIns="0">
            <a:noAutofit/>
          </a:bodyPr>
          <a:lstStyle/>
          <a:p>
            <a:pPr>
              <a:lnSpc>
                <a:spcPts val="1550"/>
              </a:lnSpc>
              <a:defRPr sz="1400" b="0">
                <a:solidFill>
                  <a:srgbClr val="F59E0B"/>
                </a:solidFill>
                <a:latin typeface="Consolas"/>
              </a:defRPr>
            </a:pPr>
            <a:r>
              <a:t>$ python -m tdma.cli --coords-file grid_4x4_300m.json</a:t>
            </a:r>
          </a:p>
          <a:p>
            <a:pPr>
              <a:lnSpc>
                <a:spcPts val="1550"/>
              </a:lnSpc>
              <a:defRPr sz="1400" b="1">
                <a:solidFill>
                  <a:srgbClr val="F8FAFC"/>
                </a:solidFill>
                <a:latin typeface="Consolas"/>
              </a:defRPr>
            </a:pPr>
            <a:r>
              <a:t>Optimized Frame Length: 9 slots (Proven Optimum)</a:t>
            </a:r>
          </a:p>
          <a:p>
            <a:pPr>
              <a:lnSpc>
                <a:spcPts val="1550"/>
              </a:lnSpc>
              <a:defRPr sz="1400" b="0">
                <a:solidFill>
                  <a:srgbClr val="475569"/>
                </a:solidFill>
                <a:latin typeface="Consolas"/>
              </a:defRPr>
            </a:pPr>
            <a:r>
              <a:t>--------------------------------------------------</a:t>
            </a:r>
          </a:p>
          <a:p>
            <a:pPr>
              <a:lnSpc>
                <a:spcPts val="1550"/>
              </a:lnSpc>
              <a:defRPr sz="1400" b="0">
                <a:solidFill>
                  <a:srgbClr val="E2E8F0"/>
                </a:solidFill>
                <a:latin typeface="Consolas"/>
              </a:defRPr>
            </a:pPr>
            <a:r>
              <a:t>Node_01: Slot 8       Node_09: Slot 7</a:t>
            </a:r>
          </a:p>
          <a:p>
            <a:pPr>
              <a:lnSpc>
                <a:spcPts val="1550"/>
              </a:lnSpc>
              <a:defRPr sz="1400" b="0">
                <a:solidFill>
                  <a:srgbClr val="E2E8F0"/>
                </a:solidFill>
                <a:latin typeface="Consolas"/>
              </a:defRPr>
            </a:pPr>
            <a:r>
              <a:t>Node_02: Slot 4       Node_10: Slot 2</a:t>
            </a:r>
          </a:p>
          <a:p>
            <a:pPr>
              <a:lnSpc>
                <a:spcPts val="1550"/>
              </a:lnSpc>
              <a:defRPr sz="1400" b="0">
                <a:solidFill>
                  <a:srgbClr val="E2E8F0"/>
                </a:solidFill>
                <a:latin typeface="Consolas"/>
              </a:defRPr>
            </a:pPr>
            <a:r>
              <a:t>Node_03: Slot 5       Node_11: Slot 3</a:t>
            </a:r>
          </a:p>
          <a:p>
            <a:pPr>
              <a:lnSpc>
                <a:spcPts val="1550"/>
              </a:lnSpc>
              <a:defRPr sz="1400" b="0">
                <a:solidFill>
                  <a:srgbClr val="E2E8F0"/>
                </a:solidFill>
                <a:latin typeface="Consolas"/>
              </a:defRPr>
            </a:pPr>
            <a:r>
              <a:t>Node_04: Slot 8       Node_12: Slot 7</a:t>
            </a:r>
          </a:p>
          <a:p>
            <a:pPr>
              <a:lnSpc>
                <a:spcPts val="1550"/>
              </a:lnSpc>
              <a:defRPr sz="1400" b="0">
                <a:solidFill>
                  <a:srgbClr val="E2E8F0"/>
                </a:solidFill>
                <a:latin typeface="Consolas"/>
              </a:defRPr>
            </a:pPr>
            <a:r>
              <a:t>Node_05: Slot 6       Node_13: Slot 8</a:t>
            </a:r>
          </a:p>
          <a:p>
            <a:pPr>
              <a:lnSpc>
                <a:spcPts val="1550"/>
              </a:lnSpc>
              <a:defRPr sz="1400" b="0">
                <a:solidFill>
                  <a:srgbClr val="E2E8F0"/>
                </a:solidFill>
                <a:latin typeface="Consolas"/>
              </a:defRPr>
            </a:pPr>
            <a:r>
              <a:t>Node_06: Slot 0       Node_14: Slot 4</a:t>
            </a:r>
          </a:p>
          <a:p>
            <a:pPr>
              <a:lnSpc>
                <a:spcPts val="1550"/>
              </a:lnSpc>
              <a:defRPr sz="1400" b="0">
                <a:solidFill>
                  <a:srgbClr val="E2E8F0"/>
                </a:solidFill>
                <a:latin typeface="Consolas"/>
              </a:defRPr>
            </a:pPr>
            <a:r>
              <a:t>Node_07: Slot 1       Node_15: Slot 5</a:t>
            </a:r>
          </a:p>
          <a:p>
            <a:pPr>
              <a:lnSpc>
                <a:spcPts val="1550"/>
              </a:lnSpc>
              <a:defRPr sz="1400" b="0">
                <a:solidFill>
                  <a:srgbClr val="E2E8F0"/>
                </a:solidFill>
                <a:latin typeface="Consolas"/>
              </a:defRPr>
            </a:pPr>
            <a:r>
              <a:t>Node_08: Slot 6       Node_16: Slot 8</a:t>
            </a:r>
          </a:p>
          <a:p>
            <a:pPr>
              <a:lnSpc>
                <a:spcPts val="1550"/>
              </a:lnSpc>
              <a:defRPr sz="1400" b="0">
                <a:solidFill>
                  <a:srgbClr val="475569"/>
                </a:solidFill>
                <a:latin typeface="Consolas"/>
              </a:defRPr>
            </a:pPr>
            <a:r>
              <a:t>--------------------------------------------------</a:t>
            </a:r>
          </a:p>
          <a:p>
            <a:pPr>
              <a:lnSpc>
                <a:spcPts val="1550"/>
              </a:lnSpc>
              <a:defRPr sz="1400" b="1">
                <a:solidFill>
                  <a:srgbClr val="94A3B8"/>
                </a:solidFill>
                <a:latin typeface="Consolas"/>
              </a:defRPr>
            </a:pPr>
            <a:r>
              <a:t>Slot   01 02 03 04 05 06 07 08 09 10 11 12 13 14 15 16</a:t>
            </a:r>
          </a:p>
          <a:p>
            <a:pPr>
              <a:lnSpc>
                <a:spcPts val="1550"/>
              </a:lnSpc>
              <a:defRPr sz="1400" b="0">
                <a:solidFill>
                  <a:srgbClr val="94A3B8"/>
                </a:solidFill>
                <a:latin typeface="Consolas"/>
              </a:defRPr>
            </a:pPr>
            <a:r>
              <a:t>Slot 0  .  .  .  .  .  1  .  .  .  .  .  .  .  .  .  .</a:t>
            </a:r>
          </a:p>
          <a:p>
            <a:pPr>
              <a:lnSpc>
                <a:spcPts val="1550"/>
              </a:lnSpc>
              <a:defRPr sz="1400" b="0">
                <a:solidFill>
                  <a:srgbClr val="94A3B8"/>
                </a:solidFill>
                <a:latin typeface="Consolas"/>
              </a:defRPr>
            </a:pPr>
            <a:r>
              <a:t>Slot 1  .  .  .  .  .  .  1  .  .  .  .  .  .  .  .  .</a:t>
            </a:r>
          </a:p>
          <a:p>
            <a:pPr>
              <a:lnSpc>
                <a:spcPts val="1550"/>
              </a:lnSpc>
              <a:defRPr sz="1400" b="0">
                <a:solidFill>
                  <a:srgbClr val="94A3B8"/>
                </a:solidFill>
                <a:latin typeface="Consolas"/>
              </a:defRPr>
            </a:pPr>
            <a:r>
              <a:t>Slot 2  .  .  .  .  .  .  .  .  .  1  .  .  .  .  .  .</a:t>
            </a:r>
          </a:p>
          <a:p>
            <a:pPr>
              <a:lnSpc>
                <a:spcPts val="1550"/>
              </a:lnSpc>
              <a:defRPr sz="1400" b="0">
                <a:solidFill>
                  <a:srgbClr val="94A3B8"/>
                </a:solidFill>
                <a:latin typeface="Consolas"/>
              </a:defRPr>
            </a:pPr>
            <a:r>
              <a:t>Slot 3  .  .  .  .  .  .  .  .  .  .  1  .  .  .  .  .</a:t>
            </a:r>
          </a:p>
          <a:p>
            <a:pPr>
              <a:lnSpc>
                <a:spcPts val="1550"/>
              </a:lnSpc>
              <a:defRPr sz="1400" b="0">
                <a:solidFill>
                  <a:srgbClr val="94A3B8"/>
                </a:solidFill>
                <a:latin typeface="Consolas"/>
              </a:defRPr>
            </a:pPr>
            <a:r>
              <a:t>Slot 4  .  1  .  .  .  .  .  .  .  .  .  .  .  1  .  .</a:t>
            </a:r>
          </a:p>
          <a:p>
            <a:pPr>
              <a:lnSpc>
                <a:spcPts val="1550"/>
              </a:lnSpc>
              <a:defRPr sz="1400" b="0">
                <a:solidFill>
                  <a:srgbClr val="94A3B8"/>
                </a:solidFill>
                <a:latin typeface="Consolas"/>
              </a:defRPr>
            </a:pPr>
            <a:r>
              <a:t>Slot 5  .  .  1  .  .  .  .  .  .  .  .  .  .  .  1  .</a:t>
            </a:r>
          </a:p>
          <a:p>
            <a:pPr>
              <a:lnSpc>
                <a:spcPts val="1550"/>
              </a:lnSpc>
              <a:defRPr sz="1400" b="0">
                <a:solidFill>
                  <a:srgbClr val="94A3B8"/>
                </a:solidFill>
                <a:latin typeface="Consolas"/>
              </a:defRPr>
            </a:pPr>
            <a:r>
              <a:t>Slot 6  .  .  .  .  1  .  .  1  .  .  .  .  .  .  .  .</a:t>
            </a:r>
          </a:p>
          <a:p>
            <a:pPr>
              <a:lnSpc>
                <a:spcPts val="1550"/>
              </a:lnSpc>
              <a:defRPr sz="1400" b="0">
                <a:solidFill>
                  <a:srgbClr val="94A3B8"/>
                </a:solidFill>
                <a:latin typeface="Consolas"/>
              </a:defRPr>
            </a:pPr>
            <a:r>
              <a:t>Slot 7  .  .  .  .  .  .  .  .  1  .  .  1  .  .  .  .</a:t>
            </a:r>
          </a:p>
          <a:p>
            <a:pPr>
              <a:lnSpc>
                <a:spcPts val="1550"/>
              </a:lnSpc>
              <a:defRPr sz="1400" b="1">
                <a:solidFill>
                  <a:srgbClr val="F59E0B"/>
                </a:solidFill>
                <a:latin typeface="Consolas"/>
              </a:defRPr>
            </a:pPr>
            <a:r>
              <a:t>Slot 8  1  .  .  1  .  .  .  .  .  .  .  .  1  .  .  1</a:t>
            </a:r>
          </a:p>
        </p:txBody>
      </p:sp>
      <p:cxnSp>
        <p:nvCxnSpPr>
          <p:cNvPr id="7" name="Connector 6"/>
          <p:cNvCxnSpPr/>
          <p:nvPr/>
        </p:nvCxnSpPr>
        <p:spPr>
          <a:xfrm>
            <a:off x="7269480" y="1600200"/>
            <a:ext cx="1143000" cy="0"/>
          </a:xfrm>
          <a:prstGeom prst="line">
            <a:avLst/>
          </a:prstGeom>
          <a:ln w="12700">
            <a:solidFill>
              <a:srgbClr val="CBD5E1"/>
            </a:solidFill>
          </a:ln>
          <a:effectLst/>
        </p:spPr>
      </p:cxnSp>
      <p:cxnSp>
        <p:nvCxnSpPr>
          <p:cNvPr id="8" name="Connector 7"/>
          <p:cNvCxnSpPr/>
          <p:nvPr/>
        </p:nvCxnSpPr>
        <p:spPr>
          <a:xfrm>
            <a:off x="7269480" y="1600200"/>
            <a:ext cx="0" cy="1143000"/>
          </a:xfrm>
          <a:prstGeom prst="line">
            <a:avLst/>
          </a:prstGeom>
          <a:ln w="12700">
            <a:solidFill>
              <a:srgbClr val="CBD5E1"/>
            </a:solidFill>
          </a:ln>
          <a:effectLst/>
        </p:spPr>
      </p:cxnSp>
      <p:cxnSp>
        <p:nvCxnSpPr>
          <p:cNvPr id="9" name="Connector 8"/>
          <p:cNvCxnSpPr/>
          <p:nvPr/>
        </p:nvCxnSpPr>
        <p:spPr>
          <a:xfrm>
            <a:off x="7269480" y="1600200"/>
            <a:ext cx="1143000" cy="1143000"/>
          </a:xfrm>
          <a:prstGeom prst="line">
            <a:avLst/>
          </a:prstGeom>
          <a:ln w="12700">
            <a:solidFill>
              <a:srgbClr val="CBD5E1"/>
            </a:solidFill>
          </a:ln>
          <a:effectLst/>
        </p:spPr>
      </p:cxnSp>
      <p:cxnSp>
        <p:nvCxnSpPr>
          <p:cNvPr id="10" name="Connector 9"/>
          <p:cNvCxnSpPr/>
          <p:nvPr/>
        </p:nvCxnSpPr>
        <p:spPr>
          <a:xfrm>
            <a:off x="8412480" y="1600200"/>
            <a:ext cx="1143000" cy="0"/>
          </a:xfrm>
          <a:prstGeom prst="line">
            <a:avLst/>
          </a:prstGeom>
          <a:ln w="12700">
            <a:solidFill>
              <a:srgbClr val="CBD5E1"/>
            </a:solidFill>
          </a:ln>
          <a:effectLst/>
        </p:spPr>
      </p:cxnSp>
      <p:cxnSp>
        <p:nvCxnSpPr>
          <p:cNvPr id="11" name="Connector 10"/>
          <p:cNvCxnSpPr/>
          <p:nvPr/>
        </p:nvCxnSpPr>
        <p:spPr>
          <a:xfrm flipH="1">
            <a:off x="7269480" y="1600200"/>
            <a:ext cx="1143000" cy="1143000"/>
          </a:xfrm>
          <a:prstGeom prst="line">
            <a:avLst/>
          </a:prstGeom>
          <a:ln w="12700">
            <a:solidFill>
              <a:srgbClr val="CBD5E1"/>
            </a:solidFill>
          </a:ln>
          <a:effectLst/>
        </p:spPr>
      </p:cxnSp>
      <p:cxnSp>
        <p:nvCxnSpPr>
          <p:cNvPr id="12" name="Connector 11"/>
          <p:cNvCxnSpPr/>
          <p:nvPr/>
        </p:nvCxnSpPr>
        <p:spPr>
          <a:xfrm>
            <a:off x="8412480" y="1600200"/>
            <a:ext cx="0" cy="1143000"/>
          </a:xfrm>
          <a:prstGeom prst="line">
            <a:avLst/>
          </a:prstGeom>
          <a:ln w="12700">
            <a:solidFill>
              <a:srgbClr val="CBD5E1"/>
            </a:solidFill>
          </a:ln>
          <a:effectLst/>
        </p:spPr>
      </p:cxnSp>
      <p:cxnSp>
        <p:nvCxnSpPr>
          <p:cNvPr id="13" name="Connector 12"/>
          <p:cNvCxnSpPr/>
          <p:nvPr/>
        </p:nvCxnSpPr>
        <p:spPr>
          <a:xfrm>
            <a:off x="8412480" y="1600200"/>
            <a:ext cx="1143000" cy="1143000"/>
          </a:xfrm>
          <a:prstGeom prst="line">
            <a:avLst/>
          </a:prstGeom>
          <a:ln w="12700">
            <a:solidFill>
              <a:srgbClr val="CBD5E1"/>
            </a:solidFill>
          </a:ln>
          <a:effectLst/>
        </p:spPr>
      </p:cxnSp>
      <p:cxnSp>
        <p:nvCxnSpPr>
          <p:cNvPr id="14" name="Connector 13"/>
          <p:cNvCxnSpPr/>
          <p:nvPr/>
        </p:nvCxnSpPr>
        <p:spPr>
          <a:xfrm>
            <a:off x="9555480" y="1600200"/>
            <a:ext cx="1143000" cy="0"/>
          </a:xfrm>
          <a:prstGeom prst="line">
            <a:avLst/>
          </a:prstGeom>
          <a:ln w="12700">
            <a:solidFill>
              <a:srgbClr val="CBD5E1"/>
            </a:solidFill>
          </a:ln>
          <a:effectLst/>
        </p:spPr>
      </p:cxnSp>
      <p:cxnSp>
        <p:nvCxnSpPr>
          <p:cNvPr id="15" name="Connector 14"/>
          <p:cNvCxnSpPr/>
          <p:nvPr/>
        </p:nvCxnSpPr>
        <p:spPr>
          <a:xfrm flipH="1">
            <a:off x="8412480" y="1600200"/>
            <a:ext cx="1143000" cy="1143000"/>
          </a:xfrm>
          <a:prstGeom prst="line">
            <a:avLst/>
          </a:prstGeom>
          <a:ln w="12700">
            <a:solidFill>
              <a:srgbClr val="CBD5E1"/>
            </a:solidFill>
          </a:ln>
          <a:effectLst/>
        </p:spPr>
      </p:cxnSp>
      <p:cxnSp>
        <p:nvCxnSpPr>
          <p:cNvPr id="16" name="Connector 15"/>
          <p:cNvCxnSpPr/>
          <p:nvPr/>
        </p:nvCxnSpPr>
        <p:spPr>
          <a:xfrm>
            <a:off x="9555480" y="1600200"/>
            <a:ext cx="0" cy="1143000"/>
          </a:xfrm>
          <a:prstGeom prst="line">
            <a:avLst/>
          </a:prstGeom>
          <a:ln w="12700">
            <a:solidFill>
              <a:srgbClr val="CBD5E1"/>
            </a:solidFill>
          </a:ln>
          <a:effectLst/>
        </p:spPr>
      </p:cxnSp>
      <p:cxnSp>
        <p:nvCxnSpPr>
          <p:cNvPr id="17" name="Connector 16"/>
          <p:cNvCxnSpPr/>
          <p:nvPr/>
        </p:nvCxnSpPr>
        <p:spPr>
          <a:xfrm>
            <a:off x="9555480" y="1600200"/>
            <a:ext cx="1143000" cy="1143000"/>
          </a:xfrm>
          <a:prstGeom prst="line">
            <a:avLst/>
          </a:prstGeom>
          <a:ln w="12700">
            <a:solidFill>
              <a:srgbClr val="CBD5E1"/>
            </a:solidFill>
          </a:ln>
          <a:effectLst/>
        </p:spPr>
      </p:cxnSp>
      <p:cxnSp>
        <p:nvCxnSpPr>
          <p:cNvPr id="18" name="Connector 17"/>
          <p:cNvCxnSpPr/>
          <p:nvPr/>
        </p:nvCxnSpPr>
        <p:spPr>
          <a:xfrm flipH="1">
            <a:off x="9555480" y="1600200"/>
            <a:ext cx="1143000" cy="1143000"/>
          </a:xfrm>
          <a:prstGeom prst="line">
            <a:avLst/>
          </a:prstGeom>
          <a:ln w="12700">
            <a:solidFill>
              <a:srgbClr val="CBD5E1"/>
            </a:solidFill>
          </a:ln>
          <a:effectLst/>
        </p:spPr>
      </p:cxnSp>
      <p:cxnSp>
        <p:nvCxnSpPr>
          <p:cNvPr id="19" name="Connector 18"/>
          <p:cNvCxnSpPr/>
          <p:nvPr/>
        </p:nvCxnSpPr>
        <p:spPr>
          <a:xfrm>
            <a:off x="10698480" y="1600200"/>
            <a:ext cx="0" cy="1143000"/>
          </a:xfrm>
          <a:prstGeom prst="line">
            <a:avLst/>
          </a:prstGeom>
          <a:ln w="12700">
            <a:solidFill>
              <a:srgbClr val="CBD5E1"/>
            </a:solidFill>
          </a:ln>
          <a:effectLst/>
        </p:spPr>
      </p:cxnSp>
      <p:cxnSp>
        <p:nvCxnSpPr>
          <p:cNvPr id="20" name="Connector 19"/>
          <p:cNvCxnSpPr/>
          <p:nvPr/>
        </p:nvCxnSpPr>
        <p:spPr>
          <a:xfrm>
            <a:off x="7269480" y="2743200"/>
            <a:ext cx="1143000" cy="0"/>
          </a:xfrm>
          <a:prstGeom prst="line">
            <a:avLst/>
          </a:prstGeom>
          <a:ln w="12700">
            <a:solidFill>
              <a:srgbClr val="CBD5E1"/>
            </a:solidFill>
          </a:ln>
          <a:effectLst/>
        </p:spPr>
      </p:cxnSp>
      <p:cxnSp>
        <p:nvCxnSpPr>
          <p:cNvPr id="21" name="Connector 20"/>
          <p:cNvCxnSpPr/>
          <p:nvPr/>
        </p:nvCxnSpPr>
        <p:spPr>
          <a:xfrm>
            <a:off x="7269480" y="2743200"/>
            <a:ext cx="0" cy="1143000"/>
          </a:xfrm>
          <a:prstGeom prst="line">
            <a:avLst/>
          </a:prstGeom>
          <a:ln w="12700">
            <a:solidFill>
              <a:srgbClr val="CBD5E1"/>
            </a:solidFill>
          </a:ln>
          <a:effectLst/>
        </p:spPr>
      </p:cxnSp>
      <p:cxnSp>
        <p:nvCxnSpPr>
          <p:cNvPr id="22" name="Connector 21"/>
          <p:cNvCxnSpPr/>
          <p:nvPr/>
        </p:nvCxnSpPr>
        <p:spPr>
          <a:xfrm>
            <a:off x="7269480" y="2743200"/>
            <a:ext cx="1143000" cy="1143000"/>
          </a:xfrm>
          <a:prstGeom prst="line">
            <a:avLst/>
          </a:prstGeom>
          <a:ln w="12700">
            <a:solidFill>
              <a:srgbClr val="CBD5E1"/>
            </a:solidFill>
          </a:ln>
          <a:effectLst/>
        </p:spPr>
      </p:cxnSp>
      <p:cxnSp>
        <p:nvCxnSpPr>
          <p:cNvPr id="23" name="Connector 22"/>
          <p:cNvCxnSpPr/>
          <p:nvPr/>
        </p:nvCxnSpPr>
        <p:spPr>
          <a:xfrm>
            <a:off x="8412480" y="2743200"/>
            <a:ext cx="1143000" cy="0"/>
          </a:xfrm>
          <a:prstGeom prst="line">
            <a:avLst/>
          </a:prstGeom>
          <a:ln w="12700">
            <a:solidFill>
              <a:srgbClr val="CBD5E1"/>
            </a:solidFill>
          </a:ln>
          <a:effectLst/>
        </p:spPr>
      </p:cxnSp>
      <p:cxnSp>
        <p:nvCxnSpPr>
          <p:cNvPr id="24" name="Connector 23"/>
          <p:cNvCxnSpPr/>
          <p:nvPr/>
        </p:nvCxnSpPr>
        <p:spPr>
          <a:xfrm flipH="1">
            <a:off x="7269480" y="2743200"/>
            <a:ext cx="1143000" cy="1143000"/>
          </a:xfrm>
          <a:prstGeom prst="line">
            <a:avLst/>
          </a:prstGeom>
          <a:ln w="12700">
            <a:solidFill>
              <a:srgbClr val="CBD5E1"/>
            </a:solidFill>
          </a:ln>
          <a:effectLst/>
        </p:spPr>
      </p:cxnSp>
      <p:cxnSp>
        <p:nvCxnSpPr>
          <p:cNvPr id="25" name="Connector 24"/>
          <p:cNvCxnSpPr/>
          <p:nvPr/>
        </p:nvCxnSpPr>
        <p:spPr>
          <a:xfrm>
            <a:off x="8412480" y="2743200"/>
            <a:ext cx="0" cy="1143000"/>
          </a:xfrm>
          <a:prstGeom prst="line">
            <a:avLst/>
          </a:prstGeom>
          <a:ln w="12700">
            <a:solidFill>
              <a:srgbClr val="CBD5E1"/>
            </a:solidFill>
          </a:ln>
          <a:effectLst/>
        </p:spPr>
      </p:cxnSp>
      <p:cxnSp>
        <p:nvCxnSpPr>
          <p:cNvPr id="26" name="Connector 25"/>
          <p:cNvCxnSpPr/>
          <p:nvPr/>
        </p:nvCxnSpPr>
        <p:spPr>
          <a:xfrm>
            <a:off x="8412480" y="2743200"/>
            <a:ext cx="1143000" cy="1143000"/>
          </a:xfrm>
          <a:prstGeom prst="line">
            <a:avLst/>
          </a:prstGeom>
          <a:ln w="12700">
            <a:solidFill>
              <a:srgbClr val="CBD5E1"/>
            </a:solidFill>
          </a:ln>
          <a:effectLst/>
        </p:spPr>
      </p:cxnSp>
      <p:cxnSp>
        <p:nvCxnSpPr>
          <p:cNvPr id="27" name="Connector 26"/>
          <p:cNvCxnSpPr/>
          <p:nvPr/>
        </p:nvCxnSpPr>
        <p:spPr>
          <a:xfrm>
            <a:off x="9555480" y="2743200"/>
            <a:ext cx="1143000" cy="0"/>
          </a:xfrm>
          <a:prstGeom prst="line">
            <a:avLst/>
          </a:prstGeom>
          <a:ln w="12700">
            <a:solidFill>
              <a:srgbClr val="CBD5E1"/>
            </a:solidFill>
          </a:ln>
          <a:effectLst/>
        </p:spPr>
      </p:cxnSp>
      <p:cxnSp>
        <p:nvCxnSpPr>
          <p:cNvPr id="28" name="Connector 27"/>
          <p:cNvCxnSpPr/>
          <p:nvPr/>
        </p:nvCxnSpPr>
        <p:spPr>
          <a:xfrm flipH="1">
            <a:off x="8412480" y="2743200"/>
            <a:ext cx="1143000" cy="1143000"/>
          </a:xfrm>
          <a:prstGeom prst="line">
            <a:avLst/>
          </a:prstGeom>
          <a:ln w="12700">
            <a:solidFill>
              <a:srgbClr val="CBD5E1"/>
            </a:solidFill>
          </a:ln>
          <a:effectLst/>
        </p:spPr>
      </p:cxnSp>
      <p:cxnSp>
        <p:nvCxnSpPr>
          <p:cNvPr id="29" name="Connector 28"/>
          <p:cNvCxnSpPr/>
          <p:nvPr/>
        </p:nvCxnSpPr>
        <p:spPr>
          <a:xfrm>
            <a:off x="9555480" y="2743200"/>
            <a:ext cx="0" cy="1143000"/>
          </a:xfrm>
          <a:prstGeom prst="line">
            <a:avLst/>
          </a:prstGeom>
          <a:ln w="12700">
            <a:solidFill>
              <a:srgbClr val="CBD5E1"/>
            </a:solidFill>
          </a:ln>
          <a:effectLst/>
        </p:spPr>
      </p:cxnSp>
      <p:cxnSp>
        <p:nvCxnSpPr>
          <p:cNvPr id="30" name="Connector 29"/>
          <p:cNvCxnSpPr/>
          <p:nvPr/>
        </p:nvCxnSpPr>
        <p:spPr>
          <a:xfrm>
            <a:off x="9555480" y="2743200"/>
            <a:ext cx="1143000" cy="1143000"/>
          </a:xfrm>
          <a:prstGeom prst="line">
            <a:avLst/>
          </a:prstGeom>
          <a:ln w="12700">
            <a:solidFill>
              <a:srgbClr val="CBD5E1"/>
            </a:solidFill>
          </a:ln>
          <a:effectLst/>
        </p:spPr>
      </p:cxnSp>
      <p:cxnSp>
        <p:nvCxnSpPr>
          <p:cNvPr id="31" name="Connector 30"/>
          <p:cNvCxnSpPr/>
          <p:nvPr/>
        </p:nvCxnSpPr>
        <p:spPr>
          <a:xfrm flipH="1">
            <a:off x="9555480" y="2743200"/>
            <a:ext cx="1143000" cy="1143000"/>
          </a:xfrm>
          <a:prstGeom prst="line">
            <a:avLst/>
          </a:prstGeom>
          <a:ln w="12700">
            <a:solidFill>
              <a:srgbClr val="CBD5E1"/>
            </a:solidFill>
          </a:ln>
          <a:effectLst/>
        </p:spPr>
      </p:cxnSp>
      <p:cxnSp>
        <p:nvCxnSpPr>
          <p:cNvPr id="32" name="Connector 31"/>
          <p:cNvCxnSpPr/>
          <p:nvPr/>
        </p:nvCxnSpPr>
        <p:spPr>
          <a:xfrm>
            <a:off x="10698480" y="2743200"/>
            <a:ext cx="0" cy="1143000"/>
          </a:xfrm>
          <a:prstGeom prst="line">
            <a:avLst/>
          </a:prstGeom>
          <a:ln w="12700">
            <a:solidFill>
              <a:srgbClr val="CBD5E1"/>
            </a:solidFill>
          </a:ln>
          <a:effectLst/>
        </p:spPr>
      </p:cxnSp>
      <p:cxnSp>
        <p:nvCxnSpPr>
          <p:cNvPr id="33" name="Connector 32"/>
          <p:cNvCxnSpPr/>
          <p:nvPr/>
        </p:nvCxnSpPr>
        <p:spPr>
          <a:xfrm>
            <a:off x="7269480" y="3886200"/>
            <a:ext cx="1143000" cy="0"/>
          </a:xfrm>
          <a:prstGeom prst="line">
            <a:avLst/>
          </a:prstGeom>
          <a:ln w="12700">
            <a:solidFill>
              <a:srgbClr val="CBD5E1"/>
            </a:solidFill>
          </a:ln>
          <a:effectLst/>
        </p:spPr>
      </p:cxnSp>
      <p:cxnSp>
        <p:nvCxnSpPr>
          <p:cNvPr id="34" name="Connector 33"/>
          <p:cNvCxnSpPr/>
          <p:nvPr/>
        </p:nvCxnSpPr>
        <p:spPr>
          <a:xfrm>
            <a:off x="7269480" y="3886200"/>
            <a:ext cx="0" cy="1143000"/>
          </a:xfrm>
          <a:prstGeom prst="line">
            <a:avLst/>
          </a:prstGeom>
          <a:ln w="12700">
            <a:solidFill>
              <a:srgbClr val="CBD5E1"/>
            </a:solidFill>
          </a:ln>
          <a:effectLst/>
        </p:spPr>
      </p:cxnSp>
      <p:cxnSp>
        <p:nvCxnSpPr>
          <p:cNvPr id="35" name="Connector 34"/>
          <p:cNvCxnSpPr/>
          <p:nvPr/>
        </p:nvCxnSpPr>
        <p:spPr>
          <a:xfrm>
            <a:off x="7269480" y="3886200"/>
            <a:ext cx="1143000" cy="1143000"/>
          </a:xfrm>
          <a:prstGeom prst="line">
            <a:avLst/>
          </a:prstGeom>
          <a:ln w="12700">
            <a:solidFill>
              <a:srgbClr val="CBD5E1"/>
            </a:solidFill>
          </a:ln>
          <a:effectLst/>
        </p:spPr>
      </p:cxnSp>
      <p:cxnSp>
        <p:nvCxnSpPr>
          <p:cNvPr id="36" name="Connector 35"/>
          <p:cNvCxnSpPr/>
          <p:nvPr/>
        </p:nvCxnSpPr>
        <p:spPr>
          <a:xfrm>
            <a:off x="8412480" y="3886200"/>
            <a:ext cx="1143000" cy="0"/>
          </a:xfrm>
          <a:prstGeom prst="line">
            <a:avLst/>
          </a:prstGeom>
          <a:ln w="12700">
            <a:solidFill>
              <a:srgbClr val="CBD5E1"/>
            </a:solidFill>
          </a:ln>
          <a:effectLst/>
        </p:spPr>
      </p:cxnSp>
      <p:cxnSp>
        <p:nvCxnSpPr>
          <p:cNvPr id="37" name="Connector 36"/>
          <p:cNvCxnSpPr/>
          <p:nvPr/>
        </p:nvCxnSpPr>
        <p:spPr>
          <a:xfrm flipH="1">
            <a:off x="7269480" y="3886200"/>
            <a:ext cx="1143000" cy="1143000"/>
          </a:xfrm>
          <a:prstGeom prst="line">
            <a:avLst/>
          </a:prstGeom>
          <a:ln w="12700">
            <a:solidFill>
              <a:srgbClr val="CBD5E1"/>
            </a:solidFill>
          </a:ln>
          <a:effectLst/>
        </p:spPr>
      </p:cxnSp>
      <p:cxnSp>
        <p:nvCxnSpPr>
          <p:cNvPr id="38" name="Connector 37"/>
          <p:cNvCxnSpPr/>
          <p:nvPr/>
        </p:nvCxnSpPr>
        <p:spPr>
          <a:xfrm>
            <a:off x="8412480" y="3886200"/>
            <a:ext cx="0" cy="1143000"/>
          </a:xfrm>
          <a:prstGeom prst="line">
            <a:avLst/>
          </a:prstGeom>
          <a:ln w="12700">
            <a:solidFill>
              <a:srgbClr val="CBD5E1"/>
            </a:solidFill>
          </a:ln>
          <a:effectLst/>
        </p:spPr>
      </p:cxnSp>
      <p:cxnSp>
        <p:nvCxnSpPr>
          <p:cNvPr id="39" name="Connector 38"/>
          <p:cNvCxnSpPr/>
          <p:nvPr/>
        </p:nvCxnSpPr>
        <p:spPr>
          <a:xfrm>
            <a:off x="8412480" y="3886200"/>
            <a:ext cx="1143000" cy="1143000"/>
          </a:xfrm>
          <a:prstGeom prst="line">
            <a:avLst/>
          </a:prstGeom>
          <a:ln w="12700">
            <a:solidFill>
              <a:srgbClr val="CBD5E1"/>
            </a:solidFill>
          </a:ln>
          <a:effectLst/>
        </p:spPr>
      </p:cxnSp>
      <p:cxnSp>
        <p:nvCxnSpPr>
          <p:cNvPr id="40" name="Connector 39"/>
          <p:cNvCxnSpPr/>
          <p:nvPr/>
        </p:nvCxnSpPr>
        <p:spPr>
          <a:xfrm>
            <a:off x="9555480" y="3886200"/>
            <a:ext cx="1143000" cy="0"/>
          </a:xfrm>
          <a:prstGeom prst="line">
            <a:avLst/>
          </a:prstGeom>
          <a:ln w="12700">
            <a:solidFill>
              <a:srgbClr val="CBD5E1"/>
            </a:solidFill>
          </a:ln>
          <a:effectLst/>
        </p:spPr>
      </p:cxnSp>
      <p:cxnSp>
        <p:nvCxnSpPr>
          <p:cNvPr id="41" name="Connector 40"/>
          <p:cNvCxnSpPr/>
          <p:nvPr/>
        </p:nvCxnSpPr>
        <p:spPr>
          <a:xfrm flipH="1">
            <a:off x="8412480" y="3886200"/>
            <a:ext cx="1143000" cy="1143000"/>
          </a:xfrm>
          <a:prstGeom prst="line">
            <a:avLst/>
          </a:prstGeom>
          <a:ln w="12700">
            <a:solidFill>
              <a:srgbClr val="CBD5E1"/>
            </a:solidFill>
          </a:ln>
          <a:effectLst/>
        </p:spPr>
      </p:cxnSp>
      <p:cxnSp>
        <p:nvCxnSpPr>
          <p:cNvPr id="42" name="Connector 41"/>
          <p:cNvCxnSpPr/>
          <p:nvPr/>
        </p:nvCxnSpPr>
        <p:spPr>
          <a:xfrm>
            <a:off x="9555480" y="3886200"/>
            <a:ext cx="0" cy="1143000"/>
          </a:xfrm>
          <a:prstGeom prst="line">
            <a:avLst/>
          </a:prstGeom>
          <a:ln w="12700">
            <a:solidFill>
              <a:srgbClr val="CBD5E1"/>
            </a:solidFill>
          </a:ln>
          <a:effectLst/>
        </p:spPr>
      </p:cxnSp>
      <p:cxnSp>
        <p:nvCxnSpPr>
          <p:cNvPr id="43" name="Connector 42"/>
          <p:cNvCxnSpPr/>
          <p:nvPr/>
        </p:nvCxnSpPr>
        <p:spPr>
          <a:xfrm>
            <a:off x="9555480" y="3886200"/>
            <a:ext cx="1143000" cy="1143000"/>
          </a:xfrm>
          <a:prstGeom prst="line">
            <a:avLst/>
          </a:prstGeom>
          <a:ln w="12700">
            <a:solidFill>
              <a:srgbClr val="CBD5E1"/>
            </a:solidFill>
          </a:ln>
          <a:effectLst/>
        </p:spPr>
      </p:cxnSp>
      <p:cxnSp>
        <p:nvCxnSpPr>
          <p:cNvPr id="44" name="Connector 43"/>
          <p:cNvCxnSpPr/>
          <p:nvPr/>
        </p:nvCxnSpPr>
        <p:spPr>
          <a:xfrm flipH="1">
            <a:off x="9555480" y="3886200"/>
            <a:ext cx="1143000" cy="1143000"/>
          </a:xfrm>
          <a:prstGeom prst="line">
            <a:avLst/>
          </a:prstGeom>
          <a:ln w="12700">
            <a:solidFill>
              <a:srgbClr val="CBD5E1"/>
            </a:solidFill>
          </a:ln>
          <a:effectLst/>
        </p:spPr>
      </p:cxnSp>
      <p:cxnSp>
        <p:nvCxnSpPr>
          <p:cNvPr id="45" name="Connector 44"/>
          <p:cNvCxnSpPr/>
          <p:nvPr/>
        </p:nvCxnSpPr>
        <p:spPr>
          <a:xfrm>
            <a:off x="10698480" y="3886200"/>
            <a:ext cx="0" cy="1143000"/>
          </a:xfrm>
          <a:prstGeom prst="line">
            <a:avLst/>
          </a:prstGeom>
          <a:ln w="12700">
            <a:solidFill>
              <a:srgbClr val="CBD5E1"/>
            </a:solidFill>
          </a:ln>
          <a:effectLst/>
        </p:spPr>
      </p:cxnSp>
      <p:cxnSp>
        <p:nvCxnSpPr>
          <p:cNvPr id="46" name="Connector 45"/>
          <p:cNvCxnSpPr/>
          <p:nvPr/>
        </p:nvCxnSpPr>
        <p:spPr>
          <a:xfrm>
            <a:off x="7269480" y="5029200"/>
            <a:ext cx="1143000" cy="0"/>
          </a:xfrm>
          <a:prstGeom prst="line">
            <a:avLst/>
          </a:prstGeom>
          <a:ln w="12700">
            <a:solidFill>
              <a:srgbClr val="CBD5E1"/>
            </a:solidFill>
          </a:ln>
          <a:effectLst/>
        </p:spPr>
      </p:cxnSp>
      <p:cxnSp>
        <p:nvCxnSpPr>
          <p:cNvPr id="47" name="Connector 46"/>
          <p:cNvCxnSpPr/>
          <p:nvPr/>
        </p:nvCxnSpPr>
        <p:spPr>
          <a:xfrm>
            <a:off x="8412480" y="5029200"/>
            <a:ext cx="1143000" cy="0"/>
          </a:xfrm>
          <a:prstGeom prst="line">
            <a:avLst/>
          </a:prstGeom>
          <a:ln w="12700">
            <a:solidFill>
              <a:srgbClr val="CBD5E1"/>
            </a:solidFill>
          </a:ln>
          <a:effectLst/>
        </p:spPr>
      </p:cxnSp>
      <p:cxnSp>
        <p:nvCxnSpPr>
          <p:cNvPr id="48" name="Connector 47"/>
          <p:cNvCxnSpPr/>
          <p:nvPr/>
        </p:nvCxnSpPr>
        <p:spPr>
          <a:xfrm>
            <a:off x="9555480" y="5029200"/>
            <a:ext cx="1143000" cy="0"/>
          </a:xfrm>
          <a:prstGeom prst="line">
            <a:avLst/>
          </a:prstGeom>
          <a:ln w="12700">
            <a:solidFill>
              <a:srgbClr val="CBD5E1"/>
            </a:solidFill>
          </a:ln>
          <a:effectLst/>
        </p:spPr>
      </p:cxnSp>
      <p:sp>
        <p:nvSpPr>
          <p:cNvPr id="49" name="Oval 48"/>
          <p:cNvSpPr/>
          <p:nvPr/>
        </p:nvSpPr>
        <p:spPr>
          <a:xfrm>
            <a:off x="6858000" y="1188720"/>
            <a:ext cx="822960" cy="822960"/>
          </a:xfrm>
          <a:prstGeom prst="ellipse">
            <a:avLst/>
          </a:prstGeom>
          <a:noFill/>
          <a:ln w="31750">
            <a:solidFill>
              <a:srgbClr val="D97706"/>
            </a:solidFill>
          </a:ln>
          <a:effectLst/>
        </p:spPr>
        <p:txBody>
          <a:bodyPr rtlCol="0" anchor="ctr"/>
          <a:lstStyle/>
          <a:p>
            <a:pPr algn="ctr"/>
          </a:p>
        </p:txBody>
      </p:sp>
      <p:sp>
        <p:nvSpPr>
          <p:cNvPr id="50" name="Oval 49"/>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1" name="Oval 50"/>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2" name="Oval 51"/>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3" name="Oval 52"/>
          <p:cNvSpPr/>
          <p:nvPr/>
        </p:nvSpPr>
        <p:spPr>
          <a:xfrm>
            <a:off x="10287000" y="1188720"/>
            <a:ext cx="822960" cy="822960"/>
          </a:xfrm>
          <a:prstGeom prst="ellipse">
            <a:avLst/>
          </a:prstGeom>
          <a:noFill/>
          <a:ln w="31750">
            <a:solidFill>
              <a:srgbClr val="D97706"/>
            </a:solidFill>
          </a:ln>
          <a:effectLst/>
        </p:spPr>
        <p:txBody>
          <a:bodyPr rtlCol="0" anchor="ctr"/>
          <a:lstStyle/>
          <a:p>
            <a:pPr algn="ctr"/>
          </a:p>
        </p:txBody>
      </p:sp>
      <p:sp>
        <p:nvSpPr>
          <p:cNvPr id="54" name="Oval 53"/>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5" name="Oval 54"/>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6" name="Oval 55"/>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7" name="Oval 56"/>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8" name="Oval 57"/>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59" name="Oval 58"/>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0" name="Oval 59"/>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1" name="Oval 60"/>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2" name="Oval 61"/>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3" name="Oval 62"/>
          <p:cNvSpPr/>
          <p:nvPr/>
        </p:nvSpPr>
        <p:spPr>
          <a:xfrm>
            <a:off x="6858000" y="4617720"/>
            <a:ext cx="822960" cy="822960"/>
          </a:xfrm>
          <a:prstGeom prst="ellipse">
            <a:avLst/>
          </a:prstGeom>
          <a:noFill/>
          <a:ln w="31750">
            <a:solidFill>
              <a:srgbClr val="D97706"/>
            </a:solidFill>
          </a:ln>
          <a:effectLst/>
        </p:spPr>
        <p:txBody>
          <a:bodyPr rtlCol="0" anchor="ctr"/>
          <a:lstStyle/>
          <a:p>
            <a:pPr algn="ct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287000" y="4617720"/>
            <a:ext cx="822960" cy="822960"/>
          </a:xfrm>
          <a:prstGeom prst="ellipse">
            <a:avLst/>
          </a:prstGeom>
          <a:noFill/>
          <a:ln w="31750">
            <a:solidFill>
              <a:srgbClr val="D97706"/>
            </a:solidFill>
          </a:ln>
          <a:effectLst/>
        </p:spPr>
        <p:txBody>
          <a:bodyPr rtlCol="0" anchor="ctr"/>
          <a:lstStyle/>
          <a:p>
            <a:pPr algn="ctr"/>
          </a:p>
        </p:txBody>
      </p:sp>
      <p:sp>
        <p:nvSpPr>
          <p:cNvPr id="68" name="Oval 67"/>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9" name="TextBox 68"/>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71600"/>
            <a:ext cx="2743200" cy="1280160"/>
          </a:xfrm>
          <a:prstGeom prst="rect">
            <a:avLst/>
          </a:prstGeom>
          <a:noFill/>
          <a:effectLst/>
        </p:spPr>
        <p:txBody>
          <a:bodyPr wrap="none" lIns="0" tIns="0" rIns="0" bIns="0">
            <a:spAutoFit/>
          </a:bodyPr>
          <a:lstStyle/>
          <a:p>
            <a:pPr>
              <a:defRPr sz="11000" b="1">
                <a:solidFill>
                  <a:srgbClr val="D97706"/>
                </a:solidFill>
                <a:latin typeface="Georgia"/>
              </a:defRPr>
            </a:pPr>
            <a:r>
              <a:t>9</a:t>
            </a:r>
          </a:p>
        </p:txBody>
      </p:sp>
      <p:sp>
        <p:nvSpPr>
          <p:cNvPr id="6" name="TextBox 5"/>
          <p:cNvSpPr txBox="1"/>
          <p:nvPr/>
        </p:nvSpPr>
        <p:spPr>
          <a:xfrm>
            <a:off x="914400" y="3017520"/>
            <a:ext cx="5303520" cy="411480"/>
          </a:xfrm>
          <a:prstGeom prst="rect">
            <a:avLst/>
          </a:prstGeom>
          <a:noFill/>
          <a:effectLst/>
        </p:spPr>
        <p:txBody>
          <a:bodyPr wrap="square" lIns="0" tIns="0" rIns="0" bIns="0">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3474720"/>
            <a:ext cx="5303520" cy="1051560"/>
          </a:xfrm>
          <a:prstGeom prst="rect">
            <a:avLst/>
          </a:prstGeom>
          <a:noFill/>
          <a:effectLst/>
        </p:spPr>
        <p:txBody>
          <a:bodyPr wrap="square" lIns="0" tIns="0" rIns="0" bIns="0">
            <a:spAutoFit/>
          </a:bodyPr>
          <a:lstStyle/>
          <a:p>
            <a:pPr>
              <a:defRPr sz="2000">
                <a:solidFill>
                  <a:srgbClr val="1B1F2A"/>
                </a:solidFill>
                <a:latin typeface="Calibri"/>
              </a:defRPr>
            </a:pPr>
            <a:r>
              <a:t>• Diagonal neighbors reach each other (424 m ≤ 500 m).</a:t>
            </a:r>
          </a:p>
          <a:p>
            <a:pPr>
              <a:spcBef>
                <a:spcPts val="400"/>
              </a:spcBef>
              <a:defRPr sz="2000">
                <a:solidFill>
                  <a:srgbClr val="1B1F2A"/>
                </a:solidFill>
                <a:latin typeface="Calibri"/>
              </a:defRPr>
            </a:pPr>
            <a:r>
              <a:t>• Every pair in any 3×3 block is within 2 hops in G.</a:t>
            </a:r>
          </a:p>
          <a:p>
            <a:pPr>
              <a:spcBef>
                <a:spcPts val="400"/>
              </a:spcBef>
              <a:defRPr sz="2000">
                <a:solidFill>
                  <a:srgbClr val="1B1F2A"/>
                </a:solidFill>
                <a:latin typeface="Calibri"/>
              </a:defRPr>
            </a:pPr>
            <a:r>
              <a:t>• That forms a 9-clique in G², forcing 9 distinct slots.</a:t>
            </a:r>
          </a:p>
        </p:txBody>
      </p:sp>
      <p:sp>
        <p:nvSpPr>
          <p:cNvPr id="8" name="TextBox 7"/>
          <p:cNvSpPr txBox="1"/>
          <p:nvPr/>
        </p:nvSpPr>
        <p:spPr>
          <a:xfrm>
            <a:off x="914400" y="5166360"/>
            <a:ext cx="5303520" cy="1005840"/>
          </a:xfrm>
          <a:prstGeom prst="rect">
            <a:avLst/>
          </a:prstGeom>
          <a:noFill/>
          <a:effectLst/>
        </p:spPr>
        <p:txBody>
          <a:bodyPr wrap="square" lIns="0" tIns="0" rIns="0" bIns="0">
            <a:spAutoFit/>
          </a:bodyPr>
          <a:lstStyle/>
          <a:p>
            <a:pPr>
              <a:defRPr sz="1900">
                <a:solidFill>
                  <a:srgbClr val="D97706"/>
                </a:solidFill>
                <a:latin typeface="Calibri"/>
              </a:defRPr>
            </a:pPr>
            <a:r>
              <a:t>The brief's sample shows 5 slots with partial coordinates. Node_01 and Node_03 share slot 0, but both neighbor Node_02, so distance-2 forbids sharing.</a:t>
            </a:r>
          </a:p>
        </p:txBody>
      </p:sp>
      <p:sp>
        <p:nvSpPr>
          <p:cNvPr id="9" name="Rectangle 8"/>
          <p:cNvSpPr/>
          <p:nvPr/>
        </p:nvSpPr>
        <p:spPr>
          <a:xfrm>
            <a:off x="6784848" y="2304288"/>
            <a:ext cx="3255264" cy="3255264"/>
          </a:xfrm>
          <a:prstGeom prst="rect">
            <a:avLst/>
          </a:prstGeom>
          <a:solidFill>
            <a:srgbClr val="FEF3C7"/>
          </a:solidFill>
          <a:ln w="25400">
            <a:solidFill>
              <a:srgbClr val="D97706"/>
            </a:solidFill>
          </a:ln>
          <a:effectLst/>
        </p:spPr>
        <p:txBody>
          <a:bodyPr rtlCol="0" anchor="ctr"/>
          <a:lstStyle/>
          <a:p>
            <a:pPr algn="ctr"/>
          </a:p>
        </p:txBody>
      </p:sp>
      <p:cxnSp>
        <p:nvCxnSpPr>
          <p:cNvPr id="10" name="Connector 9"/>
          <p:cNvCxnSpPr/>
          <p:nvPr/>
        </p:nvCxnSpPr>
        <p:spPr>
          <a:xfrm>
            <a:off x="7269480" y="1600200"/>
            <a:ext cx="1143000" cy="0"/>
          </a:xfrm>
          <a:prstGeom prst="line">
            <a:avLst/>
          </a:prstGeom>
          <a:ln w="12700">
            <a:solidFill>
              <a:srgbClr val="CBD5E1"/>
            </a:solidFill>
          </a:ln>
          <a:effectLst/>
        </p:spPr>
      </p:cxnSp>
      <p:cxnSp>
        <p:nvCxnSpPr>
          <p:cNvPr id="11" name="Connector 10"/>
          <p:cNvCxnSpPr/>
          <p:nvPr/>
        </p:nvCxnSpPr>
        <p:spPr>
          <a:xfrm>
            <a:off x="7269480" y="1600200"/>
            <a:ext cx="0" cy="1143000"/>
          </a:xfrm>
          <a:prstGeom prst="line">
            <a:avLst/>
          </a:prstGeom>
          <a:ln w="12700">
            <a:solidFill>
              <a:srgbClr val="CBD5E1"/>
            </a:solidFill>
          </a:ln>
          <a:effectLst/>
        </p:spPr>
      </p:cxnSp>
      <p:cxnSp>
        <p:nvCxnSpPr>
          <p:cNvPr id="12" name="Connector 11"/>
          <p:cNvCxnSpPr/>
          <p:nvPr/>
        </p:nvCxnSpPr>
        <p:spPr>
          <a:xfrm>
            <a:off x="7269480" y="1600200"/>
            <a:ext cx="1143000" cy="1143000"/>
          </a:xfrm>
          <a:prstGeom prst="line">
            <a:avLst/>
          </a:prstGeom>
          <a:ln w="12700">
            <a:solidFill>
              <a:srgbClr val="CBD5E1"/>
            </a:solidFill>
          </a:ln>
          <a:effectLst/>
        </p:spPr>
      </p:cxnSp>
      <p:cxnSp>
        <p:nvCxnSpPr>
          <p:cNvPr id="13" name="Connector 12"/>
          <p:cNvCxnSpPr/>
          <p:nvPr/>
        </p:nvCxnSpPr>
        <p:spPr>
          <a:xfrm>
            <a:off x="8412480" y="1600200"/>
            <a:ext cx="1143000" cy="0"/>
          </a:xfrm>
          <a:prstGeom prst="line">
            <a:avLst/>
          </a:prstGeom>
          <a:ln w="12700">
            <a:solidFill>
              <a:srgbClr val="CBD5E1"/>
            </a:solidFill>
          </a:ln>
          <a:effectLst/>
        </p:spPr>
      </p:cxnSp>
      <p:cxnSp>
        <p:nvCxnSpPr>
          <p:cNvPr id="14" name="Connector 13"/>
          <p:cNvCxnSpPr/>
          <p:nvPr/>
        </p:nvCxnSpPr>
        <p:spPr>
          <a:xfrm flipH="1">
            <a:off x="7269480" y="1600200"/>
            <a:ext cx="1143000" cy="1143000"/>
          </a:xfrm>
          <a:prstGeom prst="line">
            <a:avLst/>
          </a:prstGeom>
          <a:ln w="12700">
            <a:solidFill>
              <a:srgbClr val="CBD5E1"/>
            </a:solidFill>
          </a:ln>
          <a:effectLst/>
        </p:spPr>
      </p:cxnSp>
      <p:cxnSp>
        <p:nvCxnSpPr>
          <p:cNvPr id="15" name="Connector 14"/>
          <p:cNvCxnSpPr/>
          <p:nvPr/>
        </p:nvCxnSpPr>
        <p:spPr>
          <a:xfrm>
            <a:off x="8412480" y="1600200"/>
            <a:ext cx="0" cy="1143000"/>
          </a:xfrm>
          <a:prstGeom prst="line">
            <a:avLst/>
          </a:prstGeom>
          <a:ln w="12700">
            <a:solidFill>
              <a:srgbClr val="CBD5E1"/>
            </a:solidFill>
          </a:ln>
          <a:effectLst/>
        </p:spPr>
      </p:cxnSp>
      <p:cxnSp>
        <p:nvCxnSpPr>
          <p:cNvPr id="16" name="Connector 15"/>
          <p:cNvCxnSpPr/>
          <p:nvPr/>
        </p:nvCxnSpPr>
        <p:spPr>
          <a:xfrm>
            <a:off x="8412480" y="1600200"/>
            <a:ext cx="1143000" cy="1143000"/>
          </a:xfrm>
          <a:prstGeom prst="line">
            <a:avLst/>
          </a:prstGeom>
          <a:ln w="12700">
            <a:solidFill>
              <a:srgbClr val="CBD5E1"/>
            </a:solidFill>
          </a:ln>
          <a:effectLst/>
        </p:spPr>
      </p:cxnSp>
      <p:cxnSp>
        <p:nvCxnSpPr>
          <p:cNvPr id="17" name="Connector 16"/>
          <p:cNvCxnSpPr/>
          <p:nvPr/>
        </p:nvCxnSpPr>
        <p:spPr>
          <a:xfrm>
            <a:off x="9555480" y="1600200"/>
            <a:ext cx="1143000" cy="0"/>
          </a:xfrm>
          <a:prstGeom prst="line">
            <a:avLst/>
          </a:prstGeom>
          <a:ln w="12700">
            <a:solidFill>
              <a:srgbClr val="CBD5E1"/>
            </a:solidFill>
          </a:ln>
          <a:effectLst/>
        </p:spPr>
      </p:cxnSp>
      <p:cxnSp>
        <p:nvCxnSpPr>
          <p:cNvPr id="18" name="Connector 17"/>
          <p:cNvCxnSpPr/>
          <p:nvPr/>
        </p:nvCxnSpPr>
        <p:spPr>
          <a:xfrm flipH="1">
            <a:off x="8412480" y="1600200"/>
            <a:ext cx="1143000" cy="1143000"/>
          </a:xfrm>
          <a:prstGeom prst="line">
            <a:avLst/>
          </a:prstGeom>
          <a:ln w="12700">
            <a:solidFill>
              <a:srgbClr val="CBD5E1"/>
            </a:solidFill>
          </a:ln>
          <a:effectLst/>
        </p:spPr>
      </p:cxnSp>
      <p:cxnSp>
        <p:nvCxnSpPr>
          <p:cNvPr id="19" name="Connector 18"/>
          <p:cNvCxnSpPr/>
          <p:nvPr/>
        </p:nvCxnSpPr>
        <p:spPr>
          <a:xfrm>
            <a:off x="9555480" y="1600200"/>
            <a:ext cx="0" cy="1143000"/>
          </a:xfrm>
          <a:prstGeom prst="line">
            <a:avLst/>
          </a:prstGeom>
          <a:ln w="12700">
            <a:solidFill>
              <a:srgbClr val="CBD5E1"/>
            </a:solidFill>
          </a:ln>
          <a:effectLst/>
        </p:spPr>
      </p:cxnSp>
      <p:cxnSp>
        <p:nvCxnSpPr>
          <p:cNvPr id="20" name="Connector 19"/>
          <p:cNvCxnSpPr/>
          <p:nvPr/>
        </p:nvCxnSpPr>
        <p:spPr>
          <a:xfrm>
            <a:off x="9555480" y="1600200"/>
            <a:ext cx="1143000" cy="1143000"/>
          </a:xfrm>
          <a:prstGeom prst="line">
            <a:avLst/>
          </a:prstGeom>
          <a:ln w="12700">
            <a:solidFill>
              <a:srgbClr val="CBD5E1"/>
            </a:solidFill>
          </a:ln>
          <a:effectLst/>
        </p:spPr>
      </p:cxnSp>
      <p:cxnSp>
        <p:nvCxnSpPr>
          <p:cNvPr id="21" name="Connector 20"/>
          <p:cNvCxnSpPr/>
          <p:nvPr/>
        </p:nvCxnSpPr>
        <p:spPr>
          <a:xfrm flipH="1">
            <a:off x="9555480" y="1600200"/>
            <a:ext cx="1143000" cy="1143000"/>
          </a:xfrm>
          <a:prstGeom prst="line">
            <a:avLst/>
          </a:prstGeom>
          <a:ln w="12700">
            <a:solidFill>
              <a:srgbClr val="CBD5E1"/>
            </a:solidFill>
          </a:ln>
          <a:effectLst/>
        </p:spPr>
      </p:cxnSp>
      <p:cxnSp>
        <p:nvCxnSpPr>
          <p:cNvPr id="22" name="Connector 21"/>
          <p:cNvCxnSpPr/>
          <p:nvPr/>
        </p:nvCxnSpPr>
        <p:spPr>
          <a:xfrm>
            <a:off x="10698480" y="1600200"/>
            <a:ext cx="0" cy="1143000"/>
          </a:xfrm>
          <a:prstGeom prst="line">
            <a:avLst/>
          </a:prstGeom>
          <a:ln w="12700">
            <a:solidFill>
              <a:srgbClr val="CBD5E1"/>
            </a:solidFill>
          </a:ln>
          <a:effectLst/>
        </p:spPr>
      </p:cxnSp>
      <p:cxnSp>
        <p:nvCxnSpPr>
          <p:cNvPr id="23" name="Connector 22"/>
          <p:cNvCxnSpPr/>
          <p:nvPr/>
        </p:nvCxnSpPr>
        <p:spPr>
          <a:xfrm>
            <a:off x="7269480" y="2743200"/>
            <a:ext cx="1143000" cy="0"/>
          </a:xfrm>
          <a:prstGeom prst="line">
            <a:avLst/>
          </a:prstGeom>
          <a:ln w="12700">
            <a:solidFill>
              <a:srgbClr val="CBD5E1"/>
            </a:solidFill>
          </a:ln>
          <a:effectLst/>
        </p:spPr>
      </p:cxnSp>
      <p:cxnSp>
        <p:nvCxnSpPr>
          <p:cNvPr id="24" name="Connector 23"/>
          <p:cNvCxnSpPr/>
          <p:nvPr/>
        </p:nvCxnSpPr>
        <p:spPr>
          <a:xfrm>
            <a:off x="7269480" y="2743200"/>
            <a:ext cx="0" cy="1143000"/>
          </a:xfrm>
          <a:prstGeom prst="line">
            <a:avLst/>
          </a:prstGeom>
          <a:ln w="12700">
            <a:solidFill>
              <a:srgbClr val="CBD5E1"/>
            </a:solidFill>
          </a:ln>
          <a:effectLst/>
        </p:spPr>
      </p:cxnSp>
      <p:cxnSp>
        <p:nvCxnSpPr>
          <p:cNvPr id="25" name="Connector 24"/>
          <p:cNvCxnSpPr/>
          <p:nvPr/>
        </p:nvCxnSpPr>
        <p:spPr>
          <a:xfrm>
            <a:off x="7269480" y="2743200"/>
            <a:ext cx="1143000" cy="1143000"/>
          </a:xfrm>
          <a:prstGeom prst="line">
            <a:avLst/>
          </a:prstGeom>
          <a:ln w="12700">
            <a:solidFill>
              <a:srgbClr val="CBD5E1"/>
            </a:solidFill>
          </a:ln>
          <a:effectLst/>
        </p:spPr>
      </p:cxnSp>
      <p:cxnSp>
        <p:nvCxnSpPr>
          <p:cNvPr id="26" name="Connector 25"/>
          <p:cNvCxnSpPr/>
          <p:nvPr/>
        </p:nvCxnSpPr>
        <p:spPr>
          <a:xfrm>
            <a:off x="8412480" y="2743200"/>
            <a:ext cx="1143000" cy="0"/>
          </a:xfrm>
          <a:prstGeom prst="line">
            <a:avLst/>
          </a:prstGeom>
          <a:ln w="12700">
            <a:solidFill>
              <a:srgbClr val="CBD5E1"/>
            </a:solidFill>
          </a:ln>
          <a:effectLst/>
        </p:spPr>
      </p:cxnSp>
      <p:cxnSp>
        <p:nvCxnSpPr>
          <p:cNvPr id="27" name="Connector 26"/>
          <p:cNvCxnSpPr/>
          <p:nvPr/>
        </p:nvCxnSpPr>
        <p:spPr>
          <a:xfrm flipH="1">
            <a:off x="7269480" y="2743200"/>
            <a:ext cx="1143000" cy="1143000"/>
          </a:xfrm>
          <a:prstGeom prst="line">
            <a:avLst/>
          </a:prstGeom>
          <a:ln w="12700">
            <a:solidFill>
              <a:srgbClr val="CBD5E1"/>
            </a:solidFill>
          </a:ln>
          <a:effectLst/>
        </p:spPr>
      </p:cxnSp>
      <p:cxnSp>
        <p:nvCxnSpPr>
          <p:cNvPr id="28" name="Connector 27"/>
          <p:cNvCxnSpPr/>
          <p:nvPr/>
        </p:nvCxnSpPr>
        <p:spPr>
          <a:xfrm>
            <a:off x="8412480" y="2743200"/>
            <a:ext cx="0" cy="1143000"/>
          </a:xfrm>
          <a:prstGeom prst="line">
            <a:avLst/>
          </a:prstGeom>
          <a:ln w="12700">
            <a:solidFill>
              <a:srgbClr val="CBD5E1"/>
            </a:solidFill>
          </a:ln>
          <a:effectLst/>
        </p:spPr>
      </p:cxnSp>
      <p:cxnSp>
        <p:nvCxnSpPr>
          <p:cNvPr id="29" name="Connector 28"/>
          <p:cNvCxnSpPr/>
          <p:nvPr/>
        </p:nvCxnSpPr>
        <p:spPr>
          <a:xfrm>
            <a:off x="8412480" y="2743200"/>
            <a:ext cx="1143000" cy="1143000"/>
          </a:xfrm>
          <a:prstGeom prst="line">
            <a:avLst/>
          </a:prstGeom>
          <a:ln w="12700">
            <a:solidFill>
              <a:srgbClr val="CBD5E1"/>
            </a:solidFill>
          </a:ln>
          <a:effectLst/>
        </p:spPr>
      </p:cxnSp>
      <p:cxnSp>
        <p:nvCxnSpPr>
          <p:cNvPr id="30" name="Connector 29"/>
          <p:cNvCxnSpPr/>
          <p:nvPr/>
        </p:nvCxnSpPr>
        <p:spPr>
          <a:xfrm>
            <a:off x="9555480" y="2743200"/>
            <a:ext cx="1143000" cy="0"/>
          </a:xfrm>
          <a:prstGeom prst="line">
            <a:avLst/>
          </a:prstGeom>
          <a:ln w="12700">
            <a:solidFill>
              <a:srgbClr val="CBD5E1"/>
            </a:solidFill>
          </a:ln>
          <a:effectLst/>
        </p:spPr>
      </p:cxnSp>
      <p:cxnSp>
        <p:nvCxnSpPr>
          <p:cNvPr id="31" name="Connector 30"/>
          <p:cNvCxnSpPr/>
          <p:nvPr/>
        </p:nvCxnSpPr>
        <p:spPr>
          <a:xfrm flipH="1">
            <a:off x="8412480" y="2743200"/>
            <a:ext cx="1143000" cy="1143000"/>
          </a:xfrm>
          <a:prstGeom prst="line">
            <a:avLst/>
          </a:prstGeom>
          <a:ln w="12700">
            <a:solidFill>
              <a:srgbClr val="CBD5E1"/>
            </a:solidFill>
          </a:ln>
          <a:effectLst/>
        </p:spPr>
      </p:cxnSp>
      <p:cxnSp>
        <p:nvCxnSpPr>
          <p:cNvPr id="32" name="Connector 31"/>
          <p:cNvCxnSpPr/>
          <p:nvPr/>
        </p:nvCxnSpPr>
        <p:spPr>
          <a:xfrm>
            <a:off x="9555480" y="2743200"/>
            <a:ext cx="0" cy="1143000"/>
          </a:xfrm>
          <a:prstGeom prst="line">
            <a:avLst/>
          </a:prstGeom>
          <a:ln w="12700">
            <a:solidFill>
              <a:srgbClr val="CBD5E1"/>
            </a:solidFill>
          </a:ln>
          <a:effectLst/>
        </p:spPr>
      </p:cxnSp>
      <p:cxnSp>
        <p:nvCxnSpPr>
          <p:cNvPr id="33" name="Connector 32"/>
          <p:cNvCxnSpPr/>
          <p:nvPr/>
        </p:nvCxnSpPr>
        <p:spPr>
          <a:xfrm>
            <a:off x="9555480" y="2743200"/>
            <a:ext cx="1143000" cy="1143000"/>
          </a:xfrm>
          <a:prstGeom prst="line">
            <a:avLst/>
          </a:prstGeom>
          <a:ln w="12700">
            <a:solidFill>
              <a:srgbClr val="CBD5E1"/>
            </a:solidFill>
          </a:ln>
          <a:effectLst/>
        </p:spPr>
      </p:cxnSp>
      <p:cxnSp>
        <p:nvCxnSpPr>
          <p:cNvPr id="34" name="Connector 33"/>
          <p:cNvCxnSpPr/>
          <p:nvPr/>
        </p:nvCxnSpPr>
        <p:spPr>
          <a:xfrm flipH="1">
            <a:off x="9555480" y="2743200"/>
            <a:ext cx="1143000" cy="1143000"/>
          </a:xfrm>
          <a:prstGeom prst="line">
            <a:avLst/>
          </a:prstGeom>
          <a:ln w="12700">
            <a:solidFill>
              <a:srgbClr val="CBD5E1"/>
            </a:solidFill>
          </a:ln>
          <a:effectLst/>
        </p:spPr>
      </p:cxnSp>
      <p:cxnSp>
        <p:nvCxnSpPr>
          <p:cNvPr id="35" name="Connector 34"/>
          <p:cNvCxnSpPr/>
          <p:nvPr/>
        </p:nvCxnSpPr>
        <p:spPr>
          <a:xfrm>
            <a:off x="10698480" y="2743200"/>
            <a:ext cx="0" cy="1143000"/>
          </a:xfrm>
          <a:prstGeom prst="line">
            <a:avLst/>
          </a:prstGeom>
          <a:ln w="12700">
            <a:solidFill>
              <a:srgbClr val="CBD5E1"/>
            </a:solidFill>
          </a:ln>
          <a:effectLst/>
        </p:spPr>
      </p:cxnSp>
      <p:cxnSp>
        <p:nvCxnSpPr>
          <p:cNvPr id="36" name="Connector 35"/>
          <p:cNvCxnSpPr/>
          <p:nvPr/>
        </p:nvCxnSpPr>
        <p:spPr>
          <a:xfrm>
            <a:off x="7269480" y="3886200"/>
            <a:ext cx="1143000" cy="0"/>
          </a:xfrm>
          <a:prstGeom prst="line">
            <a:avLst/>
          </a:prstGeom>
          <a:ln w="12700">
            <a:solidFill>
              <a:srgbClr val="CBD5E1"/>
            </a:solidFill>
          </a:ln>
          <a:effectLst/>
        </p:spPr>
      </p:cxnSp>
      <p:cxnSp>
        <p:nvCxnSpPr>
          <p:cNvPr id="37" name="Connector 36"/>
          <p:cNvCxnSpPr/>
          <p:nvPr/>
        </p:nvCxnSpPr>
        <p:spPr>
          <a:xfrm>
            <a:off x="7269480" y="3886200"/>
            <a:ext cx="0" cy="1143000"/>
          </a:xfrm>
          <a:prstGeom prst="line">
            <a:avLst/>
          </a:prstGeom>
          <a:ln w="12700">
            <a:solidFill>
              <a:srgbClr val="CBD5E1"/>
            </a:solidFill>
          </a:ln>
          <a:effectLst/>
        </p:spPr>
      </p:cxnSp>
      <p:cxnSp>
        <p:nvCxnSpPr>
          <p:cNvPr id="38" name="Connector 37"/>
          <p:cNvCxnSpPr/>
          <p:nvPr/>
        </p:nvCxnSpPr>
        <p:spPr>
          <a:xfrm>
            <a:off x="7269480" y="3886200"/>
            <a:ext cx="1143000" cy="1143000"/>
          </a:xfrm>
          <a:prstGeom prst="line">
            <a:avLst/>
          </a:prstGeom>
          <a:ln w="12700">
            <a:solidFill>
              <a:srgbClr val="CBD5E1"/>
            </a:solidFill>
          </a:ln>
          <a:effectLst/>
        </p:spPr>
      </p:cxnSp>
      <p:cxnSp>
        <p:nvCxnSpPr>
          <p:cNvPr id="39" name="Connector 38"/>
          <p:cNvCxnSpPr/>
          <p:nvPr/>
        </p:nvCxnSpPr>
        <p:spPr>
          <a:xfrm>
            <a:off x="8412480" y="3886200"/>
            <a:ext cx="1143000" cy="0"/>
          </a:xfrm>
          <a:prstGeom prst="line">
            <a:avLst/>
          </a:prstGeom>
          <a:ln w="12700">
            <a:solidFill>
              <a:srgbClr val="CBD5E1"/>
            </a:solidFill>
          </a:ln>
          <a:effectLst/>
        </p:spPr>
      </p:cxnSp>
      <p:cxnSp>
        <p:nvCxnSpPr>
          <p:cNvPr id="40" name="Connector 39"/>
          <p:cNvCxnSpPr/>
          <p:nvPr/>
        </p:nvCxnSpPr>
        <p:spPr>
          <a:xfrm flipH="1">
            <a:off x="7269480" y="3886200"/>
            <a:ext cx="1143000" cy="1143000"/>
          </a:xfrm>
          <a:prstGeom prst="line">
            <a:avLst/>
          </a:prstGeom>
          <a:ln w="12700">
            <a:solidFill>
              <a:srgbClr val="CBD5E1"/>
            </a:solidFill>
          </a:ln>
          <a:effectLst/>
        </p:spPr>
      </p:cxnSp>
      <p:cxnSp>
        <p:nvCxnSpPr>
          <p:cNvPr id="41" name="Connector 40"/>
          <p:cNvCxnSpPr/>
          <p:nvPr/>
        </p:nvCxnSpPr>
        <p:spPr>
          <a:xfrm>
            <a:off x="8412480" y="3886200"/>
            <a:ext cx="0" cy="1143000"/>
          </a:xfrm>
          <a:prstGeom prst="line">
            <a:avLst/>
          </a:prstGeom>
          <a:ln w="12700">
            <a:solidFill>
              <a:srgbClr val="CBD5E1"/>
            </a:solidFill>
          </a:ln>
          <a:effectLst/>
        </p:spPr>
      </p:cxnSp>
      <p:cxnSp>
        <p:nvCxnSpPr>
          <p:cNvPr id="42" name="Connector 41"/>
          <p:cNvCxnSpPr/>
          <p:nvPr/>
        </p:nvCxnSpPr>
        <p:spPr>
          <a:xfrm>
            <a:off x="8412480" y="3886200"/>
            <a:ext cx="1143000" cy="1143000"/>
          </a:xfrm>
          <a:prstGeom prst="line">
            <a:avLst/>
          </a:prstGeom>
          <a:ln w="12700">
            <a:solidFill>
              <a:srgbClr val="CBD5E1"/>
            </a:solidFill>
          </a:ln>
          <a:effectLst/>
        </p:spPr>
      </p:cxnSp>
      <p:cxnSp>
        <p:nvCxnSpPr>
          <p:cNvPr id="43" name="Connector 42"/>
          <p:cNvCxnSpPr/>
          <p:nvPr/>
        </p:nvCxnSpPr>
        <p:spPr>
          <a:xfrm>
            <a:off x="9555480" y="3886200"/>
            <a:ext cx="1143000" cy="0"/>
          </a:xfrm>
          <a:prstGeom prst="line">
            <a:avLst/>
          </a:prstGeom>
          <a:ln w="12700">
            <a:solidFill>
              <a:srgbClr val="CBD5E1"/>
            </a:solidFill>
          </a:ln>
          <a:effectLst/>
        </p:spPr>
      </p:cxnSp>
      <p:cxnSp>
        <p:nvCxnSpPr>
          <p:cNvPr id="44" name="Connector 43"/>
          <p:cNvCxnSpPr/>
          <p:nvPr/>
        </p:nvCxnSpPr>
        <p:spPr>
          <a:xfrm flipH="1">
            <a:off x="8412480" y="3886200"/>
            <a:ext cx="1143000" cy="1143000"/>
          </a:xfrm>
          <a:prstGeom prst="line">
            <a:avLst/>
          </a:prstGeom>
          <a:ln w="12700">
            <a:solidFill>
              <a:srgbClr val="CBD5E1"/>
            </a:solidFill>
          </a:ln>
          <a:effectLst/>
        </p:spPr>
      </p:cxnSp>
      <p:cxnSp>
        <p:nvCxnSpPr>
          <p:cNvPr id="45" name="Connector 44"/>
          <p:cNvCxnSpPr/>
          <p:nvPr/>
        </p:nvCxnSpPr>
        <p:spPr>
          <a:xfrm>
            <a:off x="9555480" y="3886200"/>
            <a:ext cx="0" cy="1143000"/>
          </a:xfrm>
          <a:prstGeom prst="line">
            <a:avLst/>
          </a:prstGeom>
          <a:ln w="12700">
            <a:solidFill>
              <a:srgbClr val="CBD5E1"/>
            </a:solidFill>
          </a:ln>
          <a:effectLst/>
        </p:spPr>
      </p:cxnSp>
      <p:cxnSp>
        <p:nvCxnSpPr>
          <p:cNvPr id="46" name="Connector 45"/>
          <p:cNvCxnSpPr/>
          <p:nvPr/>
        </p:nvCxnSpPr>
        <p:spPr>
          <a:xfrm>
            <a:off x="9555480" y="3886200"/>
            <a:ext cx="1143000" cy="1143000"/>
          </a:xfrm>
          <a:prstGeom prst="line">
            <a:avLst/>
          </a:prstGeom>
          <a:ln w="12700">
            <a:solidFill>
              <a:srgbClr val="CBD5E1"/>
            </a:solidFill>
          </a:ln>
          <a:effectLst/>
        </p:spPr>
      </p:cxnSp>
      <p:cxnSp>
        <p:nvCxnSpPr>
          <p:cNvPr id="47" name="Connector 46"/>
          <p:cNvCxnSpPr/>
          <p:nvPr/>
        </p:nvCxnSpPr>
        <p:spPr>
          <a:xfrm flipH="1">
            <a:off x="9555480" y="3886200"/>
            <a:ext cx="1143000" cy="1143000"/>
          </a:xfrm>
          <a:prstGeom prst="line">
            <a:avLst/>
          </a:prstGeom>
          <a:ln w="12700">
            <a:solidFill>
              <a:srgbClr val="CBD5E1"/>
            </a:solidFill>
          </a:ln>
          <a:effectLst/>
        </p:spPr>
      </p:cxnSp>
      <p:cxnSp>
        <p:nvCxnSpPr>
          <p:cNvPr id="48" name="Connector 47"/>
          <p:cNvCxnSpPr/>
          <p:nvPr/>
        </p:nvCxnSpPr>
        <p:spPr>
          <a:xfrm>
            <a:off x="10698480" y="3886200"/>
            <a:ext cx="0" cy="1143000"/>
          </a:xfrm>
          <a:prstGeom prst="line">
            <a:avLst/>
          </a:prstGeom>
          <a:ln w="12700">
            <a:solidFill>
              <a:srgbClr val="CBD5E1"/>
            </a:solidFill>
          </a:ln>
          <a:effectLst/>
        </p:spPr>
      </p:cxnSp>
      <p:cxnSp>
        <p:nvCxnSpPr>
          <p:cNvPr id="49" name="Connector 48"/>
          <p:cNvCxnSpPr/>
          <p:nvPr/>
        </p:nvCxnSpPr>
        <p:spPr>
          <a:xfrm>
            <a:off x="7269480" y="5029200"/>
            <a:ext cx="1143000" cy="0"/>
          </a:xfrm>
          <a:prstGeom prst="line">
            <a:avLst/>
          </a:prstGeom>
          <a:ln w="12700">
            <a:solidFill>
              <a:srgbClr val="CBD5E1"/>
            </a:solidFill>
          </a:ln>
          <a:effectLst/>
        </p:spPr>
      </p:cxnSp>
      <p:cxnSp>
        <p:nvCxnSpPr>
          <p:cNvPr id="50" name="Connector 49"/>
          <p:cNvCxnSpPr/>
          <p:nvPr/>
        </p:nvCxnSpPr>
        <p:spPr>
          <a:xfrm>
            <a:off x="8412480" y="5029200"/>
            <a:ext cx="1143000" cy="0"/>
          </a:xfrm>
          <a:prstGeom prst="line">
            <a:avLst/>
          </a:prstGeom>
          <a:ln w="12700">
            <a:solidFill>
              <a:srgbClr val="CBD5E1"/>
            </a:solidFill>
          </a:ln>
          <a:effectLst/>
        </p:spPr>
      </p:cxnSp>
      <p:cxnSp>
        <p:nvCxnSpPr>
          <p:cNvPr id="51" name="Connector 50"/>
          <p:cNvCxnSpPr/>
          <p:nvPr/>
        </p:nvCxnSpPr>
        <p:spPr>
          <a:xfrm>
            <a:off x="9555480" y="5029200"/>
            <a:ext cx="1143000" cy="0"/>
          </a:xfrm>
          <a:prstGeom prst="line">
            <a:avLst/>
          </a:prstGeom>
          <a:ln w="12700">
            <a:solidFill>
              <a:srgbClr val="CBD5E1"/>
            </a:solidFill>
          </a:ln>
          <a:effectLst/>
        </p:spPr>
      </p:cxnSp>
      <p:sp>
        <p:nvSpPr>
          <p:cNvPr id="52" name="Oval 51"/>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3" name="Oval 52"/>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4" name="Oval 53"/>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5" name="Oval 54"/>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6" name="Oval 55"/>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7" name="Oval 56"/>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8" name="Oval 57"/>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9" name="Oval 58"/>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60" name="Oval 59"/>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1" name="Oval 60"/>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2" name="Oval 61"/>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3" name="Oval 62"/>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8" name="TextBox 67"/>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Any 3×3 subgrid forms a 9-clique in G²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Chart 4"/>
          <p:cNvGraphicFramePr>
            <a:graphicFrameLocks noGrp="1"/>
          </p:cNvGraphicFramePr>
          <p:nvPr/>
        </p:nvGraphicFramePr>
        <p:xfrm>
          <a:off x="640080" y="1508760"/>
          <a:ext cx="5120640" cy="43891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126480" y="1508760"/>
          <a:ext cx="5303520" cy="3108960"/>
        </p:xfrm>
        <a:graphic>
          <a:graphicData uri="http://schemas.openxmlformats.org/drawingml/2006/table">
            <a:tbl>
              <a:tblPr firstRow="1" bandRow="1">
                <a:tableStyleId>{5C22544A-7EE6-4342-B048-85BDC9FD1C3A}</a:tableStyleId>
                <a:effectLst/>
              </a:tblPr>
              <a:tblGrid>
                <a:gridCol w="2011680"/>
                <a:gridCol w="1005840"/>
                <a:gridCol w="1005840"/>
                <a:gridCol w="1280160"/>
              </a:tblGrid>
              <a:tr h="621792">
                <a:tc>
                  <a:txBody>
                    <a:bodyPr/>
                    <a:lstStyle/>
                    <a:p>
                      <a:pPr algn="l">
                        <a:defRPr sz="2000" b="1">
                          <a:solidFill>
                            <a:srgbClr val="1B1F2A"/>
                          </a:solidFill>
                          <a:latin typeface="Georgia"/>
                        </a:defRPr>
                      </a:pPr>
                      <a:r>
                        <a:t>Topology</a:t>
                      </a:r>
                    </a:p>
                  </a:txBody>
                  <a:tcPr marL="54864" marR="54864">
                    <a:noFill/>
                  </a:tcPr>
                </a:tc>
                <a:tc>
                  <a:txBody>
                    <a:bodyPr/>
                    <a:lstStyle/>
                    <a:p>
                      <a:pPr algn="ctr">
                        <a:defRPr sz="2000" b="1">
                          <a:solidFill>
                            <a:srgbClr val="1B1F2A"/>
                          </a:solidFill>
                          <a:latin typeface="Georgia"/>
                        </a:defRPr>
                      </a:pPr>
                      <a:r>
                        <a:t>G edges</a:t>
                      </a:r>
                    </a:p>
                  </a:txBody>
                  <a:tcPr marL="54864" marR="54864">
                    <a:noFill/>
                  </a:tcPr>
                </a:tc>
                <a:tc>
                  <a:txBody>
                    <a:bodyPr/>
                    <a:lstStyle/>
                    <a:p>
                      <a:pPr algn="ctr">
                        <a:defRPr sz="2000" b="1">
                          <a:solidFill>
                            <a:srgbClr val="1B1F2A"/>
                          </a:solidFill>
                          <a:latin typeface="Georgia"/>
                        </a:defRPr>
                      </a:pPr>
                      <a:r>
                        <a:t>G² edges</a:t>
                      </a:r>
                    </a:p>
                  </a:txBody>
                  <a:tcPr marL="54864" marR="54864">
                    <a:noFill/>
                  </a:tcPr>
                </a:tc>
                <a:tc>
                  <a:txBody>
                    <a:bodyPr/>
                    <a:lstStyle/>
                    <a:p>
                      <a:pPr algn="ctr">
                        <a:defRPr sz="2000" b="1">
                          <a:solidFill>
                            <a:srgbClr val="1B1F2A"/>
                          </a:solidFill>
                          <a:latin typeface="Georgia"/>
                        </a:defRPr>
                      </a:pPr>
                      <a:r>
                        <a:t>Optimal</a:t>
                      </a:r>
                    </a:p>
                  </a:txBody>
                  <a:tcPr marL="54864" marR="54864">
                    <a:noFill/>
                  </a:tcPr>
                </a:tc>
              </a:tr>
              <a:tr h="621792">
                <a:tc>
                  <a:txBody>
                    <a:bodyPr/>
                    <a:lstStyle/>
                    <a:p>
                      <a:pPr algn="l">
                        <a:defRPr sz="1800">
                          <a:solidFill>
                            <a:srgbClr val="1B1F2A"/>
                          </a:solidFill>
                          <a:latin typeface="Calibri"/>
                        </a:defRPr>
                      </a:pPr>
                      <a:r>
                        <a:t>4x4 Grid</a:t>
                      </a:r>
                    </a:p>
                  </a:txBody>
                  <a:tcPr marL="54864" marR="54864">
                    <a:noFill/>
                  </a:tcPr>
                </a:tc>
                <a:tc>
                  <a:txBody>
                    <a:bodyPr/>
                    <a:lstStyle/>
                    <a:p>
                      <a:pPr algn="ctr">
                        <a:defRPr sz="1800">
                          <a:solidFill>
                            <a:srgbClr val="1B1F2A"/>
                          </a:solidFill>
                          <a:latin typeface="Calibri"/>
                        </a:defRPr>
                      </a:pPr>
                      <a:r>
                        <a:t>42</a:t>
                      </a:r>
                    </a:p>
                  </a:txBody>
                  <a:tcPr marL="54864" marR="54864">
                    <a:noFill/>
                  </a:tcPr>
                </a:tc>
                <a:tc>
                  <a:txBody>
                    <a:bodyPr/>
                    <a:lstStyle/>
                    <a:p>
                      <a:pPr algn="ctr">
                        <a:defRPr sz="1800">
                          <a:solidFill>
                            <a:srgbClr val="1B1F2A"/>
                          </a:solidFill>
                          <a:latin typeface="Calibri"/>
                        </a:defRPr>
                      </a:pPr>
                      <a:r>
                        <a:t>90</a:t>
                      </a:r>
                    </a:p>
                  </a:txBody>
                  <a:tcPr marL="54864" marR="54864">
                    <a:noFill/>
                  </a:tcPr>
                </a:tc>
                <a:tc>
                  <a:txBody>
                    <a:bodyPr/>
                    <a:lstStyle/>
                    <a:p>
                      <a:pPr algn="ctr">
                        <a:defRPr sz="1800" b="1">
                          <a:solidFill>
                            <a:srgbClr val="1B1F2A"/>
                          </a:solidFill>
                          <a:latin typeface="Calibri"/>
                        </a:defRPr>
                      </a:pPr>
                      <a:r>
                        <a:t>9 slots</a:t>
                      </a:r>
                    </a:p>
                  </a:txBody>
                  <a:tcPr marL="54864" marR="54864">
                    <a:noFill/>
                  </a:tcPr>
                </a:tc>
              </a:tr>
              <a:tr h="621792">
                <a:tc>
                  <a:txBody>
                    <a:bodyPr/>
                    <a:lstStyle/>
                    <a:p>
                      <a:pPr algn="l">
                        <a:defRPr sz="1800">
                          <a:solidFill>
                            <a:srgbClr val="1B1F2A"/>
                          </a:solidFill>
                          <a:latin typeface="Calibri"/>
                        </a:defRPr>
                      </a:pPr>
                      <a:r>
                        <a:t>Sparse Line</a:t>
                      </a:r>
                    </a:p>
                  </a:txBody>
                  <a:tcPr marL="54864" marR="54864">
                    <a:noFill/>
                  </a:tcPr>
                </a:tc>
                <a:tc>
                  <a:txBody>
                    <a:bodyPr/>
                    <a:lstStyle/>
                    <a:p>
                      <a:pPr algn="ctr">
                        <a:defRPr sz="1800">
                          <a:solidFill>
                            <a:srgbClr val="1B1F2A"/>
                          </a:solidFill>
                          <a:latin typeface="Calibri"/>
                        </a:defRPr>
                      </a:pPr>
                      <a:r>
                        <a:t>15</a:t>
                      </a:r>
                    </a:p>
                  </a:txBody>
                  <a:tcPr marL="54864" marR="54864">
                    <a:noFill/>
                  </a:tcPr>
                </a:tc>
                <a:tc>
                  <a:txBody>
                    <a:bodyPr/>
                    <a:lstStyle/>
                    <a:p>
                      <a:pPr algn="ctr">
                        <a:defRPr sz="1800">
                          <a:solidFill>
                            <a:srgbClr val="1B1F2A"/>
                          </a:solidFill>
                          <a:latin typeface="Calibri"/>
                        </a:defRPr>
                      </a:pPr>
                      <a:r>
                        <a:t>29</a:t>
                      </a:r>
                    </a:p>
                  </a:txBody>
                  <a:tcPr marL="54864" marR="54864">
                    <a:noFill/>
                  </a:tcPr>
                </a:tc>
                <a:tc>
                  <a:txBody>
                    <a:bodyPr/>
                    <a:lstStyle/>
                    <a:p>
                      <a:pPr algn="ctr">
                        <a:defRPr sz="1800" b="1">
                          <a:solidFill>
                            <a:srgbClr val="1B1F2A"/>
                          </a:solidFill>
                          <a:latin typeface="Calibri"/>
                        </a:defRPr>
                      </a:pPr>
                      <a:r>
                        <a:t>3 slots</a:t>
                      </a:r>
                    </a:p>
                  </a:txBody>
                  <a:tcPr marL="54864" marR="54864">
                    <a:noFill/>
                  </a:tcPr>
                </a:tc>
              </a:tr>
              <a:tr h="621792">
                <a:tc>
                  <a:txBody>
                    <a:bodyPr/>
                    <a:lstStyle/>
                    <a:p>
                      <a:pPr algn="l">
                        <a:defRPr sz="1800">
                          <a:solidFill>
                            <a:srgbClr val="1B1F2A"/>
                          </a:solidFill>
                          <a:latin typeface="Calibri"/>
                        </a:defRPr>
                      </a:pPr>
                      <a:r>
                        <a:t>Dense Cluster</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b="1">
                          <a:solidFill>
                            <a:srgbClr val="1B1F2A"/>
                          </a:solidFill>
                          <a:latin typeface="Calibri"/>
                        </a:defRPr>
                      </a:pPr>
                      <a:r>
                        <a:t>16 slots</a:t>
                      </a:r>
                    </a:p>
                  </a:txBody>
                  <a:tcPr marL="54864" marR="54864">
                    <a:noFill/>
                  </a:tcPr>
                </a:tc>
              </a:tr>
              <a:tr h="621792">
                <a:tc>
                  <a:txBody>
                    <a:bodyPr/>
                    <a:lstStyle/>
                    <a:p>
                      <a:pPr algn="l">
                        <a:defRPr sz="1800">
                          <a:solidFill>
                            <a:srgbClr val="1B1F2A"/>
                          </a:solidFill>
                          <a:latin typeface="Calibri"/>
                        </a:defRPr>
                      </a:pPr>
                      <a:r>
                        <a:t>Two Clusters</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126480" y="4892040"/>
            <a:ext cx="5303520" cy="1005840"/>
          </a:xfrm>
          <a:prstGeom prst="rect">
            <a:avLst/>
          </a:prstGeom>
          <a:noFill/>
          <a:effectLst/>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ounded Rectangle 4"/>
          <p:cNvSpPr/>
          <p:nvPr/>
        </p:nvSpPr>
        <p:spPr>
          <a:xfrm>
            <a:off x="548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Optimizer</a:t>
            </a:r>
          </a:p>
        </p:txBody>
      </p:sp>
      <p:sp>
        <p:nvSpPr>
          <p:cNvPr id="6" name="TextBox 5"/>
          <p:cNvSpPr txBox="1"/>
          <p:nvPr/>
        </p:nvSpPr>
        <p:spPr>
          <a:xfrm>
            <a:off x="411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7" name="Connector 6"/>
          <p:cNvCxnSpPr/>
          <p:nvPr/>
        </p:nvCxnSpPr>
        <p:spPr>
          <a:xfrm>
            <a:off x="2514600" y="2240280"/>
            <a:ext cx="320040" cy="0"/>
          </a:xfrm>
          <a:prstGeom prst="line">
            <a:avLst/>
          </a:prstGeom>
          <a:ln w="38100">
            <a:solidFill>
              <a:srgbClr val="0F766E"/>
            </a:solidFill>
          </a:ln>
          <a:effectLst/>
        </p:spPr>
      </p:cxnSp>
      <p:sp>
        <p:nvSpPr>
          <p:cNvPr id="8" name="Rounded Rectangle 7"/>
          <p:cNvSpPr/>
          <p:nvPr/>
        </p:nvSpPr>
        <p:spPr>
          <a:xfrm>
            <a:off x="2834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JSON</a:t>
            </a:r>
          </a:p>
        </p:txBody>
      </p:sp>
      <p:sp>
        <p:nvSpPr>
          <p:cNvPr id="9" name="TextBox 8"/>
          <p:cNvSpPr txBox="1"/>
          <p:nvPr/>
        </p:nvSpPr>
        <p:spPr>
          <a:xfrm>
            <a:off x="2697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0" name="Connector 9"/>
          <p:cNvCxnSpPr/>
          <p:nvPr/>
        </p:nvCxnSpPr>
        <p:spPr>
          <a:xfrm>
            <a:off x="4800600" y="2240280"/>
            <a:ext cx="320040" cy="0"/>
          </a:xfrm>
          <a:prstGeom prst="line">
            <a:avLst/>
          </a:prstGeom>
          <a:ln w="38100">
            <a:solidFill>
              <a:srgbClr val="0F766E"/>
            </a:solidFill>
          </a:ln>
          <a:effectLst/>
        </p:spPr>
      </p:cxnSp>
      <p:sp>
        <p:nvSpPr>
          <p:cNvPr id="11" name="Rounded Rectangle 10"/>
          <p:cNvSpPr/>
          <p:nvPr/>
        </p:nvSpPr>
        <p:spPr>
          <a:xfrm>
            <a:off x="5120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Bridge</a:t>
            </a:r>
          </a:p>
        </p:txBody>
      </p:sp>
      <p:sp>
        <p:nvSpPr>
          <p:cNvPr id="12" name="TextBox 11"/>
          <p:cNvSpPr txBox="1"/>
          <p:nvPr/>
        </p:nvSpPr>
        <p:spPr>
          <a:xfrm>
            <a:off x="4983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3" name="Connector 12"/>
          <p:cNvCxnSpPr/>
          <p:nvPr/>
        </p:nvCxnSpPr>
        <p:spPr>
          <a:xfrm>
            <a:off x="7086600" y="2240280"/>
            <a:ext cx="320040" cy="0"/>
          </a:xfrm>
          <a:prstGeom prst="line">
            <a:avLst/>
          </a:prstGeom>
          <a:ln w="38100">
            <a:solidFill>
              <a:srgbClr val="0F766E"/>
            </a:solidFill>
          </a:ln>
          <a:effectLst/>
        </p:spPr>
      </p:cxnSp>
      <p:sp>
        <p:nvSpPr>
          <p:cNvPr id="14" name="Rounded Rectangle 13"/>
          <p:cNvSpPr/>
          <p:nvPr/>
        </p:nvSpPr>
        <p:spPr>
          <a:xfrm>
            <a:off x="7406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XML</a:t>
            </a:r>
          </a:p>
        </p:txBody>
      </p:sp>
      <p:sp>
        <p:nvSpPr>
          <p:cNvPr id="15" name="TextBox 14"/>
          <p:cNvSpPr txBox="1"/>
          <p:nvPr/>
        </p:nvSpPr>
        <p:spPr>
          <a:xfrm>
            <a:off x="7269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6" name="Connector 15"/>
          <p:cNvCxnSpPr/>
          <p:nvPr/>
        </p:nvCxnSpPr>
        <p:spPr>
          <a:xfrm>
            <a:off x="9372600" y="2240280"/>
            <a:ext cx="320040" cy="0"/>
          </a:xfrm>
          <a:prstGeom prst="line">
            <a:avLst/>
          </a:prstGeom>
          <a:ln w="38100">
            <a:solidFill>
              <a:srgbClr val="D97706"/>
            </a:solidFill>
          </a:ln>
          <a:effectLst/>
        </p:spPr>
      </p:cxnSp>
      <p:sp>
        <p:nvSpPr>
          <p:cNvPr id="17" name="Rounded Rectangle 16"/>
          <p:cNvSpPr/>
          <p:nvPr/>
        </p:nvSpPr>
        <p:spPr>
          <a:xfrm>
            <a:off x="9692640" y="1645920"/>
            <a:ext cx="1965960" cy="1188720"/>
          </a:xfrm>
          <a:prstGeom prst="roundRect">
            <a:avLst/>
          </a:prstGeom>
          <a:solidFill>
            <a:srgbClr val="D97706"/>
          </a:solidFill>
          <a:ln>
            <a:noFill/>
          </a:ln>
          <a:effectLst/>
        </p:spPr>
        <p:txBody>
          <a:bodyPr rtlCol="0" anchor="ctr"/>
          <a:lstStyle/>
          <a:p>
            <a:pPr algn="ctr">
              <a:defRPr sz="2400" b="1">
                <a:solidFill>
                  <a:srgbClr val="FFFFFF"/>
                </a:solidFill>
                <a:latin typeface="Calibri"/>
              </a:defRPr>
            </a:pPr>
            <a:r>
              <a:t>EMANE</a:t>
            </a:r>
          </a:p>
        </p:txBody>
      </p:sp>
      <p:sp>
        <p:nvSpPr>
          <p:cNvPr id="18" name="TextBox 17"/>
          <p:cNvSpPr txBox="1"/>
          <p:nvPr/>
        </p:nvSpPr>
        <p:spPr>
          <a:xfrm>
            <a:off x="9555480" y="2999232"/>
            <a:ext cx="2240280" cy="411480"/>
          </a:xfrm>
          <a:prstGeom prst="rect">
            <a:avLst/>
          </a:prstGeom>
          <a:noFill/>
          <a:effectLst/>
        </p:spPr>
        <p:txBody>
          <a:bodyPr wrap="none" lIns="0" tIns="0" rIns="0" bIns="0">
            <a:spAutoFit/>
          </a:bodyPr>
          <a:lstStyle/>
          <a:p>
            <a:pPr algn="ctr">
              <a:defRPr sz="1900" b="1">
                <a:solidFill>
                  <a:srgbClr val="D97706"/>
                </a:solidFill>
                <a:latin typeface="Calibri"/>
              </a:defRPr>
            </a:pPr>
            <a:r>
              <a:t>not run</a:t>
            </a:r>
          </a:p>
        </p:txBody>
      </p:sp>
      <p:sp>
        <p:nvSpPr>
          <p:cNvPr id="19" name="TextBox 18"/>
          <p:cNvSpPr txBox="1"/>
          <p:nvPr/>
        </p:nvSpPr>
        <p:spPr>
          <a:xfrm>
            <a:off x="731520" y="3886200"/>
            <a:ext cx="10515600" cy="2194560"/>
          </a:xfrm>
          <a:prstGeom prst="rect">
            <a:avLst/>
          </a:prstGeom>
          <a:noFill/>
          <a:effectLst/>
        </p:spPr>
        <p:txBody>
          <a:bodyPr wrap="square" lIns="0" tIns="0" rIns="0" bIns="0">
            <a:spAutoFit/>
          </a:bodyPr>
          <a:lstStyle/>
          <a:p>
            <a:pPr>
              <a:defRPr sz="2100">
                <a:solidFill>
                  <a:srgbClr val="1B1F2A"/>
                </a:solidFill>
                <a:latin typeface="Calibri"/>
              </a:defRPr>
            </a:pPr>
            <a:r>
              <a:t>• EMANE needs pathloss set to ~500 m, or all 16 radios hear each other.</a:t>
            </a:r>
          </a:p>
          <a:p>
            <a:pPr>
              <a:spcBef>
                <a:spcPts val="2000"/>
              </a:spcBef>
              <a:defRPr sz="2100">
                <a:solidFill>
                  <a:srgbClr val="1B1F2A"/>
                </a:solidFill>
                <a:latin typeface="Calibri"/>
              </a:defRPr>
            </a:pPr>
            <a:r>
              <a:t>• Next step is running the container with virtual TAP interfaces.</a:t>
            </a:r>
          </a:p>
          <a:p>
            <a:pPr>
              <a:spcBef>
                <a:spcPts val="2000"/>
              </a:spcBef>
              <a:defRPr sz="21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