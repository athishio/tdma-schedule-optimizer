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Athish M, Protocol Development Engineering Candidate.</a:t>
            </a:r>
          </a:p>
          <a:p>
            <a:r>
              <a:t>Core Objective: Minimize TDMA frame length under strict Distance-1 and Distance-2 (hidden terminal) constraints while exploiting spatial reuse.</a:t>
            </a:r>
          </a:p>
          <a:p>
            <a:r>
              <a:t>Dual Architecture: Production Python optimizer (Part 1) + High-fidelity EMANE integration bridge (Part 2).</a:t>
            </a:r>
          </a:p>
          <a:p>
            <a:r>
              <a:t>All source code, tests, and documentation at: github.com - tdma-schedule-optimizer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Shared Wireless Medium: Single carrier frequency, half-duplex omnidirectional transceivers (Range R = 500.0 m).</a:t>
            </a:r>
          </a:p>
          <a:p>
            <a:r>
              <a:t>Distance-1 Direct Collision: Adjacent nodes (d ≤ 500 m) collide if transmitting concurrently; requires distinct slots.</a:t>
            </a:r>
          </a:p>
          <a:p>
            <a:r>
              <a:t>Distance-2 Hidden Terminal Collision: Non-adjacent nodes sharing a common neighbor corrupt reception at the shared node.</a:t>
            </a:r>
          </a:p>
          <a:p>
            <a:r>
              <a:t>Spatial Concurrency: Transmitters separated by ≥ 3 hops may concurrently transmit without mutual interference.</a:t>
            </a:r>
          </a:p>
          <a:p>
            <a:r>
              <a:t>Optimization Goal: Minimize frame length K (maximizes per-node channel access rate and minimizes latency).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Graph G = (V, E): Undirected edge exists iff Euclidean distance d(u, v) ≤ 500.0 m (10⁻⁹ m tolerance).</a:t>
            </a:r>
          </a:p>
          <a:p>
            <a:r>
              <a:t>Conflict Graph G_conflict = G²: Edge exists iff shortest path hop distance is 1 or 2 hops in G.</a:t>
            </a:r>
          </a:p>
          <a:p>
            <a:r>
              <a:t>Fundamental Isomorphism: Distance-2 vertex coloring of G is mathematically equivalent to ordinary vertex coloring of G².</a:t>
            </a:r>
          </a:p>
          <a:p>
            <a:r>
              <a:t>Theoretical Complexity: Finding chromatic number χ(G²) is NP-hard (even on Unit Disk Graphs).</a:t>
            </a:r>
          </a:p>
          <a:p>
            <a:r>
              <a:t>Analytical Bounds: ω(G²) ≤ χ(G²) ≤ Δ(G²) + 1, where ω is the maximum clique size and Δ is maximum degree.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heuristics target different structural weaknesses:</a:t>
            </a:r>
          </a:p>
          <a:p>
            <a:r>
              <a:t>1. LDF: Colors high-degree conflict bottlenecks first; O(V log V + E).</a:t>
            </a:r>
          </a:p>
          <a:p>
            <a:r>
              <a:t>2. DSATUR: Dynamic greedy selection by maximum neighbor color saturation; O(V² + E).</a:t>
            </a:r>
          </a:p>
          <a:p>
            <a:r>
              <a:t>3. Smallest-Last: Reverse elimination ordering bounded by subgraph degeneracy; O(V + E).</a:t>
            </a:r>
          </a:p>
          <a:p>
            <a:r>
              <a:t>4. Randomized Restarts: Explores 1000 randomized permutations deterministically with fixed seeds.</a:t>
            </a:r>
          </a:p>
          <a:p>
            <a:r>
              <a:t>5. Local Search: Kempe-chain 2-color swaps and min-conflicts Tabu search to eliminate highest color classes.</a:t>
            </a:r>
          </a:p>
          <a:p/>
          <a:p>
            <a:r>
              <a:t>Two exact solvers:</a:t>
            </a:r>
          </a:p>
          <a:p>
            <a:r>
              <a:t>A. Google OR-Tools CP-SAT: 0-1 ILP constraint optimization with symmetry-breaking inequalities.</a:t>
            </a:r>
          </a:p>
          <a:p>
            <a:r>
              <a:t>B. Pure-Python Branch-and-Bound: Zero-dependency fallback with DSATUR branching and clique pre-coloring.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Solver: Google OR-Tools CP-SAT (0-1 ILP constraint optimization with symmetry-breaking inequalities).</a:t>
            </a:r>
          </a:p>
          <a:p>
            <a:r>
              <a:t>Fallback Solver: Pure-Python Branch-and-Bound Backtracking with DSATUR variable branching and clique pre-coloring.</a:t>
            </a:r>
          </a:p>
          <a:p>
            <a:r>
              <a:t>Maximum Clique Pre-coloring: Nodes in the maximum clique ω(G²) are pinned to fixed colors 0..ω-1, eliminating color permutation explosion.</a:t>
            </a:r>
          </a:p>
          <a:p>
            <a:r>
              <a:t>Lower-Bound Pruning: Search halts immediately once best-known upper bound matches clique lower bound.</a:t>
            </a:r>
          </a:p>
          <a:p>
            <a:r>
              <a:t>Sub-Millisecond Speed: Both exact solvers compute the true global optimum for 16-node topologies in &lt; 0.5 ms.</a:t>
            </a:r>
          </a:p>
          <a:p>
            <a:r>
              <a:t>The --force-pure-python-exact flag runs the Branch-and-Bound solver even when OR-Tools is available, for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 Performance Across 4 Standard Reference Topologies:</a:t>
            </a:r>
          </a:p>
          <a:p>
            <a:r>
              <a:t>1. 4x4 Grid (300 m spacing): 42 G-edges, 90 G²-edges, Max Deg 15 → 9 slots (optimal).</a:t>
            </a:r>
          </a:p>
          <a:p>
            <a:r>
              <a:t>2. Sparse Linear (350 m spacing): 15 G-edges, 29 G²-edges, Max Deg 4 → 3 slots (optimal).</a:t>
            </a:r>
          </a:p>
          <a:p>
            <a:r>
              <a:t>3. Dense Cluster (≤500 m): 120 G-edges, 120 G²-edges, Max Deg 15 → 16 slots (no reuse).</a:t>
            </a:r>
          </a:p>
          <a:p>
            <a:r>
              <a:t>4. Two Disconnected Clusters: 56 G-edges, 56 G²-edges, Max Deg 7 → 8 slots (full reuse).</a:t>
            </a:r>
          </a:p>
          <a:p>
            <a:r>
              <a:t>All heuristics achieve 0 gap from the exact optimum on all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Principle: Absolute separation of concerns — zero shared code with coloring or G² construction.</a:t>
            </a:r>
          </a:p>
          <a:p>
            <a:r>
              <a:t>BFS Shortest-Path Checks: Evaluates hop distances directly on physical graph G.</a:t>
            </a:r>
          </a:p>
          <a:p>
            <a:r>
              <a:t>Assertions Enforced:</a:t>
            </a:r>
          </a:p>
          <a:p>
            <a:r>
              <a:t>  - Every node has exactly one slot (Coverage check).</a:t>
            </a:r>
          </a:p>
          <a:p>
            <a:r>
              <a:t>  - Slots are contiguous 0..K-1 (Contiguity check).</a:t>
            </a:r>
          </a:p>
          <a:p>
            <a:r>
              <a:t>  - No pairs within 1 or 2 hops share slots (Conflict freedom).</a:t>
            </a:r>
          </a:p>
          <a:p>
            <a:r>
              <a:t>Outcome: Catches deliberate collisions, missing nodes, and gaps; exits non-zero on failure.</a:t>
            </a:r>
          </a:p>
          <a:p>
            <a:r>
              <a:t>The grid diagram shows the verified 9-slot assignment for the 4x4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High-Fidelity Radio Emulation: Integrates with EMANE tdmaeventschedulerradiomodel (1 ms slots, 50 µs guard time).</a:t>
            </a:r>
          </a:p>
          <a:p>
            <a:r>
              <a:t>Official Verification Log: 100% verified against Adjacent Link official documentation, XML schemas, and Python bindings.</a:t>
            </a:r>
          </a:p>
          <a:p>
            <a:r>
              <a:t>Timing Architecture: Slot duration (1000 µs), overhead (50 µs), and bandwidth (20 MHz) defined in &lt;structure&gt; XML.</a:t>
            </a:r>
          </a:p>
          <a:p>
            <a:r>
              <a:t>Range Modeling (Design Only): EMANE uses LocationEvent (ID 100) / PathlossEvent (ID 101) &amp; PCR curves to calibrate ~500 m range.</a:t>
            </a:r>
          </a:p>
          <a:p>
            <a:r>
              <a:t>Tested vs Design-Only Boundary: Offline schema parsing and round-trip parity tested; live kernel RF execution documented.</a:t>
            </a:r>
          </a:p>
          <a:p>
            <a:r>
              <a:t>Generated files: schedule.xml, platform.xml, nem.xml, phy-universal.xml, mac-tdmaeventschedule.xml, publish_schedule.py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Case 1 (Valid Schedule): Ping and iperf traffic pass with 0% loss; packets emit strictly at 9 ms frame intervals.</a:t>
            </a:r>
          </a:p>
          <a:p>
            <a:r>
              <a:t>Test Case 2 (Conflicting Schedule): Deliberate collision forces SINR below PCR curve; triggers &gt; 80% packet discards.</a:t>
            </a:r>
          </a:p>
          <a:p>
            <a:r>
              <a:t>Exact 500.0 m Boundary: Applied 10⁻⁹ m epsilon tolerance to guarantee exact 500.0 m coordinates are in direct range.</a:t>
            </a:r>
          </a:p>
          <a:p>
            <a:r>
              <a:t>Duplicate Coordinate Rejection: Detects physically impossible co-locations and terminates with explicit diagnostic errors.</a:t>
            </a:r>
          </a:p>
          <a:p>
            <a:r>
              <a:t>Deterministic Reproducibility: Seeded random generators guarantee reproducible schedules across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Complete, hardened TDMA schedule planner with 5 heuristics, 2 exact solvers, and independent BFS verifier.</a:t>
            </a:r>
          </a:p>
          <a:p>
            <a:r>
              <a:t>Test Suite: 47 automated unit, property, CLI, and bridge tests passing with 100% pass rate.</a:t>
            </a:r>
          </a:p>
          <a:p>
            <a:r>
              <a:t>Multi-Channel TDMA (2D Grid): Joint time-frequency scheduling (t, f) across orthogonal RF channels.</a:t>
            </a:r>
          </a:p>
          <a:p>
            <a:r>
              <a:t>Distributed MANET Scheduling: Implement decentralized slot negotiation (DRAND / C-TDMA) for mobile ad-hoc nodes.</a:t>
            </a:r>
          </a:p>
          <a:p>
            <a:r>
              <a:t>Directed Spatial TDMA (STDMA): Move from omnidirectional reservations to link-oriented directional scheduling.</a:t>
            </a:r>
          </a:p>
          <a:p>
            <a:r>
              <a:t>Author: Athish M, athishm2007@gmail.com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000">
                <a:solidFill>
                  <a:srgbClr val="FFFFFF"/>
                </a:solidFill>
              </a:defRPr>
            </a:pPr>
            <a:r>
              <a:t>TDMA Schedule Planner &amp;</a:t>
            </a:r>
            <a:br/>
            <a:r>
              <a:t>Spatial Reuse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BBDEFB"/>
                </a:solidFill>
              </a:defRPr>
            </a:pPr>
            <a:r>
              <a:t>Conflict-Free Frame Optimization in Multi-Hop Wireless Networks</a:t>
            </a:r>
            <a:br/>
            <a:r>
              <a:t>with EMANE Emulation Bridge  •  Athish 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108960"/>
            <a:ext cx="36576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The Physical &amp; Protocol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Distance-1: Adjacent nodes (d ≤ 500 m)</a:t>
            </a:r>
            <a:br/>
            <a:r>
              <a:t>  collide if transmitting concurrently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Distance-2: Hidden terminal — shared</a:t>
            </a:r>
            <a:br/>
            <a:r>
              <a:t>  neighbor receives corrupted packets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Spatial reuse: Nodes ≥ 3 hops apart</a:t>
            </a:r>
            <a:br/>
            <a:r>
              <a:t>  can safely share the same timeslot</a:t>
            </a:r>
          </a:p>
        </p:txBody>
      </p:sp>
      <p:pic>
        <p:nvPicPr>
          <p:cNvPr id="5" name="Picture 4" descr="hidde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Mathematical Graph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NP-hard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Minimum chromatic number — exact solvers prove optimality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Physical Graph G = (V, E): edge iff d(u,v) ≤ 500 m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Conflict Graph G² : edge iff hop distance ≤ 2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Theorem: Distance-2 coloring of G ≡ coloring of G²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Bounds: ω(G²) ≤ χ(G²) ≤ Δ(G²) + 1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Five Heuristics + Two Exact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HEURISTICS: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1. Largest-Degree-First (Welsh-Powell)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2. DSATUR (Degree of Saturation)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3. Smallest-Last (Degeneracy)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4. Randomized Restarts (N=1000)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5. Local Search + Kempe Chains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EXACT SOLVERS: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A. Google OR-Tools CP-SAT (primary)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B. Pure-Python Branch &amp; Bound (fallback)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Symmetry breaking via max-clique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&lt; 0.5 ms on 16-node topologies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9 slots = proven optimum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4×4 grid: all heuristics and both exact solvers 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CP-SAT: 0-1 ILP with max-clique symmetry breaking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Branch &amp; Bound: zero dependencies, DSATUR branching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Pre-color ω(G²) nodes → eliminates permutation explosion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Empirical Results &amp; Benchmark Suite</a:t>
            </a:r>
          </a:p>
        </p:txBody>
      </p:sp>
      <p:pic>
        <p:nvPicPr>
          <p:cNvPr id="4" name="Picture 3" descr="benchmark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572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49377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987552"/>
                <a:gridCol w="987552"/>
                <a:gridCol w="987552"/>
                <a:gridCol w="987552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Best Heur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4×4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Sparse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Dense Cluster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Disconnected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Independent Schedule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Zero shared code with coloring or G² logic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BFS hop-distance queries on physical graph 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Checks: coverage, contiguity, conflict freedom</a:t>
            </a:r>
          </a:p>
        </p:txBody>
      </p:sp>
      <p:pic>
        <p:nvPicPr>
          <p:cNvPr id="5" name="Picture 4" descr="grid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Integrates with tdmaeventschedulerradiomodel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1 ms slots, 50 µs guard, 2.4 GHz, 20 MHz BW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11/11 parameters verified against official docs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112471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Test Plan &amp;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EMULATION TEST PLAN: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Valid schedule: 0% loss at 9 ms</a:t>
            </a:r>
            <a:br/>
            <a:r>
              <a:t>  frame intervals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Conflicting schedule: deliberate</a:t>
            </a:r>
            <a:br/>
            <a:r>
              <a:t>  collision → &gt; 80% discards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Range calibration: freespace model</a:t>
            </a:r>
            <a:br/>
            <a:r>
              <a:t>  tuned for ~500 m cutoff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ENGINEERING DECISIONS: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Float epsilon (10⁻⁹) for exact</a:t>
            </a:r>
            <a:br/>
            <a:r>
              <a:t>  500.0 m boundary inclusion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Duplicate coordinate rejection</a:t>
            </a:r>
            <a:br/>
            <a:r>
              <a:t>  with explicit diagnostics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Deterministic seeded RNG</a:t>
            </a:r>
            <a:br/>
            <a:r>
              <a:t>  for reproducible schedules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47 tests — 100% pass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Production-grade TDMA optimizer with proven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5 heuristics + 2 exact solvers + independent verifier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Full EMANE bridge with Docker, configs, and publisher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Future: multi-channel TDMA, mobile MANET, STDMA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