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Exact Optimum</c:v>
                </c:pt>
              </c:strCache>
            </c:strRef>
          </c:tx>
          <c:spPr>
            <a:solidFill>
              <a:srgbClr val="1B1F2A"/>
            </a:solidFill>
          </c:spPr>
          <c:cat>
            <c:strRef>
              <c:f>Sheet1!$A$2:$A$5</c:f>
              <c:strCache>
                <c:ptCount val="4"/>
                <c:pt idx="0">
                  <c:v>4x4 Grid</c:v>
                </c:pt>
                <c:pt idx="1">
                  <c:v>Sparse Line</c:v>
                </c:pt>
                <c:pt idx="2">
                  <c:v>Dense Cluster</c:v>
                </c:pt>
                <c:pt idx="3">
                  <c:v>Two Clusters</c:v>
                </c:pt>
              </c:strCache>
            </c:strRef>
          </c:cat>
          <c:val>
            <c:numRef>
              <c:f>Sheet1!$B$2:$B$5</c:f>
              <c:numCache>
                <c:formatCode>General</c:formatCode>
                <c:ptCount val="4"/>
                <c:pt idx="0">
                  <c:v>9</c:v>
                </c:pt>
                <c:pt idx="1">
                  <c:v>3</c:v>
                </c:pt>
                <c:pt idx="2">
                  <c:v>16</c:v>
                </c:pt>
                <c:pt idx="3">
                  <c:v>8</c:v>
                </c:pt>
              </c:numCache>
            </c:numRef>
          </c:val>
        </c:ser>
        <c:ser>
          <c:idx val="1"/>
          <c:order val="1"/>
          <c:tx>
            <c:strRef>
              <c:f>Sheet1!$C$1</c:f>
              <c:strCache>
                <c:ptCount val="1"/>
                <c:pt idx="0">
                  <c:v>Best Heuristic</c:v>
                </c:pt>
              </c:strCache>
            </c:strRef>
          </c:tx>
          <c:spPr>
            <a:solidFill>
              <a:srgbClr val="0F766E"/>
            </a:solidFill>
          </c:spPr>
          <c:cat>
            <c:strRef>
              <c:f>Sheet1!$A$2:$A$5</c:f>
              <c:strCache>
                <c:ptCount val="4"/>
                <c:pt idx="0">
                  <c:v>4x4 Grid</c:v>
                </c:pt>
                <c:pt idx="1">
                  <c:v>Sparse Line</c:v>
                </c:pt>
                <c:pt idx="2">
                  <c:v>Dense Cluster</c:v>
                </c:pt>
                <c:pt idx="3">
                  <c:v>Two Clusters</c:v>
                </c:pt>
              </c:strCache>
            </c:strRef>
          </c:cat>
          <c:val>
            <c:numRef>
              <c:f>Sheet1!$C$2:$C$5</c:f>
              <c:numCache>
                <c:formatCode>General</c:formatCode>
                <c:ptCount val="4"/>
                <c:pt idx="0">
                  <c:v>9</c:v>
                </c:pt>
                <c:pt idx="1">
                  <c:v>3</c:v>
                </c:pt>
                <c:pt idx="2">
                  <c:v>16</c:v>
                </c:pt>
                <c:pt idx="3">
                  <c:v>8</c:v>
                </c:pt>
              </c:numCache>
            </c:numRef>
          </c:val>
        </c:ser>
        <c:dLbls>
          <c:txPr>
            <a:bodyPr/>
            <a:lstStyle/>
            <a:p>
              <a:pPr>
                <a:defRPr sz="1400" b="1">
                  <a:latin typeface="Calibr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max val="19.0"/>
          <c:min val="0.0"/>
        </c:scaling>
        <c:delete val="0"/>
        <c:axPos val="l"/>
        <c:majorTickMark val="out"/>
        <c:minorTickMark val="none"/>
        <c:tickLblPos val="nextTo"/>
        <c:crossAx val="-2068027336"/>
        <c:crosses val="autoZero"/>
      </c:valAx>
    </c:plotArea>
    <c:legend>
      <c:legendPos val="t"/>
      <c:overlay val="0"/>
      <c:txPr>
        <a:bodyPr/>
        <a:lstStyle/>
        <a:p>
          <a:pPr>
            <a:defRPr sz="1400">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Athish. In this project, I took on the challenge of scheduling a wireless mesh network so that every radio gets to transmit without colliding with its neighbors, while keeping the overall frame as short as possible. The central trade-off is simple: fewer time slots in the frame means each radio gets to transmit more often, which maximizes throughput and minimizes latency. Over the next few minutes, I'll walk you through how I formulated this problem as a squared graph coloring problem, the five heuristics and two exact solvers I built, how I proved that 9 slots is the global optimum for the 4x4 benchmark grid, and how I verified the schedule both through an independent checker and through an offline EMANE emulation bridge.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two radios are within 500 meters of each other, they obviously can't transmit at the same time: that's direct distance-1 interference. But the real problem in multi-hop networks is the hidden terminal problem, which I've illustrated here. Radios A and C are more than 500 meters apart, so neither can hear the other. If A senses the channel, it thinks the air is clear. If C senses the channel, it thinks the same thing. However, both radios are within 500 meters of radio B in the middle. If A and C transmit in the same time slot, their signals arrive at B at the exact same moment, causing interference and packet corruption. This means any valid TDMA schedule must enforce a distance-2 rule: two radios that share a common neighbor can never share a timeslot. Radios separated by 3 or more hops, however, are far enough apart to safely reuse the same slot.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this cleanly, I turned to graph squaring. The rule says no two nodes within 1 or 2 hops may share a slot. In graph theory, when you square a graph G to get G², an edge exists between two nodes if and only if their shortest-path distance in G is 1 or 2 hops. What this does is convert a complex multi-hop wireless problem into standard vertex coloring on G². Once you color G² so that adjacent vertices have different colors, every color represents a timeslot, and the schedule is mathematically guaranteed to be conflict-free. Notice the payoff: nodes separated by 3 or more hops, such as nodes 1 and 4 in this line, remain unconnected in G². That means they can safely reuse the same time slot, which is where our spatial reuse comes from.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wanted to evaluate several coloring algorithms to see which one gave the tightest schedule. I started with greedy coloring ordered by degree, which took 0.06 milliseconds and found 9 slots. Then I tried DSATUR, which dynamically chooses the node with the most colored neighbors; that took 0.16 milliseconds and found 9 slots. Smallest-last ordering based on graph degeneracy took 0.12 milliseconds and gave the same 9 slots. To test whether random orders could shake loose an 8-slot schedule, I ran 1000 seeded random restarts; that took 26.3 milliseconds, but the best schedule remained 9 slots. Finally, I built a local search routine with Kempe-chain swaps and tabu search to try to eliminate the ninth color; after 60.2 milliseconds it still couldn't reach 8. Because all five heuristics stalled at 9, I couldn't tell if 9 was an algorithmic limitation or a physical lower bound. That's why I added an exact solver using Google OR-Tools CP-SAT with maximum-clique pre-coloring, solving in 0.57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actual schedule on the 4x4 grid topology. On the left is the real CLI output showing each node's timeslot. Node_01 is assigned Slot 8, Node_02 is assigned Slot 4, Node_03 is assigned Slot 5, Node_04 is assigned Slot 8, Node_05 is assigned Slot 6, Node_06 is assigned Slot 0, Node_07 is assigned Slot 1, Node_08 is assigned Slot 6, Node_09 is assigned Slot 7, Node_10 is assigned Slot 2, Node_11 is assigned Slot 3, Node_12 is assigned Slot 7, Node_13 is assigned Slot 8, Node_14 is assigned Slot 4, Node_15 is assigned Slot 5, and Node_16 is assigned Slot 8. On the right, notice the four corners: Node 1 at the bottom-left, Node 4 at the bottom-right, Node 13 at the top-left, and Node 16 at the top-right. All four are ringed in amber because they share slot 8. Because they are at least 3 hops apart in G, their signals do not interfere at any receiver, achieving spatial reuse.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Could an even smarter algorithm find a schedule with fewer than 9 slots? The answer is no, and here is why. In this grid, nodes are spaced 300 meters apart horizontally and vertically. The diagonal distance between diagonal neighbors is 300 times the square root of 2, which is 424 meters. Since 424 meters is less than our 500-meter radio range, diagonal neighbors hear each other directly. Now take any 3x3 block of 9 radios, like the one highlighted in amber. Because diagonal radios are within 1 hop, every single pair of nodes in this 3x3 block is within at most 2 hops in G. Therefore, in the conflict graph G², every pair of these 9 nodes has an edge between them. That is a 9-clique. A clique of size 9 mathematically requires at least 9 distinct colors. So 9 slots is the absolute physical lower bound. Regarding the brief: its sample table showed 5 slots, but on this 300-meter grid, Node 1 and Node 3 cannot share a slot because Node 2 sits between them and would suffer a collision.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evaluated the optimizer across four benchmark topologies. For the 4x4 grid, we need 9 slots. For a 16-node linear chain spaced at 350 meters, the pattern repeats every 3 nodes, yielding 3 slots. For the dense cluster where all 16 nodes are within 500 meters of each other, G² forms a 16-clique, forcing every node into a distinct slot for 16 total. Finally, for two disconnected 8-node clusters separated by 3000 meters, both clusters run simultaneously, yielding 8 slots. In every case, the heuristics found the optimum on all four topologies. The value of having the exact solver isn't that the heuristics were failing, but that the exact solver provides proof that no better schedule exists.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Part 2, the goal was connecting the optimizer to EMANE's TDMA radio model. I built a bridge script that translates the JSON schedule into schema-compliant XML. The offline translation and NEM mapping are verified in automated tests. However, the live emulation inside a Linux container was not executed. If you run EMANE without calibrating pathloss, its radio model does not have our 500-meter cutoff: all 16 radios would hear each other across the multicast channel and collide. In a live testbed, you would publish LocationEvents or PathlossEvents so that signals drop off at 500 meters. Looking ahead, the next steps are running that container with live virtual interfaces, extending to 2D time-frequency coloring, and handling dynamic mobile topologies.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914400" y="6446520"/>
            <a:ext cx="5486400" cy="320040"/>
          </a:xfrm>
        </p:spPr>
        <p:txBody>
          <a:bodyPr/>
          <a:lstStyle/>
          <a:p>
            <a:pPr>
              <a:defRPr sz="1000">
                <a:solidFill>
                  <a:srgbClr val="64748B"/>
                </a:solidFill>
                <a:latin typeface="Calibri"/>
              </a:defRPr>
            </a:pPr>
            <a:r>
              <a:t>Athish M | TDMA Schedule Optimizer</a:t>
            </a:r>
          </a:p>
        </p:txBody>
      </p:sp>
      <p:sp>
        <p:nvSpPr>
          <p:cNvPr id="4" name="Slide Number Placeholder 3"/>
          <p:cNvSpPr>
            <a:spLocks noGrp="1"/>
          </p:cNvSpPr>
          <p:nvPr>
            <p:ph type="sldNum" sz="quarter" idx="12"/>
          </p:nvPr>
        </p:nvSpPr>
        <p:spPr>
          <a:xfrm>
            <a:off x="10332720" y="6446520"/>
            <a:ext cx="914400" cy="320040"/>
          </a:xfrm>
        </p:spPr>
        <p:txBody>
          <a:bodyPr/>
          <a:lstStyle/>
          <a:p>
            <a:pPr>
              <a:defRPr sz="1000">
                <a:solidFill>
                  <a:srgbClr val="64748B"/>
                </a:solidFill>
                <a:latin typeface="Calibri"/>
              </a:defRPr>
            </a:pPr>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1F2A"/>
          </a:solidFill>
          <a:ln>
            <a:noFill/>
          </a:ln>
          <a:effectLst/>
        </p:spPr>
        <p:txBody>
          <a:bodyPr rtlCol="0" anchor="ctr"/>
          <a:lstStyle/>
          <a:p>
            <a:pPr algn="ctr"/>
          </a:p>
        </p:txBody>
      </p:sp>
      <p:sp>
        <p:nvSpPr>
          <p:cNvPr id="3" name="TextBox 2"/>
          <p:cNvSpPr txBox="1"/>
          <p:nvPr/>
        </p:nvSpPr>
        <p:spPr>
          <a:xfrm>
            <a:off x="914400" y="1371600"/>
            <a:ext cx="7315200" cy="1188720"/>
          </a:xfrm>
          <a:prstGeom prst="rect">
            <a:avLst/>
          </a:prstGeom>
          <a:noFill/>
          <a:effectLst/>
        </p:spPr>
        <p:txBody>
          <a:bodyPr wrap="square" lIns="0" tIns="0" rIns="0" bIns="0">
            <a:spAutoFit/>
          </a:bodyPr>
          <a:lstStyle/>
          <a:p>
            <a:pPr>
              <a:defRPr sz="4000" b="1">
                <a:solidFill>
                  <a:srgbClr val="FFFFFF"/>
                </a:solidFill>
                <a:latin typeface="Georgia"/>
              </a:defRPr>
            </a:pPr>
            <a:r>
              <a:t>Packing a radio network into the fewest time slots</a:t>
            </a:r>
          </a:p>
        </p:txBody>
      </p:sp>
      <p:sp>
        <p:nvSpPr>
          <p:cNvPr id="4" name="Rectangle 3"/>
          <p:cNvSpPr/>
          <p:nvPr/>
        </p:nvSpPr>
        <p:spPr>
          <a:xfrm>
            <a:off x="914400" y="2926080"/>
            <a:ext cx="6858000" cy="19050"/>
          </a:xfrm>
          <a:prstGeom prst="rect">
            <a:avLst/>
          </a:prstGeom>
          <a:solidFill>
            <a:srgbClr val="D97706"/>
          </a:solidFill>
          <a:ln>
            <a:noFill/>
          </a:ln>
          <a:effectLst/>
        </p:spPr>
        <p:txBody>
          <a:bodyPr rtlCol="0" anchor="ctr"/>
          <a:lstStyle/>
          <a:p>
            <a:pPr algn="ctr"/>
          </a:p>
        </p:txBody>
      </p:sp>
      <p:sp>
        <p:nvSpPr>
          <p:cNvPr id="5" name="TextBox 4"/>
          <p:cNvSpPr txBox="1"/>
          <p:nvPr/>
        </p:nvSpPr>
        <p:spPr>
          <a:xfrm>
            <a:off x="914400" y="3291840"/>
            <a:ext cx="6858000" cy="365760"/>
          </a:xfrm>
          <a:prstGeom prst="rect">
            <a:avLst/>
          </a:prstGeom>
          <a:noFill/>
          <a:effectLst/>
        </p:spPr>
        <p:txBody>
          <a:bodyPr wrap="square" lIns="0" tIns="0" rIns="0" bIns="0">
            <a:spAutoFit/>
          </a:bodyPr>
          <a:lstStyle/>
          <a:p>
            <a:pPr>
              <a:defRPr sz="2000">
                <a:solidFill>
                  <a:srgbClr val="94A3B8"/>
                </a:solidFill>
                <a:latin typeface="Calibri"/>
              </a:defRPr>
            </a:pPr>
            <a:r>
              <a:t>Distance-2 graph coloring, spatial reuse, and EMANE bridge</a:t>
            </a:r>
          </a:p>
        </p:txBody>
      </p:sp>
      <p:sp>
        <p:nvSpPr>
          <p:cNvPr id="6" name="TextBox 5"/>
          <p:cNvSpPr txBox="1"/>
          <p:nvPr/>
        </p:nvSpPr>
        <p:spPr>
          <a:xfrm>
            <a:off x="914400" y="4114800"/>
            <a:ext cx="6858000" cy="365760"/>
          </a:xfrm>
          <a:prstGeom prst="rect">
            <a:avLst/>
          </a:prstGeom>
          <a:noFill/>
          <a:effectLst/>
        </p:spPr>
        <p:txBody>
          <a:bodyPr wrap="none" lIns="0" tIns="0" rIns="0" bIns="0">
            <a:spAutoFit/>
          </a:bodyPr>
          <a:lstStyle/>
          <a:p>
            <a:pPr>
              <a:defRPr sz="2200" b="1">
                <a:solidFill>
                  <a:srgbClr val="FFFFFF"/>
                </a:solidFill>
                <a:latin typeface="Calibri"/>
              </a:defRPr>
            </a:pPr>
            <a:r>
              <a:t>Athish M</a:t>
            </a:r>
          </a:p>
        </p:txBody>
      </p:sp>
      <p:sp>
        <p:nvSpPr>
          <p:cNvPr id="7" name="TextBox 6"/>
          <p:cNvSpPr txBox="1"/>
          <p:nvPr/>
        </p:nvSpPr>
        <p:spPr>
          <a:xfrm>
            <a:off x="914400" y="4846320"/>
            <a:ext cx="6858000" cy="365760"/>
          </a:xfrm>
          <a:prstGeom prst="rect">
            <a:avLst/>
          </a:prstGeom>
          <a:noFill/>
          <a:effectLst/>
        </p:spPr>
        <p:txBody>
          <a:bodyPr wrap="none" lIns="0" tIns="0" rIns="0" bIns="0">
            <a:spAutoFit/>
          </a:bodyPr>
          <a:lstStyle/>
          <a:p>
            <a:pPr>
              <a:defRPr sz="1600">
                <a:solidFill>
                  <a:srgbClr val="94A3B8"/>
                </a:solidFill>
                <a:latin typeface="Calibri"/>
              </a:defRPr>
            </a:pPr>
            <a:r>
              <a:t>Wireless protocol development take-home task</a:t>
            </a:r>
          </a:p>
        </p:txBody>
      </p:sp>
      <p:sp>
        <p:nvSpPr>
          <p:cNvPr id="8" name="Oval 7"/>
          <p:cNvSpPr/>
          <p:nvPr/>
        </p:nvSpPr>
        <p:spPr>
          <a:xfrm>
            <a:off x="8686800" y="1828800"/>
            <a:ext cx="457200" cy="457200"/>
          </a:xfrm>
          <a:prstGeom prst="ellipse">
            <a:avLst/>
          </a:prstGeom>
          <a:solidFill>
            <a:srgbClr val="D97706"/>
          </a:solidFill>
          <a:ln>
            <a:noFill/>
          </a:ln>
          <a:effectLst/>
        </p:spPr>
        <p:txBody>
          <a:bodyPr rtlCol="0" anchor="ctr"/>
          <a:lstStyle/>
          <a:p>
            <a:pPr algn="ctr"/>
          </a:p>
        </p:txBody>
      </p:sp>
      <p:sp>
        <p:nvSpPr>
          <p:cNvPr id="9" name="Oval 8"/>
          <p:cNvSpPr/>
          <p:nvPr/>
        </p:nvSpPr>
        <p:spPr>
          <a:xfrm>
            <a:off x="9464040" y="1828800"/>
            <a:ext cx="457200" cy="457200"/>
          </a:xfrm>
          <a:prstGeom prst="ellipse">
            <a:avLst/>
          </a:prstGeom>
          <a:solidFill>
            <a:srgbClr val="059669"/>
          </a:solidFill>
          <a:ln>
            <a:noFill/>
          </a:ln>
          <a:effectLst/>
        </p:spPr>
        <p:txBody>
          <a:bodyPr rtlCol="0" anchor="ctr"/>
          <a:lstStyle/>
          <a:p>
            <a:pPr algn="ctr"/>
          </a:p>
        </p:txBody>
      </p:sp>
      <p:sp>
        <p:nvSpPr>
          <p:cNvPr id="10" name="Oval 9"/>
          <p:cNvSpPr/>
          <p:nvPr/>
        </p:nvSpPr>
        <p:spPr>
          <a:xfrm>
            <a:off x="10241280" y="1828800"/>
            <a:ext cx="457200" cy="457200"/>
          </a:xfrm>
          <a:prstGeom prst="ellipse">
            <a:avLst/>
          </a:prstGeom>
          <a:solidFill>
            <a:srgbClr val="B45309"/>
          </a:solidFill>
          <a:ln>
            <a:noFill/>
          </a:ln>
          <a:effectLst/>
        </p:spPr>
        <p:txBody>
          <a:bodyPr rtlCol="0" anchor="ctr"/>
          <a:lstStyle/>
          <a:p>
            <a:pPr algn="ctr"/>
          </a:p>
        </p:txBody>
      </p:sp>
      <p:sp>
        <p:nvSpPr>
          <p:cNvPr id="11" name="Oval 10"/>
          <p:cNvSpPr/>
          <p:nvPr/>
        </p:nvSpPr>
        <p:spPr>
          <a:xfrm>
            <a:off x="11018520" y="1828800"/>
            <a:ext cx="457200" cy="457200"/>
          </a:xfrm>
          <a:prstGeom prst="ellipse">
            <a:avLst/>
          </a:prstGeom>
          <a:solidFill>
            <a:srgbClr val="D97706"/>
          </a:solidFill>
          <a:ln>
            <a:noFill/>
          </a:ln>
          <a:effectLst/>
        </p:spPr>
        <p:txBody>
          <a:bodyPr rtlCol="0" anchor="ctr"/>
          <a:lstStyle/>
          <a:p>
            <a:pPr algn="ctr"/>
          </a:p>
        </p:txBody>
      </p:sp>
      <p:sp>
        <p:nvSpPr>
          <p:cNvPr id="12" name="Oval 11"/>
          <p:cNvSpPr/>
          <p:nvPr/>
        </p:nvSpPr>
        <p:spPr>
          <a:xfrm>
            <a:off x="8686800" y="2606040"/>
            <a:ext cx="457200" cy="457200"/>
          </a:xfrm>
          <a:prstGeom prst="ellipse">
            <a:avLst/>
          </a:prstGeom>
          <a:solidFill>
            <a:srgbClr val="1E3A8A"/>
          </a:solidFill>
          <a:ln>
            <a:noFill/>
          </a:ln>
          <a:effectLst/>
        </p:spPr>
        <p:txBody>
          <a:bodyPr rtlCol="0" anchor="ctr"/>
          <a:lstStyle/>
          <a:p>
            <a:pPr algn="ctr"/>
          </a:p>
        </p:txBody>
      </p:sp>
      <p:sp>
        <p:nvSpPr>
          <p:cNvPr id="13" name="Oval 12"/>
          <p:cNvSpPr/>
          <p:nvPr/>
        </p:nvSpPr>
        <p:spPr>
          <a:xfrm>
            <a:off x="9464040" y="2606040"/>
            <a:ext cx="457200" cy="457200"/>
          </a:xfrm>
          <a:prstGeom prst="ellipse">
            <a:avLst/>
          </a:prstGeom>
          <a:solidFill>
            <a:srgbClr val="7C3AED"/>
          </a:solidFill>
          <a:ln>
            <a:noFill/>
          </a:ln>
          <a:effectLst/>
        </p:spPr>
        <p:txBody>
          <a:bodyPr rtlCol="0" anchor="ctr"/>
          <a:lstStyle/>
          <a:p>
            <a:pPr algn="ctr"/>
          </a:p>
        </p:txBody>
      </p:sp>
      <p:sp>
        <p:nvSpPr>
          <p:cNvPr id="14" name="Oval 13"/>
          <p:cNvSpPr/>
          <p:nvPr/>
        </p:nvSpPr>
        <p:spPr>
          <a:xfrm>
            <a:off x="10241280" y="2606040"/>
            <a:ext cx="457200" cy="457200"/>
          </a:xfrm>
          <a:prstGeom prst="ellipse">
            <a:avLst/>
          </a:prstGeom>
          <a:solidFill>
            <a:srgbClr val="DB2777"/>
          </a:solidFill>
          <a:ln>
            <a:noFill/>
          </a:ln>
          <a:effectLst/>
        </p:spPr>
        <p:txBody>
          <a:bodyPr rtlCol="0" anchor="ctr"/>
          <a:lstStyle/>
          <a:p>
            <a:pPr algn="ctr"/>
          </a:p>
        </p:txBody>
      </p:sp>
      <p:sp>
        <p:nvSpPr>
          <p:cNvPr id="15" name="Oval 14"/>
          <p:cNvSpPr/>
          <p:nvPr/>
        </p:nvSpPr>
        <p:spPr>
          <a:xfrm>
            <a:off x="11018520" y="2606040"/>
            <a:ext cx="457200" cy="457200"/>
          </a:xfrm>
          <a:prstGeom prst="ellipse">
            <a:avLst/>
          </a:prstGeom>
          <a:solidFill>
            <a:srgbClr val="1E3A8A"/>
          </a:solidFill>
          <a:ln>
            <a:noFill/>
          </a:ln>
          <a:effectLst/>
        </p:spPr>
        <p:txBody>
          <a:bodyPr rtlCol="0" anchor="ctr"/>
          <a:lstStyle/>
          <a:p>
            <a:pPr algn="ctr"/>
          </a:p>
        </p:txBody>
      </p:sp>
      <p:sp>
        <p:nvSpPr>
          <p:cNvPr id="16" name="Oval 15"/>
          <p:cNvSpPr/>
          <p:nvPr/>
        </p:nvSpPr>
        <p:spPr>
          <a:xfrm>
            <a:off x="8686800" y="3383280"/>
            <a:ext cx="457200" cy="457200"/>
          </a:xfrm>
          <a:prstGeom prst="ellipse">
            <a:avLst/>
          </a:prstGeom>
          <a:solidFill>
            <a:srgbClr val="475569"/>
          </a:solidFill>
          <a:ln>
            <a:noFill/>
          </a:ln>
          <a:effectLst/>
        </p:spPr>
        <p:txBody>
          <a:bodyPr rtlCol="0" anchor="ctr"/>
          <a:lstStyle/>
          <a:p>
            <a:pPr algn="ctr"/>
          </a:p>
        </p:txBody>
      </p:sp>
      <p:sp>
        <p:nvSpPr>
          <p:cNvPr id="17" name="Oval 16"/>
          <p:cNvSpPr/>
          <p:nvPr/>
        </p:nvSpPr>
        <p:spPr>
          <a:xfrm>
            <a:off x="9464040" y="3383280"/>
            <a:ext cx="457200" cy="457200"/>
          </a:xfrm>
          <a:prstGeom prst="ellipse">
            <a:avLst/>
          </a:prstGeom>
          <a:solidFill>
            <a:srgbClr val="0F766E"/>
          </a:solidFill>
          <a:ln>
            <a:noFill/>
          </a:ln>
          <a:effectLst/>
        </p:spPr>
        <p:txBody>
          <a:bodyPr rtlCol="0" anchor="ctr"/>
          <a:lstStyle/>
          <a:p>
            <a:pPr algn="ctr"/>
          </a:p>
        </p:txBody>
      </p:sp>
      <p:sp>
        <p:nvSpPr>
          <p:cNvPr id="18" name="Oval 17"/>
          <p:cNvSpPr/>
          <p:nvPr/>
        </p:nvSpPr>
        <p:spPr>
          <a:xfrm>
            <a:off x="10241280" y="3383280"/>
            <a:ext cx="457200" cy="457200"/>
          </a:xfrm>
          <a:prstGeom prst="ellipse">
            <a:avLst/>
          </a:prstGeom>
          <a:solidFill>
            <a:srgbClr val="2563EB"/>
          </a:solidFill>
          <a:ln>
            <a:noFill/>
          </a:ln>
          <a:effectLst/>
        </p:spPr>
        <p:txBody>
          <a:bodyPr rtlCol="0" anchor="ctr"/>
          <a:lstStyle/>
          <a:p>
            <a:pPr algn="ctr"/>
          </a:p>
        </p:txBody>
      </p:sp>
      <p:sp>
        <p:nvSpPr>
          <p:cNvPr id="19" name="Oval 18"/>
          <p:cNvSpPr/>
          <p:nvPr/>
        </p:nvSpPr>
        <p:spPr>
          <a:xfrm>
            <a:off x="11018520" y="3383280"/>
            <a:ext cx="457200" cy="457200"/>
          </a:xfrm>
          <a:prstGeom prst="ellipse">
            <a:avLst/>
          </a:prstGeom>
          <a:solidFill>
            <a:srgbClr val="475569"/>
          </a:solidFill>
          <a:ln>
            <a:noFill/>
          </a:ln>
          <a:effectLst/>
        </p:spPr>
        <p:txBody>
          <a:bodyPr rtlCol="0" anchor="ctr"/>
          <a:lstStyle/>
          <a:p>
            <a:pPr algn="ctr"/>
          </a:p>
        </p:txBody>
      </p:sp>
      <p:sp>
        <p:nvSpPr>
          <p:cNvPr id="20" name="Oval 19"/>
          <p:cNvSpPr/>
          <p:nvPr/>
        </p:nvSpPr>
        <p:spPr>
          <a:xfrm>
            <a:off x="8686800" y="4160520"/>
            <a:ext cx="457200" cy="457200"/>
          </a:xfrm>
          <a:prstGeom prst="ellipse">
            <a:avLst/>
          </a:prstGeom>
          <a:solidFill>
            <a:srgbClr val="D97706"/>
          </a:solidFill>
          <a:ln>
            <a:noFill/>
          </a:ln>
          <a:effectLst/>
        </p:spPr>
        <p:txBody>
          <a:bodyPr rtlCol="0" anchor="ctr"/>
          <a:lstStyle/>
          <a:p>
            <a:pPr algn="ctr"/>
          </a:p>
        </p:txBody>
      </p:sp>
      <p:sp>
        <p:nvSpPr>
          <p:cNvPr id="21" name="Oval 20"/>
          <p:cNvSpPr/>
          <p:nvPr/>
        </p:nvSpPr>
        <p:spPr>
          <a:xfrm>
            <a:off x="9464040" y="4160520"/>
            <a:ext cx="457200" cy="457200"/>
          </a:xfrm>
          <a:prstGeom prst="ellipse">
            <a:avLst/>
          </a:prstGeom>
          <a:solidFill>
            <a:srgbClr val="059669"/>
          </a:solidFill>
          <a:ln>
            <a:noFill/>
          </a:ln>
          <a:effectLst/>
        </p:spPr>
        <p:txBody>
          <a:bodyPr rtlCol="0" anchor="ctr"/>
          <a:lstStyle/>
          <a:p>
            <a:pPr algn="ctr"/>
          </a:p>
        </p:txBody>
      </p:sp>
      <p:sp>
        <p:nvSpPr>
          <p:cNvPr id="22" name="Oval 21"/>
          <p:cNvSpPr/>
          <p:nvPr/>
        </p:nvSpPr>
        <p:spPr>
          <a:xfrm>
            <a:off x="10241280" y="4160520"/>
            <a:ext cx="457200" cy="457200"/>
          </a:xfrm>
          <a:prstGeom prst="ellipse">
            <a:avLst/>
          </a:prstGeom>
          <a:solidFill>
            <a:srgbClr val="B45309"/>
          </a:solidFill>
          <a:ln>
            <a:noFill/>
          </a:ln>
          <a:effectLst/>
        </p:spPr>
        <p:txBody>
          <a:bodyPr rtlCol="0" anchor="ctr"/>
          <a:lstStyle/>
          <a:p>
            <a:pPr algn="ctr"/>
          </a:p>
        </p:txBody>
      </p:sp>
      <p:sp>
        <p:nvSpPr>
          <p:cNvPr id="23" name="Oval 22"/>
          <p:cNvSpPr/>
          <p:nvPr/>
        </p:nvSpPr>
        <p:spPr>
          <a:xfrm>
            <a:off x="11018520" y="4160520"/>
            <a:ext cx="457200" cy="457200"/>
          </a:xfrm>
          <a:prstGeom prst="ellipse">
            <a:avLst/>
          </a:prstGeom>
          <a:solidFill>
            <a:srgbClr val="D97706"/>
          </a:solidFill>
          <a:ln>
            <a:noFill/>
          </a:ln>
          <a:effectLst/>
        </p:spPr>
        <p:txBody>
          <a:bodyPr rtlCol="0" anchor="ctr"/>
          <a:lstStyle/>
          <a:p>
            <a:pPr algn="ctr"/>
          </a:p>
        </p:txBody>
      </p:sp>
      <p:sp>
        <p:nvSpPr>
          <p:cNvPr id="24" name="TextBox 23"/>
          <p:cNvSpPr txBox="1"/>
          <p:nvPr/>
        </p:nvSpPr>
        <p:spPr>
          <a:xfrm>
            <a:off x="8321040" y="5120640"/>
            <a:ext cx="3474720" cy="365760"/>
          </a:xfrm>
          <a:prstGeom prst="rect">
            <a:avLst/>
          </a:prstGeom>
          <a:noFill/>
          <a:effectLst/>
        </p:spPr>
        <p:txBody>
          <a:bodyPr wrap="none" lIns="0" tIns="0" rIns="0" bIns="0">
            <a:spAutoFit/>
          </a:bodyPr>
          <a:lstStyle/>
          <a:p>
            <a:pPr algn="ctr">
              <a:defRPr sz="1400">
                <a:solidFill>
                  <a:srgbClr val="64748B"/>
                </a:solidFill>
                <a:latin typeface="Calibri"/>
              </a:defRPr>
            </a:pPr>
            <a:r>
              <a:t>4×4 grid topology (9 slots)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a:effectLst/>
        </p:spPr>
        <p:txBody>
          <a:bodyPr rtlCol="0" anchor="ctr"/>
          <a:lstStyle/>
          <a:p>
            <a:pPr algn="ctr"/>
          </a:p>
        </p:txBody>
      </p:sp>
      <p:sp>
        <p:nvSpPr>
          <p:cNvPr id="3" name="TextBox 2"/>
          <p:cNvSpPr txBox="1"/>
          <p:nvPr/>
        </p:nvSpPr>
        <p:spPr>
          <a:xfrm>
            <a:off x="914400" y="502920"/>
            <a:ext cx="10362895" cy="594360"/>
          </a:xfrm>
          <a:prstGeom prst="rect">
            <a:avLst/>
          </a:prstGeom>
          <a:noFill/>
          <a:effectLst/>
        </p:spPr>
        <p:txBody>
          <a:bodyPr wrap="square" lIns="0" tIns="0" rIns="0" bIns="0">
            <a:spAutoFit/>
          </a:bodyPr>
          <a:lstStyle/>
          <a:p>
            <a:pPr>
              <a:defRPr sz="3200" b="1">
                <a:solidFill>
                  <a:srgbClr val="1B1F2A"/>
                </a:solidFill>
                <a:latin typeface="Georgia"/>
              </a:defRPr>
            </a:pPr>
            <a:r>
              <a:t>Why two radios can't talk at once</a:t>
            </a:r>
          </a:p>
        </p:txBody>
      </p:sp>
      <p:sp>
        <p:nvSpPr>
          <p:cNvPr id="4" name="Rectangle 3"/>
          <p:cNvSpPr/>
          <p:nvPr/>
        </p:nvSpPr>
        <p:spPr>
          <a:xfrm>
            <a:off x="914400" y="1170432"/>
            <a:ext cx="10362895" cy="12700"/>
          </a:xfrm>
          <a:prstGeom prst="rect">
            <a:avLst/>
          </a:prstGeom>
          <a:solidFill>
            <a:srgbClr val="CBD5E1"/>
          </a:solidFill>
          <a:ln>
            <a:noFill/>
          </a:ln>
          <a:effectLst/>
        </p:spPr>
        <p:txBody>
          <a:bodyPr rtlCol="0" anchor="ctr"/>
          <a:lstStyle/>
          <a:p>
            <a:pPr algn="ctr"/>
          </a:p>
        </p:txBody>
      </p:sp>
      <p:sp>
        <p:nvSpPr>
          <p:cNvPr id="5" name="TextBox 4"/>
          <p:cNvSpPr txBox="1"/>
          <p:nvPr/>
        </p:nvSpPr>
        <p:spPr>
          <a:xfrm>
            <a:off x="914400" y="1280160"/>
            <a:ext cx="10362895" cy="411480"/>
          </a:xfrm>
          <a:prstGeom prst="rect">
            <a:avLst/>
          </a:prstGeom>
          <a:noFill/>
          <a:effectLst/>
        </p:spPr>
        <p:txBody>
          <a:bodyPr wrap="square" lIns="0" tIns="0" rIns="0" bIns="0">
            <a:spAutoFit/>
          </a:bodyPr>
          <a:lstStyle/>
          <a:p>
            <a:pPr>
              <a:defRPr sz="2200">
                <a:solidFill>
                  <a:srgbClr val="1B1F2A"/>
                </a:solidFill>
                <a:latin typeface="Calibri"/>
              </a:defRPr>
            </a:pPr>
            <a:r>
              <a:t>A and C can't hear each other, but both reach B, so their signals collide there.</a:t>
            </a:r>
          </a:p>
        </p:txBody>
      </p:sp>
      <p:cxnSp>
        <p:nvCxnSpPr>
          <p:cNvPr id="6" name="Connector 5"/>
          <p:cNvCxnSpPr/>
          <p:nvPr/>
        </p:nvCxnSpPr>
        <p:spPr>
          <a:xfrm>
            <a:off x="3063240" y="3680460"/>
            <a:ext cx="2322576" cy="0"/>
          </a:xfrm>
          <a:prstGeom prst="line">
            <a:avLst/>
          </a:prstGeom>
          <a:ln w="44450">
            <a:solidFill>
              <a:srgbClr val="0F766E"/>
            </a:solidFill>
          </a:ln>
          <a:effectLst/>
        </p:spPr>
      </p:cxnSp>
      <p:cxnSp>
        <p:nvCxnSpPr>
          <p:cNvPr id="7" name="Connector 6"/>
          <p:cNvCxnSpPr/>
          <p:nvPr/>
        </p:nvCxnSpPr>
        <p:spPr>
          <a:xfrm flipH="1">
            <a:off x="6803136" y="3680460"/>
            <a:ext cx="2322576" cy="0"/>
          </a:xfrm>
          <a:prstGeom prst="line">
            <a:avLst/>
          </a:prstGeom>
          <a:ln w="44450">
            <a:solidFill>
              <a:srgbClr val="0F766E"/>
            </a:solidFill>
          </a:ln>
          <a:effectLst/>
        </p:spPr>
      </p:cxnSp>
      <p:sp>
        <p:nvSpPr>
          <p:cNvPr id="8" name="TextBox 7"/>
          <p:cNvSpPr txBox="1"/>
          <p:nvPr/>
        </p:nvSpPr>
        <p:spPr>
          <a:xfrm>
            <a:off x="3154680" y="2514600"/>
            <a:ext cx="2011680" cy="365760"/>
          </a:xfrm>
          <a:prstGeom prst="rect">
            <a:avLst/>
          </a:prstGeom>
          <a:noFill/>
          <a:effectLst/>
        </p:spPr>
        <p:txBody>
          <a:bodyPr wrap="none">
            <a:spAutoFit/>
          </a:bodyPr>
          <a:lstStyle/>
          <a:p>
            <a:pPr algn="ctr">
              <a:defRPr sz="2000" b="1">
                <a:solidFill>
                  <a:srgbClr val="0F766E"/>
                </a:solidFill>
                <a:latin typeface="Calibri"/>
              </a:defRPr>
            </a:pPr>
            <a:r>
              <a:t>d ≤ 500 m</a:t>
            </a:r>
          </a:p>
        </p:txBody>
      </p:sp>
      <p:sp>
        <p:nvSpPr>
          <p:cNvPr id="9" name="TextBox 8"/>
          <p:cNvSpPr txBox="1"/>
          <p:nvPr/>
        </p:nvSpPr>
        <p:spPr>
          <a:xfrm>
            <a:off x="6894576" y="2514600"/>
            <a:ext cx="2011680" cy="365760"/>
          </a:xfrm>
          <a:prstGeom prst="rect">
            <a:avLst/>
          </a:prstGeom>
          <a:noFill/>
          <a:effectLst/>
        </p:spPr>
        <p:txBody>
          <a:bodyPr wrap="none">
            <a:spAutoFit/>
          </a:bodyPr>
          <a:lstStyle/>
          <a:p>
            <a:pPr algn="ctr">
              <a:defRPr sz="2000" b="1">
                <a:solidFill>
                  <a:srgbClr val="0F766E"/>
                </a:solidFill>
                <a:latin typeface="Calibri"/>
              </a:defRPr>
            </a:pPr>
            <a:r>
              <a:t>d ≤ 500 m</a:t>
            </a:r>
          </a:p>
        </p:txBody>
      </p:sp>
      <p:cxnSp>
        <p:nvCxnSpPr>
          <p:cNvPr id="10" name="Connector 9"/>
          <p:cNvCxnSpPr/>
          <p:nvPr/>
        </p:nvCxnSpPr>
        <p:spPr>
          <a:xfrm>
            <a:off x="2354580" y="2194560"/>
            <a:ext cx="7479792" cy="0"/>
          </a:xfrm>
          <a:prstGeom prst="line">
            <a:avLst/>
          </a:prstGeom>
          <a:ln w="31750">
            <a:solidFill>
              <a:srgbClr val="D97706"/>
            </a:solidFill>
          </a:ln>
          <a:effectLst/>
        </p:spPr>
      </p:cxnSp>
      <p:sp>
        <p:nvSpPr>
          <p:cNvPr id="11" name="TextBox 10"/>
          <p:cNvSpPr txBox="1"/>
          <p:nvPr/>
        </p:nvSpPr>
        <p:spPr>
          <a:xfrm>
            <a:off x="4014216" y="1737360"/>
            <a:ext cx="4114800" cy="411480"/>
          </a:xfrm>
          <a:prstGeom prst="rect">
            <a:avLst/>
          </a:prstGeom>
          <a:noFill/>
          <a:effectLst/>
        </p:spPr>
        <p:txBody>
          <a:bodyPr wrap="none">
            <a:spAutoFit/>
          </a:bodyPr>
          <a:lstStyle/>
          <a:p>
            <a:pPr algn="ctr">
              <a:defRPr sz="2000" b="1">
                <a:solidFill>
                  <a:srgbClr val="D97706"/>
                </a:solidFill>
                <a:latin typeface="Calibri"/>
              </a:defRPr>
            </a:pPr>
            <a:r>
              <a:t>out of range (d &gt; 500 m)</a:t>
            </a:r>
          </a:p>
        </p:txBody>
      </p:sp>
      <p:sp>
        <p:nvSpPr>
          <p:cNvPr id="12" name="Oval 11"/>
          <p:cNvSpPr/>
          <p:nvPr/>
        </p:nvSpPr>
        <p:spPr>
          <a:xfrm>
            <a:off x="1645920" y="2971800"/>
            <a:ext cx="1417320" cy="1417320"/>
          </a:xfrm>
          <a:prstGeom prst="ellipse">
            <a:avLst/>
          </a:prstGeom>
          <a:solidFill>
            <a:srgbClr val="0F766E"/>
          </a:solidFill>
          <a:ln>
            <a:noFill/>
          </a:ln>
          <a:effectLst/>
        </p:spPr>
        <p:txBody>
          <a:bodyPr rtlCol="0" anchor="ctr"/>
          <a:lstStyle/>
          <a:p>
            <a:pPr algn="ctr">
              <a:defRPr sz="3200" b="1">
                <a:solidFill>
                  <a:srgbClr val="FFFFFF"/>
                </a:solidFill>
                <a:latin typeface="Georgia"/>
              </a:defRPr>
            </a:pPr>
            <a:r>
              <a:t>A</a:t>
            </a:r>
          </a:p>
        </p:txBody>
      </p:sp>
      <p:sp>
        <p:nvSpPr>
          <p:cNvPr id="13" name="TextBox 12"/>
          <p:cNvSpPr txBox="1"/>
          <p:nvPr/>
        </p:nvSpPr>
        <p:spPr>
          <a:xfrm>
            <a:off x="548640" y="4617720"/>
            <a:ext cx="3611880" cy="548640"/>
          </a:xfrm>
          <a:prstGeom prst="rect">
            <a:avLst/>
          </a:prstGeom>
          <a:noFill/>
          <a:effectLst/>
        </p:spPr>
        <p:txBody>
          <a:bodyPr wrap="square" lIns="0" tIns="0" rIns="0" bIns="0">
            <a:spAutoFit/>
          </a:bodyPr>
          <a:lstStyle/>
          <a:p>
            <a:pPr algn="ctr">
              <a:defRPr sz="2000" b="1">
                <a:solidFill>
                  <a:srgbClr val="1B1F2A"/>
                </a:solidFill>
                <a:latin typeface="Calibri"/>
              </a:defRPr>
            </a:pPr>
            <a:r>
              <a:t>Transmitter A</a:t>
            </a:r>
          </a:p>
        </p:txBody>
      </p:sp>
      <p:sp>
        <p:nvSpPr>
          <p:cNvPr id="14" name="Oval 13"/>
          <p:cNvSpPr/>
          <p:nvPr/>
        </p:nvSpPr>
        <p:spPr>
          <a:xfrm>
            <a:off x="5385816" y="2971800"/>
            <a:ext cx="1417320" cy="1417320"/>
          </a:xfrm>
          <a:prstGeom prst="ellipse">
            <a:avLst/>
          </a:prstGeom>
          <a:solidFill>
            <a:srgbClr val="1B1F2A"/>
          </a:solidFill>
          <a:ln>
            <a:noFill/>
          </a:ln>
          <a:effectLst/>
        </p:spPr>
        <p:txBody>
          <a:bodyPr rtlCol="0" anchor="ctr"/>
          <a:lstStyle/>
          <a:p>
            <a:pPr algn="ctr">
              <a:defRPr sz="3200" b="1">
                <a:solidFill>
                  <a:srgbClr val="FFFFFF"/>
                </a:solidFill>
                <a:latin typeface="Georgia"/>
              </a:defRPr>
            </a:pPr>
            <a:r>
              <a:t>B</a:t>
            </a:r>
          </a:p>
        </p:txBody>
      </p:sp>
      <p:sp>
        <p:nvSpPr>
          <p:cNvPr id="15" name="TextBox 14"/>
          <p:cNvSpPr txBox="1"/>
          <p:nvPr/>
        </p:nvSpPr>
        <p:spPr>
          <a:xfrm>
            <a:off x="4288536" y="4617720"/>
            <a:ext cx="3611880" cy="548640"/>
          </a:xfrm>
          <a:prstGeom prst="rect">
            <a:avLst/>
          </a:prstGeom>
          <a:noFill/>
          <a:effectLst/>
        </p:spPr>
        <p:txBody>
          <a:bodyPr wrap="square" lIns="0" tIns="0" rIns="0" bIns="0">
            <a:spAutoFit/>
          </a:bodyPr>
          <a:lstStyle/>
          <a:p>
            <a:pPr algn="ctr">
              <a:defRPr sz="2000" b="1">
                <a:solidFill>
                  <a:srgbClr val="D97706"/>
                </a:solidFill>
                <a:latin typeface="Calibri"/>
              </a:defRPr>
            </a:pPr>
            <a:r>
              <a:t>Shared receiver B (collision point)</a:t>
            </a:r>
          </a:p>
        </p:txBody>
      </p:sp>
      <p:sp>
        <p:nvSpPr>
          <p:cNvPr id="16" name="Oval 15"/>
          <p:cNvSpPr/>
          <p:nvPr/>
        </p:nvSpPr>
        <p:spPr>
          <a:xfrm>
            <a:off x="9125712" y="2971800"/>
            <a:ext cx="1417320" cy="1417320"/>
          </a:xfrm>
          <a:prstGeom prst="ellipse">
            <a:avLst/>
          </a:prstGeom>
          <a:solidFill>
            <a:srgbClr val="0F766E"/>
          </a:solidFill>
          <a:ln>
            <a:noFill/>
          </a:ln>
          <a:effectLst/>
        </p:spPr>
        <p:txBody>
          <a:bodyPr rtlCol="0" anchor="ctr"/>
          <a:lstStyle/>
          <a:p>
            <a:pPr algn="ctr">
              <a:defRPr sz="3200" b="1">
                <a:solidFill>
                  <a:srgbClr val="FFFFFF"/>
                </a:solidFill>
                <a:latin typeface="Georgia"/>
              </a:defRPr>
            </a:pPr>
            <a:r>
              <a:t>C</a:t>
            </a:r>
          </a:p>
        </p:txBody>
      </p:sp>
      <p:sp>
        <p:nvSpPr>
          <p:cNvPr id="17" name="TextBox 16"/>
          <p:cNvSpPr txBox="1"/>
          <p:nvPr/>
        </p:nvSpPr>
        <p:spPr>
          <a:xfrm>
            <a:off x="8028432" y="4617720"/>
            <a:ext cx="3611880" cy="548640"/>
          </a:xfrm>
          <a:prstGeom prst="rect">
            <a:avLst/>
          </a:prstGeom>
          <a:noFill/>
          <a:effectLst/>
        </p:spPr>
        <p:txBody>
          <a:bodyPr wrap="square" lIns="0" tIns="0" rIns="0" bIns="0">
            <a:spAutoFit/>
          </a:bodyPr>
          <a:lstStyle/>
          <a:p>
            <a:pPr algn="ctr">
              <a:defRPr sz="2000" b="1">
                <a:solidFill>
                  <a:srgbClr val="1B1F2A"/>
                </a:solidFill>
                <a:latin typeface="Calibri"/>
              </a:defRPr>
            </a:pPr>
            <a:r>
              <a:t>Transmitter C</a:t>
            </a:r>
          </a:p>
        </p:txBody>
      </p:sp>
      <p:sp>
        <p:nvSpPr>
          <p:cNvPr id="18" name="TextBox 17"/>
          <p:cNvSpPr txBox="1"/>
          <p:nvPr/>
        </p:nvSpPr>
        <p:spPr>
          <a:xfrm>
            <a:off x="914400" y="5532120"/>
            <a:ext cx="10362895" cy="548640"/>
          </a:xfrm>
          <a:prstGeom prst="rect">
            <a:avLst/>
          </a:prstGeom>
          <a:noFill/>
          <a:effectLst/>
        </p:spPr>
        <p:txBody>
          <a:bodyPr wrap="square" lIns="0" tIns="0" rIns="0" bIns="0">
            <a:spAutoFit/>
          </a:bodyPr>
          <a:lstStyle/>
          <a:p>
            <a:pPr>
              <a:defRPr sz="2000">
                <a:solidFill>
                  <a:srgbClr val="1B1F2A"/>
                </a:solidFill>
                <a:latin typeface="Calibri"/>
              </a:defRPr>
            </a:pPr>
            <a:r>
              <a:t>Radios 1 or 2 hops apart interfere and need different slots. Radios 3+ hops apart can share.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a:effectLst/>
        </p:spPr>
        <p:txBody>
          <a:bodyPr rtlCol="0" anchor="ctr"/>
          <a:lstStyle/>
          <a:p>
            <a:pPr algn="ctr"/>
          </a:p>
        </p:txBody>
      </p:sp>
      <p:sp>
        <p:nvSpPr>
          <p:cNvPr id="3" name="TextBox 2"/>
          <p:cNvSpPr txBox="1"/>
          <p:nvPr/>
        </p:nvSpPr>
        <p:spPr>
          <a:xfrm>
            <a:off x="914400" y="502920"/>
            <a:ext cx="10362895" cy="594360"/>
          </a:xfrm>
          <a:prstGeom prst="rect">
            <a:avLst/>
          </a:prstGeom>
          <a:noFill/>
          <a:effectLst/>
        </p:spPr>
        <p:txBody>
          <a:bodyPr wrap="square" lIns="0" tIns="0" rIns="0" bIns="0">
            <a:spAutoFit/>
          </a:bodyPr>
          <a:lstStyle/>
          <a:p>
            <a:pPr>
              <a:defRPr sz="3200" b="1">
                <a:solidFill>
                  <a:srgbClr val="1B1F2A"/>
                </a:solidFill>
                <a:latin typeface="Georgia"/>
              </a:defRPr>
            </a:pPr>
            <a:r>
              <a:t>My trick: square the graph</a:t>
            </a:r>
          </a:p>
        </p:txBody>
      </p:sp>
      <p:sp>
        <p:nvSpPr>
          <p:cNvPr id="4" name="Rectangle 3"/>
          <p:cNvSpPr/>
          <p:nvPr/>
        </p:nvSpPr>
        <p:spPr>
          <a:xfrm>
            <a:off x="914400" y="1170432"/>
            <a:ext cx="10362895" cy="12700"/>
          </a:xfrm>
          <a:prstGeom prst="rect">
            <a:avLst/>
          </a:prstGeom>
          <a:solidFill>
            <a:srgbClr val="CBD5E1"/>
          </a:solidFill>
          <a:ln>
            <a:noFill/>
          </a:ln>
          <a:effectLst/>
        </p:spPr>
        <p:txBody>
          <a:bodyPr rtlCol="0" anchor="ctr"/>
          <a:lstStyle/>
          <a:p>
            <a:pPr algn="ctr"/>
          </a:p>
        </p:txBody>
      </p:sp>
      <p:sp>
        <p:nvSpPr>
          <p:cNvPr id="5" name="TextBox 4"/>
          <p:cNvSpPr txBox="1"/>
          <p:nvPr/>
        </p:nvSpPr>
        <p:spPr>
          <a:xfrm>
            <a:off x="914400" y="1371600"/>
            <a:ext cx="10362895" cy="411480"/>
          </a:xfrm>
          <a:prstGeom prst="rect">
            <a:avLst/>
          </a:prstGeom>
          <a:noFill/>
          <a:effectLst/>
        </p:spPr>
        <p:txBody>
          <a:bodyPr wrap="square" lIns="0" tIns="0" rIns="0" bIns="0">
            <a:spAutoFit/>
          </a:bodyPr>
          <a:lstStyle/>
          <a:p>
            <a:pPr>
              <a:defRPr sz="2000">
                <a:solidFill>
                  <a:srgbClr val="1B1F2A"/>
                </a:solidFill>
                <a:latin typeface="Calibri"/>
              </a:defRPr>
            </a:pPr>
            <a:r>
              <a:t>Coloring G² produces a conflict-free schedule: pairs 3+ hops apart stay unconnected so they can share a slot.</a:t>
            </a:r>
          </a:p>
        </p:txBody>
      </p:sp>
      <p:sp>
        <p:nvSpPr>
          <p:cNvPr id="6" name="TextBox 5"/>
          <p:cNvSpPr txBox="1"/>
          <p:nvPr/>
        </p:nvSpPr>
        <p:spPr>
          <a:xfrm>
            <a:off x="594360" y="2121408"/>
            <a:ext cx="2606040" cy="411480"/>
          </a:xfrm>
          <a:prstGeom prst="rect">
            <a:avLst/>
          </a:prstGeom>
          <a:noFill/>
          <a:effectLst/>
        </p:spPr>
        <p:txBody>
          <a:bodyPr wrap="none" lIns="0" tIns="0" rIns="0" bIns="0">
            <a:spAutoFit/>
          </a:bodyPr>
          <a:lstStyle/>
          <a:p>
            <a:pPr>
              <a:defRPr sz="2000" b="1">
                <a:solidFill>
                  <a:srgbClr val="1B1F2A"/>
                </a:solidFill>
                <a:latin typeface="Georgia"/>
              </a:defRPr>
            </a:pPr>
            <a:r>
              <a:t>Physical graph G</a:t>
            </a:r>
          </a:p>
        </p:txBody>
      </p:sp>
      <p:cxnSp>
        <p:nvCxnSpPr>
          <p:cNvPr id="7" name="Connector 6"/>
          <p:cNvCxnSpPr/>
          <p:nvPr/>
        </p:nvCxnSpPr>
        <p:spPr>
          <a:xfrm>
            <a:off x="3718407" y="2331720"/>
            <a:ext cx="1188720" cy="0"/>
          </a:xfrm>
          <a:prstGeom prst="line">
            <a:avLst/>
          </a:prstGeom>
          <a:ln w="44450">
            <a:solidFill>
              <a:srgbClr val="0F766E"/>
            </a:solidFill>
          </a:ln>
          <a:effectLst/>
        </p:spPr>
      </p:cxnSp>
      <p:cxnSp>
        <p:nvCxnSpPr>
          <p:cNvPr id="8" name="Connector 7"/>
          <p:cNvCxnSpPr/>
          <p:nvPr/>
        </p:nvCxnSpPr>
        <p:spPr>
          <a:xfrm>
            <a:off x="4907127" y="2331720"/>
            <a:ext cx="1188720" cy="0"/>
          </a:xfrm>
          <a:prstGeom prst="line">
            <a:avLst/>
          </a:prstGeom>
          <a:ln w="44450">
            <a:solidFill>
              <a:srgbClr val="0F766E"/>
            </a:solidFill>
          </a:ln>
          <a:effectLst/>
        </p:spPr>
      </p:cxnSp>
      <p:cxnSp>
        <p:nvCxnSpPr>
          <p:cNvPr id="9" name="Connector 8"/>
          <p:cNvCxnSpPr/>
          <p:nvPr/>
        </p:nvCxnSpPr>
        <p:spPr>
          <a:xfrm>
            <a:off x="6095847" y="2331720"/>
            <a:ext cx="1188720" cy="0"/>
          </a:xfrm>
          <a:prstGeom prst="line">
            <a:avLst/>
          </a:prstGeom>
          <a:ln w="44450">
            <a:solidFill>
              <a:srgbClr val="0F766E"/>
            </a:solidFill>
          </a:ln>
          <a:effectLst/>
        </p:spPr>
      </p:cxnSp>
      <p:cxnSp>
        <p:nvCxnSpPr>
          <p:cNvPr id="10" name="Connector 9"/>
          <p:cNvCxnSpPr/>
          <p:nvPr/>
        </p:nvCxnSpPr>
        <p:spPr>
          <a:xfrm>
            <a:off x="7284567" y="2331720"/>
            <a:ext cx="1188720" cy="0"/>
          </a:xfrm>
          <a:prstGeom prst="line">
            <a:avLst/>
          </a:prstGeom>
          <a:ln w="44450">
            <a:solidFill>
              <a:srgbClr val="0F766E"/>
            </a:solidFill>
          </a:ln>
          <a:effectLst/>
        </p:spPr>
      </p:cxnSp>
      <p:sp>
        <p:nvSpPr>
          <p:cNvPr id="11" name="Oval 10"/>
          <p:cNvSpPr/>
          <p:nvPr/>
        </p:nvSpPr>
        <p:spPr>
          <a:xfrm>
            <a:off x="3352647" y="196596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1</a:t>
            </a:r>
          </a:p>
        </p:txBody>
      </p:sp>
      <p:sp>
        <p:nvSpPr>
          <p:cNvPr id="12" name="Oval 11"/>
          <p:cNvSpPr/>
          <p:nvPr/>
        </p:nvSpPr>
        <p:spPr>
          <a:xfrm>
            <a:off x="4541367" y="196596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2</a:t>
            </a:r>
          </a:p>
        </p:txBody>
      </p:sp>
      <p:sp>
        <p:nvSpPr>
          <p:cNvPr id="13" name="Oval 12"/>
          <p:cNvSpPr/>
          <p:nvPr/>
        </p:nvSpPr>
        <p:spPr>
          <a:xfrm>
            <a:off x="5730087" y="196596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3</a:t>
            </a:r>
          </a:p>
        </p:txBody>
      </p:sp>
      <p:sp>
        <p:nvSpPr>
          <p:cNvPr id="14" name="Oval 13"/>
          <p:cNvSpPr/>
          <p:nvPr/>
        </p:nvSpPr>
        <p:spPr>
          <a:xfrm>
            <a:off x="6918807" y="196596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4</a:t>
            </a:r>
          </a:p>
        </p:txBody>
      </p:sp>
      <p:sp>
        <p:nvSpPr>
          <p:cNvPr id="15" name="Oval 14"/>
          <p:cNvSpPr/>
          <p:nvPr/>
        </p:nvSpPr>
        <p:spPr>
          <a:xfrm>
            <a:off x="8107527" y="196596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5</a:t>
            </a:r>
          </a:p>
        </p:txBody>
      </p:sp>
      <p:sp>
        <p:nvSpPr>
          <p:cNvPr id="16" name="TextBox 15"/>
          <p:cNvSpPr txBox="1"/>
          <p:nvPr/>
        </p:nvSpPr>
        <p:spPr>
          <a:xfrm>
            <a:off x="3352647" y="2770632"/>
            <a:ext cx="5486400" cy="320040"/>
          </a:xfrm>
          <a:prstGeom prst="rect">
            <a:avLst/>
          </a:prstGeom>
          <a:noFill/>
          <a:effectLst/>
        </p:spPr>
        <p:txBody>
          <a:bodyPr wrap="none" lIns="0" tIns="0" rIns="0" bIns="0">
            <a:spAutoFit/>
          </a:bodyPr>
          <a:lstStyle/>
          <a:p>
            <a:pPr algn="ctr">
              <a:defRPr sz="1800">
                <a:solidFill>
                  <a:srgbClr val="64748B"/>
                </a:solidFill>
                <a:latin typeface="Calibri"/>
              </a:defRPr>
            </a:pPr>
            <a:r>
              <a:t>Edges where distance ≤ 500 m</a:t>
            </a:r>
          </a:p>
        </p:txBody>
      </p:sp>
      <p:sp>
        <p:nvSpPr>
          <p:cNvPr id="17" name="TextBox 16"/>
          <p:cNvSpPr txBox="1"/>
          <p:nvPr/>
        </p:nvSpPr>
        <p:spPr>
          <a:xfrm>
            <a:off x="3352647" y="3200400"/>
            <a:ext cx="5486400" cy="411480"/>
          </a:xfrm>
          <a:prstGeom prst="rect">
            <a:avLst/>
          </a:prstGeom>
          <a:noFill/>
          <a:effectLst/>
        </p:spPr>
        <p:txBody>
          <a:bodyPr wrap="none" lIns="0" tIns="0" rIns="0" bIns="0">
            <a:spAutoFit/>
          </a:bodyPr>
          <a:lstStyle/>
          <a:p>
            <a:pPr algn="ctr">
              <a:defRPr sz="2200" b="1">
                <a:solidFill>
                  <a:srgbClr val="D97706"/>
                </a:solidFill>
                <a:latin typeface="Georgia"/>
              </a:defRPr>
            </a:pPr>
            <a:r>
              <a:t>↓   Square it</a:t>
            </a:r>
          </a:p>
        </p:txBody>
      </p:sp>
      <p:sp>
        <p:nvSpPr>
          <p:cNvPr id="18" name="TextBox 17"/>
          <p:cNvSpPr txBox="1"/>
          <p:nvPr/>
        </p:nvSpPr>
        <p:spPr>
          <a:xfrm>
            <a:off x="594360" y="4590288"/>
            <a:ext cx="2606040" cy="411480"/>
          </a:xfrm>
          <a:prstGeom prst="rect">
            <a:avLst/>
          </a:prstGeom>
          <a:noFill/>
          <a:effectLst/>
        </p:spPr>
        <p:txBody>
          <a:bodyPr wrap="none" lIns="0" tIns="0" rIns="0" bIns="0">
            <a:spAutoFit/>
          </a:bodyPr>
          <a:lstStyle/>
          <a:p>
            <a:pPr>
              <a:defRPr sz="2000" b="1">
                <a:solidFill>
                  <a:srgbClr val="1B1F2A"/>
                </a:solidFill>
                <a:latin typeface="Georgia"/>
              </a:defRPr>
            </a:pPr>
            <a:r>
              <a:t>Conflict graph G²</a:t>
            </a:r>
          </a:p>
        </p:txBody>
      </p:sp>
      <p:cxnSp>
        <p:nvCxnSpPr>
          <p:cNvPr id="19" name="Connector 18"/>
          <p:cNvCxnSpPr/>
          <p:nvPr/>
        </p:nvCxnSpPr>
        <p:spPr>
          <a:xfrm>
            <a:off x="3718407" y="4800600"/>
            <a:ext cx="1188720" cy="0"/>
          </a:xfrm>
          <a:prstGeom prst="line">
            <a:avLst/>
          </a:prstGeom>
          <a:ln w="44450">
            <a:solidFill>
              <a:srgbClr val="0F766E"/>
            </a:solidFill>
          </a:ln>
          <a:effectLst/>
        </p:spPr>
      </p:cxnSp>
      <p:cxnSp>
        <p:nvCxnSpPr>
          <p:cNvPr id="20" name="Connector 19"/>
          <p:cNvCxnSpPr/>
          <p:nvPr/>
        </p:nvCxnSpPr>
        <p:spPr>
          <a:xfrm>
            <a:off x="4907127" y="4800600"/>
            <a:ext cx="1188720" cy="0"/>
          </a:xfrm>
          <a:prstGeom prst="line">
            <a:avLst/>
          </a:prstGeom>
          <a:ln w="44450">
            <a:solidFill>
              <a:srgbClr val="0F766E"/>
            </a:solidFill>
          </a:ln>
          <a:effectLst/>
        </p:spPr>
      </p:cxnSp>
      <p:cxnSp>
        <p:nvCxnSpPr>
          <p:cNvPr id="21" name="Connector 20"/>
          <p:cNvCxnSpPr/>
          <p:nvPr/>
        </p:nvCxnSpPr>
        <p:spPr>
          <a:xfrm>
            <a:off x="6095847" y="4800600"/>
            <a:ext cx="1188720" cy="0"/>
          </a:xfrm>
          <a:prstGeom prst="line">
            <a:avLst/>
          </a:prstGeom>
          <a:ln w="44450">
            <a:solidFill>
              <a:srgbClr val="0F766E"/>
            </a:solidFill>
          </a:ln>
          <a:effectLst/>
        </p:spPr>
      </p:cxnSp>
      <p:cxnSp>
        <p:nvCxnSpPr>
          <p:cNvPr id="22" name="Connector 21"/>
          <p:cNvCxnSpPr/>
          <p:nvPr/>
        </p:nvCxnSpPr>
        <p:spPr>
          <a:xfrm>
            <a:off x="7284567" y="4800600"/>
            <a:ext cx="1188720" cy="0"/>
          </a:xfrm>
          <a:prstGeom prst="line">
            <a:avLst/>
          </a:prstGeom>
          <a:ln w="44450">
            <a:solidFill>
              <a:srgbClr val="0F766E"/>
            </a:solidFill>
          </a:ln>
          <a:effectLst/>
        </p:spPr>
      </p:cxnSp>
      <p:cxnSp>
        <p:nvCxnSpPr>
          <p:cNvPr id="23" name="Connector 22"/>
          <p:cNvCxnSpPr/>
          <p:nvPr/>
        </p:nvCxnSpPr>
        <p:spPr>
          <a:xfrm flipV="1">
            <a:off x="3663543" y="4114800"/>
            <a:ext cx="0" cy="685800"/>
          </a:xfrm>
          <a:prstGeom prst="line">
            <a:avLst/>
          </a:prstGeom>
          <a:ln w="31750">
            <a:solidFill>
              <a:srgbClr val="D97706"/>
            </a:solidFill>
          </a:ln>
          <a:effectLst/>
        </p:spPr>
      </p:cxnSp>
      <p:cxnSp>
        <p:nvCxnSpPr>
          <p:cNvPr id="24" name="Connector 23"/>
          <p:cNvCxnSpPr/>
          <p:nvPr/>
        </p:nvCxnSpPr>
        <p:spPr>
          <a:xfrm>
            <a:off x="3663543" y="4114800"/>
            <a:ext cx="2377440" cy="0"/>
          </a:xfrm>
          <a:prstGeom prst="line">
            <a:avLst/>
          </a:prstGeom>
          <a:ln w="31750">
            <a:solidFill>
              <a:srgbClr val="D97706"/>
            </a:solidFill>
          </a:ln>
          <a:effectLst/>
        </p:spPr>
      </p:cxnSp>
      <p:cxnSp>
        <p:nvCxnSpPr>
          <p:cNvPr id="25" name="Connector 24"/>
          <p:cNvCxnSpPr/>
          <p:nvPr/>
        </p:nvCxnSpPr>
        <p:spPr>
          <a:xfrm>
            <a:off x="6040983" y="4114800"/>
            <a:ext cx="0" cy="685800"/>
          </a:xfrm>
          <a:prstGeom prst="line">
            <a:avLst/>
          </a:prstGeom>
          <a:ln w="31750">
            <a:solidFill>
              <a:srgbClr val="D97706"/>
            </a:solidFill>
          </a:ln>
          <a:effectLst/>
        </p:spPr>
      </p:cxnSp>
      <p:cxnSp>
        <p:nvCxnSpPr>
          <p:cNvPr id="26" name="Connector 25"/>
          <p:cNvCxnSpPr/>
          <p:nvPr/>
        </p:nvCxnSpPr>
        <p:spPr>
          <a:xfrm flipV="1">
            <a:off x="6150711" y="3977640"/>
            <a:ext cx="0" cy="822960"/>
          </a:xfrm>
          <a:prstGeom prst="line">
            <a:avLst/>
          </a:prstGeom>
          <a:ln w="31750">
            <a:solidFill>
              <a:srgbClr val="D97706"/>
            </a:solidFill>
          </a:ln>
          <a:effectLst/>
        </p:spPr>
      </p:cxnSp>
      <p:cxnSp>
        <p:nvCxnSpPr>
          <p:cNvPr id="27" name="Connector 26"/>
          <p:cNvCxnSpPr/>
          <p:nvPr/>
        </p:nvCxnSpPr>
        <p:spPr>
          <a:xfrm>
            <a:off x="6150711" y="3977640"/>
            <a:ext cx="2377440" cy="0"/>
          </a:xfrm>
          <a:prstGeom prst="line">
            <a:avLst/>
          </a:prstGeom>
          <a:ln w="31750">
            <a:solidFill>
              <a:srgbClr val="D97706"/>
            </a:solidFill>
          </a:ln>
          <a:effectLst/>
        </p:spPr>
      </p:cxnSp>
      <p:cxnSp>
        <p:nvCxnSpPr>
          <p:cNvPr id="28" name="Connector 27"/>
          <p:cNvCxnSpPr/>
          <p:nvPr/>
        </p:nvCxnSpPr>
        <p:spPr>
          <a:xfrm>
            <a:off x="8528151" y="3977640"/>
            <a:ext cx="0" cy="822960"/>
          </a:xfrm>
          <a:prstGeom prst="line">
            <a:avLst/>
          </a:prstGeom>
          <a:ln w="31750">
            <a:solidFill>
              <a:srgbClr val="D97706"/>
            </a:solidFill>
          </a:ln>
          <a:effectLst/>
        </p:spPr>
      </p:cxnSp>
      <p:cxnSp>
        <p:nvCxnSpPr>
          <p:cNvPr id="29" name="Connector 28"/>
          <p:cNvCxnSpPr/>
          <p:nvPr/>
        </p:nvCxnSpPr>
        <p:spPr>
          <a:xfrm flipV="1">
            <a:off x="4907127" y="3813048"/>
            <a:ext cx="0" cy="987552"/>
          </a:xfrm>
          <a:prstGeom prst="line">
            <a:avLst/>
          </a:prstGeom>
          <a:ln w="31750">
            <a:solidFill>
              <a:srgbClr val="D97706"/>
            </a:solidFill>
          </a:ln>
          <a:effectLst/>
        </p:spPr>
      </p:cxnSp>
      <p:cxnSp>
        <p:nvCxnSpPr>
          <p:cNvPr id="30" name="Connector 29"/>
          <p:cNvCxnSpPr/>
          <p:nvPr/>
        </p:nvCxnSpPr>
        <p:spPr>
          <a:xfrm>
            <a:off x="4907127" y="3813048"/>
            <a:ext cx="2377440" cy="0"/>
          </a:xfrm>
          <a:prstGeom prst="line">
            <a:avLst/>
          </a:prstGeom>
          <a:ln w="31750">
            <a:solidFill>
              <a:srgbClr val="D97706"/>
            </a:solidFill>
          </a:ln>
          <a:effectLst/>
        </p:spPr>
      </p:cxnSp>
      <p:cxnSp>
        <p:nvCxnSpPr>
          <p:cNvPr id="31" name="Connector 30"/>
          <p:cNvCxnSpPr/>
          <p:nvPr/>
        </p:nvCxnSpPr>
        <p:spPr>
          <a:xfrm>
            <a:off x="7284567" y="3813048"/>
            <a:ext cx="0" cy="987552"/>
          </a:xfrm>
          <a:prstGeom prst="line">
            <a:avLst/>
          </a:prstGeom>
          <a:ln w="31750">
            <a:solidFill>
              <a:srgbClr val="D97706"/>
            </a:solidFill>
          </a:ln>
          <a:effectLst/>
        </p:spPr>
      </p:cxnSp>
      <p:sp>
        <p:nvSpPr>
          <p:cNvPr id="32" name="Oval 31"/>
          <p:cNvSpPr/>
          <p:nvPr/>
        </p:nvSpPr>
        <p:spPr>
          <a:xfrm>
            <a:off x="3352647" y="443484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1</a:t>
            </a:r>
          </a:p>
        </p:txBody>
      </p:sp>
      <p:sp>
        <p:nvSpPr>
          <p:cNvPr id="33" name="Oval 32"/>
          <p:cNvSpPr/>
          <p:nvPr/>
        </p:nvSpPr>
        <p:spPr>
          <a:xfrm>
            <a:off x="4541367" y="443484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2</a:t>
            </a:r>
          </a:p>
        </p:txBody>
      </p:sp>
      <p:sp>
        <p:nvSpPr>
          <p:cNvPr id="34" name="Oval 33"/>
          <p:cNvSpPr/>
          <p:nvPr/>
        </p:nvSpPr>
        <p:spPr>
          <a:xfrm>
            <a:off x="5730087" y="443484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3</a:t>
            </a:r>
          </a:p>
        </p:txBody>
      </p:sp>
      <p:sp>
        <p:nvSpPr>
          <p:cNvPr id="35" name="Oval 34"/>
          <p:cNvSpPr/>
          <p:nvPr/>
        </p:nvSpPr>
        <p:spPr>
          <a:xfrm>
            <a:off x="6918807" y="443484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4</a:t>
            </a:r>
          </a:p>
        </p:txBody>
      </p:sp>
      <p:sp>
        <p:nvSpPr>
          <p:cNvPr id="36" name="Oval 35"/>
          <p:cNvSpPr/>
          <p:nvPr/>
        </p:nvSpPr>
        <p:spPr>
          <a:xfrm>
            <a:off x="8107527" y="4434840"/>
            <a:ext cx="731520" cy="731520"/>
          </a:xfrm>
          <a:prstGeom prst="ellipse">
            <a:avLst/>
          </a:prstGeom>
          <a:solidFill>
            <a:srgbClr val="0F766E"/>
          </a:solidFill>
          <a:ln>
            <a:noFill/>
          </a:ln>
          <a:effectLst/>
        </p:spPr>
        <p:txBody>
          <a:bodyPr rtlCol="0" anchor="ctr"/>
          <a:lstStyle/>
          <a:p>
            <a:pPr algn="ctr">
              <a:defRPr sz="2000" b="1">
                <a:solidFill>
                  <a:srgbClr val="FFFFFF"/>
                </a:solidFill>
                <a:latin typeface="Georgia"/>
              </a:defRPr>
            </a:pPr>
            <a:r>
              <a:t>5</a:t>
            </a:r>
          </a:p>
        </p:txBody>
      </p:sp>
      <p:sp>
        <p:nvSpPr>
          <p:cNvPr id="37" name="TextBox 36"/>
          <p:cNvSpPr txBox="1"/>
          <p:nvPr/>
        </p:nvSpPr>
        <p:spPr>
          <a:xfrm>
            <a:off x="3352647" y="5239512"/>
            <a:ext cx="5486400" cy="320040"/>
          </a:xfrm>
          <a:prstGeom prst="rect">
            <a:avLst/>
          </a:prstGeom>
          <a:noFill/>
          <a:effectLst/>
        </p:spPr>
        <p:txBody>
          <a:bodyPr wrap="none">
            <a:spAutoFit/>
          </a:bodyPr>
          <a:lstStyle/>
          <a:p>
            <a:pPr algn="ctr">
              <a:defRPr sz="1800">
                <a:solidFill>
                  <a:srgbClr val="64748B"/>
                </a:solidFill>
                <a:latin typeface="Calibri"/>
              </a:defRPr>
            </a:pPr>
            <a:r>
              <a:t>1-hop and 2-hop neighbours become adjacent</a:t>
            </a:r>
          </a:p>
        </p:txBody>
      </p:sp>
      <p:sp>
        <p:nvSpPr>
          <p:cNvPr id="38" name="TextBox 37"/>
          <p:cNvSpPr txBox="1"/>
          <p:nvPr/>
        </p:nvSpPr>
        <p:spPr>
          <a:xfrm>
            <a:off x="914400" y="5760720"/>
            <a:ext cx="10362895" cy="411480"/>
          </a:xfrm>
          <a:prstGeom prst="rect">
            <a:avLst/>
          </a:prstGeom>
          <a:noFill/>
          <a:effectLst/>
        </p:spPr>
        <p:txBody>
          <a:bodyPr wrap="square" lIns="0" tIns="0" rIns="0" bIns="0">
            <a:spAutoFit/>
          </a:bodyPr>
          <a:lstStyle/>
          <a:p>
            <a:pPr>
              <a:defRPr sz="2000">
                <a:solidFill>
                  <a:srgbClr val="1B1F2A"/>
                </a:solidFill>
                <a:latin typeface="Calibri"/>
              </a:defRPr>
            </a:pPr>
            <a:r>
              <a:t>Nodes 1 and 4 are 3 hops apart: no edge connects them in G², so they reuse the same slot.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a:effectLst/>
        </p:spPr>
        <p:txBody>
          <a:bodyPr rtlCol="0" anchor="ctr"/>
          <a:lstStyle/>
          <a:p>
            <a:pPr algn="ctr"/>
          </a:p>
        </p:txBody>
      </p:sp>
      <p:sp>
        <p:nvSpPr>
          <p:cNvPr id="3" name="TextBox 2"/>
          <p:cNvSpPr txBox="1"/>
          <p:nvPr/>
        </p:nvSpPr>
        <p:spPr>
          <a:xfrm>
            <a:off x="914400" y="502920"/>
            <a:ext cx="10362895" cy="594360"/>
          </a:xfrm>
          <a:prstGeom prst="rect">
            <a:avLst/>
          </a:prstGeom>
          <a:noFill/>
          <a:effectLst/>
        </p:spPr>
        <p:txBody>
          <a:bodyPr wrap="square" lIns="0" tIns="0" rIns="0" bIns="0">
            <a:spAutoFit/>
          </a:bodyPr>
          <a:lstStyle/>
          <a:p>
            <a:pPr>
              <a:defRPr sz="3200" b="1">
                <a:solidFill>
                  <a:srgbClr val="1B1F2A"/>
                </a:solidFill>
                <a:latin typeface="Georgia"/>
              </a:defRPr>
            </a:pPr>
            <a:r>
              <a:t>What I tried, in order</a:t>
            </a:r>
          </a:p>
        </p:txBody>
      </p:sp>
      <p:sp>
        <p:nvSpPr>
          <p:cNvPr id="4" name="Rectangle 3"/>
          <p:cNvSpPr/>
          <p:nvPr/>
        </p:nvSpPr>
        <p:spPr>
          <a:xfrm>
            <a:off x="914400" y="1170432"/>
            <a:ext cx="10362895" cy="12700"/>
          </a:xfrm>
          <a:prstGeom prst="rect">
            <a:avLst/>
          </a:prstGeom>
          <a:solidFill>
            <a:srgbClr val="CBD5E1"/>
          </a:solidFill>
          <a:ln>
            <a:noFill/>
          </a:ln>
          <a:effectLst/>
        </p:spPr>
        <p:txBody>
          <a:bodyPr rtlCol="0" anchor="ctr"/>
          <a:lstStyle/>
          <a:p>
            <a:pPr algn="ctr"/>
          </a:p>
        </p:txBody>
      </p:sp>
      <p:graphicFrame>
        <p:nvGraphicFramePr>
          <p:cNvPr id="5" name="Table 4"/>
          <p:cNvGraphicFramePr>
            <a:graphicFrameLocks noGrp="1"/>
          </p:cNvGraphicFramePr>
          <p:nvPr/>
        </p:nvGraphicFramePr>
        <p:xfrm>
          <a:off x="914400" y="1508760"/>
          <a:ext cx="10362895" cy="3840480"/>
        </p:xfrm>
        <a:graphic>
          <a:graphicData uri="http://schemas.openxmlformats.org/drawingml/2006/table">
            <a:tbl>
              <a:tblPr firstRow="1" bandRow="1">
                <a:tableStyleId>{5C22544A-7EE6-4342-B048-85BDC9FD1C3A}</a:tableStyleId>
                <a:effectLst/>
              </a:tblPr>
              <a:tblGrid>
                <a:gridCol w="4876495"/>
                <a:gridCol w="2743200"/>
                <a:gridCol w="2743200"/>
              </a:tblGrid>
              <a:tr h="548640">
                <a:tc>
                  <a:txBody>
                    <a:bodyPr/>
                    <a:lstStyle/>
                    <a:p>
                      <a:pPr algn="l">
                        <a:defRPr sz="2000" b="1">
                          <a:solidFill>
                            <a:srgbClr val="1B1F2A"/>
                          </a:solidFill>
                          <a:latin typeface="Georgia"/>
                        </a:defRPr>
                      </a:pPr>
                      <a:r>
                        <a:t>Method</a:t>
                      </a:r>
                    </a:p>
                  </a:txBody>
                  <a:tcPr>
                    <a:noFill/>
                  </a:tcPr>
                </a:tc>
                <a:tc>
                  <a:txBody>
                    <a:bodyPr/>
                    <a:lstStyle/>
                    <a:p>
                      <a:pPr algn="ctr">
                        <a:defRPr sz="2000" b="1">
                          <a:solidFill>
                            <a:srgbClr val="1B1F2A"/>
                          </a:solidFill>
                          <a:latin typeface="Georgia"/>
                        </a:defRPr>
                      </a:pPr>
                      <a:r>
                        <a:t>Slots on 4×4 grid</a:t>
                      </a:r>
                    </a:p>
                  </a:txBody>
                  <a:tcPr>
                    <a:noFill/>
                  </a:tcPr>
                </a:tc>
                <a:tc>
                  <a:txBody>
                    <a:bodyPr/>
                    <a:lstStyle/>
                    <a:p>
                      <a:pPr algn="ctr">
                        <a:defRPr sz="2000" b="1">
                          <a:solidFill>
                            <a:srgbClr val="1B1F2A"/>
                          </a:solidFill>
                          <a:latin typeface="Georgia"/>
                        </a:defRPr>
                      </a:pPr>
                      <a:r>
                        <a:t>Time</a:t>
                      </a:r>
                    </a:p>
                  </a:txBody>
                  <a:tcPr>
                    <a:noFill/>
                  </a:tcPr>
                </a:tc>
              </a:tr>
              <a:tr h="548640">
                <a:tc>
                  <a:txBody>
                    <a:bodyPr/>
                    <a:lstStyle/>
                    <a:p>
                      <a:pPr algn="l">
                        <a:defRPr sz="1800">
                          <a:solidFill>
                            <a:srgbClr val="1B1F2A"/>
                          </a:solidFill>
                          <a:latin typeface="Calibri"/>
                        </a:defRPr>
                      </a:pPr>
                      <a:r>
                        <a:t>Greedy by degree (Welsh-Powell)</a:t>
                      </a:r>
                    </a:p>
                  </a:txBody>
                  <a:tcPr>
                    <a:noFill/>
                  </a:tcPr>
                </a:tc>
                <a:tc>
                  <a:txBody>
                    <a:bodyPr/>
                    <a:lstStyle/>
                    <a:p>
                      <a:pPr algn="ctr">
                        <a:defRPr sz="1800" b="1">
                          <a:solidFill>
                            <a:srgbClr val="1B1F2A"/>
                          </a:solidFill>
                          <a:latin typeface="Calibri"/>
                        </a:defRPr>
                      </a:pPr>
                      <a:r>
                        <a:t>9</a:t>
                      </a:r>
                    </a:p>
                  </a:txBody>
                  <a:tcPr>
                    <a:noFill/>
                  </a:tcPr>
                </a:tc>
                <a:tc>
                  <a:txBody>
                    <a:bodyPr/>
                    <a:lstStyle/>
                    <a:p>
                      <a:pPr algn="ctr">
                        <a:defRPr sz="1800">
                          <a:solidFill>
                            <a:srgbClr val="1B1F2A"/>
                          </a:solidFill>
                          <a:latin typeface="Calibri"/>
                        </a:defRPr>
                      </a:pPr>
                      <a:r>
                        <a:t>0.06 ms</a:t>
                      </a:r>
                    </a:p>
                  </a:txBody>
                  <a:tcPr>
                    <a:noFill/>
                  </a:tcPr>
                </a:tc>
              </a:tr>
              <a:tr h="548640">
                <a:tc>
                  <a:txBody>
                    <a:bodyPr/>
                    <a:lstStyle/>
                    <a:p>
                      <a:pPr algn="l">
                        <a:defRPr sz="1800">
                          <a:solidFill>
                            <a:srgbClr val="1B1F2A"/>
                          </a:solidFill>
                          <a:latin typeface="Calibri"/>
                        </a:defRPr>
                      </a:pPr>
                      <a:r>
                        <a:t>DSATUR (Saturation greedy)</a:t>
                      </a:r>
                    </a:p>
                  </a:txBody>
                  <a:tcPr>
                    <a:noFill/>
                  </a:tcPr>
                </a:tc>
                <a:tc>
                  <a:txBody>
                    <a:bodyPr/>
                    <a:lstStyle/>
                    <a:p>
                      <a:pPr algn="ctr">
                        <a:defRPr sz="1800" b="1">
                          <a:solidFill>
                            <a:srgbClr val="1B1F2A"/>
                          </a:solidFill>
                          <a:latin typeface="Calibri"/>
                        </a:defRPr>
                      </a:pPr>
                      <a:r>
                        <a:t>9</a:t>
                      </a:r>
                    </a:p>
                  </a:txBody>
                  <a:tcPr>
                    <a:noFill/>
                  </a:tcPr>
                </a:tc>
                <a:tc>
                  <a:txBody>
                    <a:bodyPr/>
                    <a:lstStyle/>
                    <a:p>
                      <a:pPr algn="ctr">
                        <a:defRPr sz="1800">
                          <a:solidFill>
                            <a:srgbClr val="1B1F2A"/>
                          </a:solidFill>
                          <a:latin typeface="Calibri"/>
                        </a:defRPr>
                      </a:pPr>
                      <a:r>
                        <a:t>0.16 ms</a:t>
                      </a:r>
                    </a:p>
                  </a:txBody>
                  <a:tcPr>
                    <a:noFill/>
                  </a:tcPr>
                </a:tc>
              </a:tr>
              <a:tr h="548640">
                <a:tc>
                  <a:txBody>
                    <a:bodyPr/>
                    <a:lstStyle/>
                    <a:p>
                      <a:pPr algn="l">
                        <a:defRPr sz="1800">
                          <a:solidFill>
                            <a:srgbClr val="1B1F2A"/>
                          </a:solidFill>
                          <a:latin typeface="Calibri"/>
                        </a:defRPr>
                      </a:pPr>
                      <a:r>
                        <a:t>Smallest-last (Degeneracy order)</a:t>
                      </a:r>
                    </a:p>
                  </a:txBody>
                  <a:tcPr>
                    <a:noFill/>
                  </a:tcPr>
                </a:tc>
                <a:tc>
                  <a:txBody>
                    <a:bodyPr/>
                    <a:lstStyle/>
                    <a:p>
                      <a:pPr algn="ctr">
                        <a:defRPr sz="1800" b="1">
                          <a:solidFill>
                            <a:srgbClr val="1B1F2A"/>
                          </a:solidFill>
                          <a:latin typeface="Calibri"/>
                        </a:defRPr>
                      </a:pPr>
                      <a:r>
                        <a:t>9</a:t>
                      </a:r>
                    </a:p>
                  </a:txBody>
                  <a:tcPr>
                    <a:noFill/>
                  </a:tcPr>
                </a:tc>
                <a:tc>
                  <a:txBody>
                    <a:bodyPr/>
                    <a:lstStyle/>
                    <a:p>
                      <a:pPr algn="ctr">
                        <a:defRPr sz="1800">
                          <a:solidFill>
                            <a:srgbClr val="1B1F2A"/>
                          </a:solidFill>
                          <a:latin typeface="Calibri"/>
                        </a:defRPr>
                      </a:pPr>
                      <a:r>
                        <a:t>0.12 ms</a:t>
                      </a:r>
                    </a:p>
                  </a:txBody>
                  <a:tcPr>
                    <a:noFill/>
                  </a:tcPr>
                </a:tc>
              </a:tr>
              <a:tr h="548640">
                <a:tc>
                  <a:txBody>
                    <a:bodyPr/>
                    <a:lstStyle/>
                    <a:p>
                      <a:pPr algn="l">
                        <a:defRPr sz="1800">
                          <a:solidFill>
                            <a:srgbClr val="1B1F2A"/>
                          </a:solidFill>
                          <a:latin typeface="Calibri"/>
                        </a:defRPr>
                      </a:pPr>
                      <a:r>
                        <a:t>1000 random restarts</a:t>
                      </a:r>
                    </a:p>
                  </a:txBody>
                  <a:tcPr>
                    <a:noFill/>
                  </a:tcPr>
                </a:tc>
                <a:tc>
                  <a:txBody>
                    <a:bodyPr/>
                    <a:lstStyle/>
                    <a:p>
                      <a:pPr algn="ctr">
                        <a:defRPr sz="1800" b="1">
                          <a:solidFill>
                            <a:srgbClr val="1B1F2A"/>
                          </a:solidFill>
                          <a:latin typeface="Calibri"/>
                        </a:defRPr>
                      </a:pPr>
                      <a:r>
                        <a:t>9</a:t>
                      </a:r>
                    </a:p>
                  </a:txBody>
                  <a:tcPr>
                    <a:noFill/>
                  </a:tcPr>
                </a:tc>
                <a:tc>
                  <a:txBody>
                    <a:bodyPr/>
                    <a:lstStyle/>
                    <a:p>
                      <a:pPr algn="ctr">
                        <a:defRPr sz="1800">
                          <a:solidFill>
                            <a:srgbClr val="1B1F2A"/>
                          </a:solidFill>
                          <a:latin typeface="Calibri"/>
                        </a:defRPr>
                      </a:pPr>
                      <a:r>
                        <a:t>26.3 ms</a:t>
                      </a:r>
                    </a:p>
                  </a:txBody>
                  <a:tcPr>
                    <a:noFill/>
                  </a:tcPr>
                </a:tc>
              </a:tr>
              <a:tr h="548640">
                <a:tc>
                  <a:txBody>
                    <a:bodyPr/>
                    <a:lstStyle/>
                    <a:p>
                      <a:pPr algn="l">
                        <a:defRPr sz="1800">
                          <a:solidFill>
                            <a:srgbClr val="1B1F2A"/>
                          </a:solidFill>
                          <a:latin typeface="Calibri"/>
                        </a:defRPr>
                      </a:pPr>
                      <a:r>
                        <a:t>Local search with Kempe swaps</a:t>
                      </a:r>
                    </a:p>
                  </a:txBody>
                  <a:tcPr>
                    <a:noFill/>
                  </a:tcPr>
                </a:tc>
                <a:tc>
                  <a:txBody>
                    <a:bodyPr/>
                    <a:lstStyle/>
                    <a:p>
                      <a:pPr algn="ctr">
                        <a:defRPr sz="1800" b="1">
                          <a:solidFill>
                            <a:srgbClr val="1B1F2A"/>
                          </a:solidFill>
                          <a:latin typeface="Calibri"/>
                        </a:defRPr>
                      </a:pPr>
                      <a:r>
                        <a:t>9</a:t>
                      </a:r>
                    </a:p>
                  </a:txBody>
                  <a:tcPr>
                    <a:noFill/>
                  </a:tcPr>
                </a:tc>
                <a:tc>
                  <a:txBody>
                    <a:bodyPr/>
                    <a:lstStyle/>
                    <a:p>
                      <a:pPr algn="ctr">
                        <a:defRPr sz="1800">
                          <a:solidFill>
                            <a:srgbClr val="1B1F2A"/>
                          </a:solidFill>
                          <a:latin typeface="Calibri"/>
                        </a:defRPr>
                      </a:pPr>
                      <a:r>
                        <a:t>60.2 ms</a:t>
                      </a:r>
                    </a:p>
                  </a:txBody>
                  <a:tcPr>
                    <a:noFill/>
                  </a:tcPr>
                </a:tc>
              </a:tr>
              <a:tr h="548640">
                <a:tc>
                  <a:txBody>
                    <a:bodyPr/>
                    <a:lstStyle/>
                    <a:p>
                      <a:pPr algn="l">
                        <a:defRPr sz="1800">
                          <a:solidFill>
                            <a:srgbClr val="1B1F2A"/>
                          </a:solidFill>
                          <a:latin typeface="Calibri"/>
                        </a:defRPr>
                      </a:pPr>
                      <a:r>
                        <a:t>Exact solver (CP-SAT)</a:t>
                      </a:r>
                    </a:p>
                  </a:txBody>
                  <a:tcPr>
                    <a:noFill/>
                  </a:tcPr>
                </a:tc>
                <a:tc>
                  <a:txBody>
                    <a:bodyPr/>
                    <a:lstStyle/>
                    <a:p>
                      <a:pPr algn="ctr">
                        <a:defRPr sz="1800" b="1">
                          <a:solidFill>
                            <a:srgbClr val="1B1F2A"/>
                          </a:solidFill>
                          <a:latin typeface="Calibri"/>
                        </a:defRPr>
                      </a:pPr>
                      <a:r>
                        <a:t>9</a:t>
                      </a:r>
                    </a:p>
                  </a:txBody>
                  <a:tcPr>
                    <a:noFill/>
                  </a:tcPr>
                </a:tc>
                <a:tc>
                  <a:txBody>
                    <a:bodyPr/>
                    <a:lstStyle/>
                    <a:p>
                      <a:pPr algn="ctr">
                        <a:defRPr sz="1800">
                          <a:solidFill>
                            <a:srgbClr val="1B1F2A"/>
                          </a:solidFill>
                          <a:latin typeface="Calibri"/>
                        </a:defRPr>
                      </a:pPr>
                      <a:r>
                        <a:t>0.57 ms</a:t>
                      </a:r>
                    </a:p>
                  </a:txBody>
                  <a:tcPr>
                    <a:noFill/>
                  </a:tcPr>
                </a:tc>
              </a:tr>
            </a:tbl>
          </a:graphicData>
        </a:graphic>
      </p:graphicFrame>
      <p:sp>
        <p:nvSpPr>
          <p:cNvPr id="6" name="TextBox 5"/>
          <p:cNvSpPr txBox="1"/>
          <p:nvPr/>
        </p:nvSpPr>
        <p:spPr>
          <a:xfrm>
            <a:off x="914400" y="5760720"/>
            <a:ext cx="10362895" cy="411480"/>
          </a:xfrm>
          <a:prstGeom prst="rect">
            <a:avLst/>
          </a:prstGeom>
          <a:noFill/>
          <a:effectLst/>
        </p:spPr>
        <p:txBody>
          <a:bodyPr wrap="square" lIns="0" tIns="0" rIns="0" bIns="0">
            <a:spAutoFit/>
          </a:bodyPr>
          <a:lstStyle/>
          <a:p>
            <a:pPr>
              <a:defRPr sz="2000">
                <a:solidFill>
                  <a:srgbClr val="1B1F2A"/>
                </a:solidFill>
                <a:latin typeface="Calibri"/>
              </a:defRPr>
            </a:pPr>
            <a:r>
              <a:t>All five reached 9, so I added an exact solver to find out whether 9 is the best possible.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a:effectLst/>
        </p:spPr>
        <p:txBody>
          <a:bodyPr rtlCol="0" anchor="ctr"/>
          <a:lstStyle/>
          <a:p>
            <a:pPr algn="ctr"/>
          </a:p>
        </p:txBody>
      </p:sp>
      <p:sp>
        <p:nvSpPr>
          <p:cNvPr id="3" name="TextBox 2"/>
          <p:cNvSpPr txBox="1"/>
          <p:nvPr/>
        </p:nvSpPr>
        <p:spPr>
          <a:xfrm>
            <a:off x="914400" y="502920"/>
            <a:ext cx="10362895" cy="594360"/>
          </a:xfrm>
          <a:prstGeom prst="rect">
            <a:avLst/>
          </a:prstGeom>
          <a:noFill/>
          <a:effectLst/>
        </p:spPr>
        <p:txBody>
          <a:bodyPr wrap="square" lIns="0" tIns="0" rIns="0" bIns="0">
            <a:spAutoFit/>
          </a:bodyPr>
          <a:lstStyle/>
          <a:p>
            <a:pPr>
              <a:defRPr sz="3200" b="1">
                <a:solidFill>
                  <a:srgbClr val="1B1F2A"/>
                </a:solidFill>
                <a:latin typeface="Georgia"/>
              </a:defRPr>
            </a:pPr>
            <a:r>
              <a:t>The result on the 4x4 grid</a:t>
            </a:r>
          </a:p>
        </p:txBody>
      </p:sp>
      <p:sp>
        <p:nvSpPr>
          <p:cNvPr id="4" name="Rectangle 3"/>
          <p:cNvSpPr/>
          <p:nvPr/>
        </p:nvSpPr>
        <p:spPr>
          <a:xfrm>
            <a:off x="914400" y="1170432"/>
            <a:ext cx="10362895" cy="12700"/>
          </a:xfrm>
          <a:prstGeom prst="rect">
            <a:avLst/>
          </a:prstGeom>
          <a:solidFill>
            <a:srgbClr val="CBD5E1"/>
          </a:solidFill>
          <a:ln>
            <a:noFill/>
          </a:ln>
          <a:effectLst/>
        </p:spPr>
        <p:txBody>
          <a:bodyPr rtlCol="0" anchor="ctr"/>
          <a:lstStyle/>
          <a:p>
            <a:pPr algn="ctr"/>
          </a:p>
        </p:txBody>
      </p:sp>
      <p:sp>
        <p:nvSpPr>
          <p:cNvPr id="5" name="Rectangle 4"/>
          <p:cNvSpPr/>
          <p:nvPr/>
        </p:nvSpPr>
        <p:spPr>
          <a:xfrm>
            <a:off x="640080" y="1280160"/>
            <a:ext cx="5989320" cy="4892040"/>
          </a:xfrm>
          <a:prstGeom prst="rect">
            <a:avLst/>
          </a:prstGeom>
          <a:solidFill>
            <a:srgbClr val="1A1F2C"/>
          </a:solidFill>
          <a:ln>
            <a:noFill/>
          </a:ln>
          <a:effectLst/>
        </p:spPr>
        <p:txBody>
          <a:bodyPr rtlCol="0" anchor="ctr"/>
          <a:lstStyle/>
          <a:p>
            <a:pPr algn="ctr"/>
          </a:p>
        </p:txBody>
      </p:sp>
      <p:sp>
        <p:nvSpPr>
          <p:cNvPr id="6" name="TextBox 5"/>
          <p:cNvSpPr txBox="1"/>
          <p:nvPr/>
        </p:nvSpPr>
        <p:spPr>
          <a:xfrm>
            <a:off x="804672" y="1353312"/>
            <a:ext cx="5660136" cy="4745736"/>
          </a:xfrm>
          <a:prstGeom prst="rect">
            <a:avLst/>
          </a:prstGeom>
          <a:noFill/>
          <a:effectLst/>
        </p:spPr>
        <p:txBody>
          <a:bodyPr wrap="none" lIns="0" tIns="0" rIns="0" bIns="0">
            <a:noAutofit/>
          </a:bodyPr>
          <a:lstStyle/>
          <a:p>
            <a:pPr>
              <a:lnSpc>
                <a:spcPts val="1550"/>
              </a:lnSpc>
              <a:defRPr sz="1400" b="0">
                <a:solidFill>
                  <a:srgbClr val="F59E0B"/>
                </a:solidFill>
                <a:latin typeface="Consolas"/>
              </a:defRPr>
            </a:pPr>
            <a:r>
              <a:t>$ python -m tdma.cli --coords-file grid_4x4_300m.json</a:t>
            </a:r>
          </a:p>
          <a:p>
            <a:pPr>
              <a:lnSpc>
                <a:spcPts val="1550"/>
              </a:lnSpc>
              <a:defRPr sz="1400" b="1">
                <a:solidFill>
                  <a:srgbClr val="F8FAFC"/>
                </a:solidFill>
                <a:latin typeface="Consolas"/>
              </a:defRPr>
            </a:pPr>
            <a:r>
              <a:t>Optimized Frame Length: 9 slots (Proven Optimum)</a:t>
            </a:r>
          </a:p>
          <a:p>
            <a:pPr>
              <a:lnSpc>
                <a:spcPts val="1550"/>
              </a:lnSpc>
              <a:defRPr sz="1400" b="0">
                <a:solidFill>
                  <a:srgbClr val="475569"/>
                </a:solidFill>
                <a:latin typeface="Consolas"/>
              </a:defRPr>
            </a:pPr>
            <a:r>
              <a:t>--------------------------------------------------</a:t>
            </a:r>
          </a:p>
          <a:p>
            <a:pPr>
              <a:lnSpc>
                <a:spcPts val="1550"/>
              </a:lnSpc>
              <a:defRPr sz="1400" b="0">
                <a:solidFill>
                  <a:srgbClr val="E2E8F0"/>
                </a:solidFill>
                <a:latin typeface="Consolas"/>
              </a:defRPr>
            </a:pPr>
            <a:r>
              <a:t>Node_01: Slot 8       Node_09: Slot 7</a:t>
            </a:r>
          </a:p>
          <a:p>
            <a:pPr>
              <a:lnSpc>
                <a:spcPts val="1550"/>
              </a:lnSpc>
              <a:defRPr sz="1400" b="0">
                <a:solidFill>
                  <a:srgbClr val="E2E8F0"/>
                </a:solidFill>
                <a:latin typeface="Consolas"/>
              </a:defRPr>
            </a:pPr>
            <a:r>
              <a:t>Node_02: Slot 4       Node_10: Slot 2</a:t>
            </a:r>
          </a:p>
          <a:p>
            <a:pPr>
              <a:lnSpc>
                <a:spcPts val="1550"/>
              </a:lnSpc>
              <a:defRPr sz="1400" b="0">
                <a:solidFill>
                  <a:srgbClr val="E2E8F0"/>
                </a:solidFill>
                <a:latin typeface="Consolas"/>
              </a:defRPr>
            </a:pPr>
            <a:r>
              <a:t>Node_03: Slot 5       Node_11: Slot 3</a:t>
            </a:r>
          </a:p>
          <a:p>
            <a:pPr>
              <a:lnSpc>
                <a:spcPts val="1550"/>
              </a:lnSpc>
              <a:defRPr sz="1400" b="0">
                <a:solidFill>
                  <a:srgbClr val="E2E8F0"/>
                </a:solidFill>
                <a:latin typeface="Consolas"/>
              </a:defRPr>
            </a:pPr>
            <a:r>
              <a:t>Node_04: Slot 8       Node_12: Slot 7</a:t>
            </a:r>
          </a:p>
          <a:p>
            <a:pPr>
              <a:lnSpc>
                <a:spcPts val="1550"/>
              </a:lnSpc>
              <a:defRPr sz="1400" b="0">
                <a:solidFill>
                  <a:srgbClr val="E2E8F0"/>
                </a:solidFill>
                <a:latin typeface="Consolas"/>
              </a:defRPr>
            </a:pPr>
            <a:r>
              <a:t>Node_05: Slot 6       Node_13: Slot 8</a:t>
            </a:r>
          </a:p>
          <a:p>
            <a:pPr>
              <a:lnSpc>
                <a:spcPts val="1550"/>
              </a:lnSpc>
              <a:defRPr sz="1400" b="0">
                <a:solidFill>
                  <a:srgbClr val="E2E8F0"/>
                </a:solidFill>
                <a:latin typeface="Consolas"/>
              </a:defRPr>
            </a:pPr>
            <a:r>
              <a:t>Node_06: Slot 0       Node_14: Slot 4</a:t>
            </a:r>
          </a:p>
          <a:p>
            <a:pPr>
              <a:lnSpc>
                <a:spcPts val="1550"/>
              </a:lnSpc>
              <a:defRPr sz="1400" b="0">
                <a:solidFill>
                  <a:srgbClr val="E2E8F0"/>
                </a:solidFill>
                <a:latin typeface="Consolas"/>
              </a:defRPr>
            </a:pPr>
            <a:r>
              <a:t>Node_07: Slot 1       Node_15: Slot 5</a:t>
            </a:r>
          </a:p>
          <a:p>
            <a:pPr>
              <a:lnSpc>
                <a:spcPts val="1550"/>
              </a:lnSpc>
              <a:defRPr sz="1400" b="0">
                <a:solidFill>
                  <a:srgbClr val="E2E8F0"/>
                </a:solidFill>
                <a:latin typeface="Consolas"/>
              </a:defRPr>
            </a:pPr>
            <a:r>
              <a:t>Node_08: Slot 6       Node_16: Slot 8</a:t>
            </a:r>
          </a:p>
          <a:p>
            <a:pPr>
              <a:lnSpc>
                <a:spcPts val="1550"/>
              </a:lnSpc>
              <a:defRPr sz="1400" b="0">
                <a:solidFill>
                  <a:srgbClr val="475569"/>
                </a:solidFill>
                <a:latin typeface="Consolas"/>
              </a:defRPr>
            </a:pPr>
            <a:r>
              <a:t>--------------------------------------------------</a:t>
            </a:r>
          </a:p>
          <a:p>
            <a:pPr>
              <a:lnSpc>
                <a:spcPts val="1550"/>
              </a:lnSpc>
              <a:defRPr sz="1400" b="1">
                <a:solidFill>
                  <a:srgbClr val="94A3B8"/>
                </a:solidFill>
                <a:latin typeface="Consolas"/>
              </a:defRPr>
            </a:pPr>
            <a:r>
              <a:t>Slot   01 02 03 04 05 06 07 08 09 10 11 12 13 14 15 16</a:t>
            </a:r>
          </a:p>
          <a:p>
            <a:pPr>
              <a:lnSpc>
                <a:spcPts val="1550"/>
              </a:lnSpc>
              <a:defRPr sz="1400" b="0">
                <a:solidFill>
                  <a:srgbClr val="94A3B8"/>
                </a:solidFill>
                <a:latin typeface="Consolas"/>
              </a:defRPr>
            </a:pPr>
            <a:r>
              <a:t>Slot 0  .  .  .  .  .  1  .  .  .  .  .  .  .  .  .  .</a:t>
            </a:r>
          </a:p>
          <a:p>
            <a:pPr>
              <a:lnSpc>
                <a:spcPts val="1550"/>
              </a:lnSpc>
              <a:defRPr sz="1400" b="0">
                <a:solidFill>
                  <a:srgbClr val="94A3B8"/>
                </a:solidFill>
                <a:latin typeface="Consolas"/>
              </a:defRPr>
            </a:pPr>
            <a:r>
              <a:t>Slot 1  .  .  .  .  .  .  1  .  .  .  .  .  .  .  .  .</a:t>
            </a:r>
          </a:p>
          <a:p>
            <a:pPr>
              <a:lnSpc>
                <a:spcPts val="1550"/>
              </a:lnSpc>
              <a:defRPr sz="1400" b="0">
                <a:solidFill>
                  <a:srgbClr val="94A3B8"/>
                </a:solidFill>
                <a:latin typeface="Consolas"/>
              </a:defRPr>
            </a:pPr>
            <a:r>
              <a:t>Slot 2  .  .  .  .  .  .  .  .  .  1  .  .  .  .  .  .</a:t>
            </a:r>
          </a:p>
          <a:p>
            <a:pPr>
              <a:lnSpc>
                <a:spcPts val="1550"/>
              </a:lnSpc>
              <a:defRPr sz="1400" b="0">
                <a:solidFill>
                  <a:srgbClr val="94A3B8"/>
                </a:solidFill>
                <a:latin typeface="Consolas"/>
              </a:defRPr>
            </a:pPr>
            <a:r>
              <a:t>Slot 3  .  .  .  .  .  .  .  .  .  .  1  .  .  .  .  .</a:t>
            </a:r>
          </a:p>
          <a:p>
            <a:pPr>
              <a:lnSpc>
                <a:spcPts val="1550"/>
              </a:lnSpc>
              <a:defRPr sz="1400" b="0">
                <a:solidFill>
                  <a:srgbClr val="94A3B8"/>
                </a:solidFill>
                <a:latin typeface="Consolas"/>
              </a:defRPr>
            </a:pPr>
            <a:r>
              <a:t>Slot 4  .  1  .  .  .  .  .  .  .  .  .  .  .  1  .  .</a:t>
            </a:r>
          </a:p>
          <a:p>
            <a:pPr>
              <a:lnSpc>
                <a:spcPts val="1550"/>
              </a:lnSpc>
              <a:defRPr sz="1400" b="0">
                <a:solidFill>
                  <a:srgbClr val="94A3B8"/>
                </a:solidFill>
                <a:latin typeface="Consolas"/>
              </a:defRPr>
            </a:pPr>
            <a:r>
              <a:t>Slot 5  .  .  1  .  .  .  .  .  .  .  .  .  .  .  1  .</a:t>
            </a:r>
          </a:p>
          <a:p>
            <a:pPr>
              <a:lnSpc>
                <a:spcPts val="1550"/>
              </a:lnSpc>
              <a:defRPr sz="1400" b="0">
                <a:solidFill>
                  <a:srgbClr val="94A3B8"/>
                </a:solidFill>
                <a:latin typeface="Consolas"/>
              </a:defRPr>
            </a:pPr>
            <a:r>
              <a:t>Slot 6  .  .  .  .  1  .  .  1  .  .  .  .  .  .  .  .</a:t>
            </a:r>
          </a:p>
          <a:p>
            <a:pPr>
              <a:lnSpc>
                <a:spcPts val="1550"/>
              </a:lnSpc>
              <a:defRPr sz="1400" b="0">
                <a:solidFill>
                  <a:srgbClr val="94A3B8"/>
                </a:solidFill>
                <a:latin typeface="Consolas"/>
              </a:defRPr>
            </a:pPr>
            <a:r>
              <a:t>Slot 7  .  .  .  .  .  .  .  .  1  .  .  1  .  .  .  .</a:t>
            </a:r>
          </a:p>
          <a:p>
            <a:pPr>
              <a:lnSpc>
                <a:spcPts val="1550"/>
              </a:lnSpc>
              <a:defRPr sz="1400" b="1">
                <a:solidFill>
                  <a:srgbClr val="F59E0B"/>
                </a:solidFill>
                <a:latin typeface="Consolas"/>
              </a:defRPr>
            </a:pPr>
            <a:r>
              <a:t>Slot 8  1  .  .  1  .  .  .  .  .  .  .  .  1  .  .  1</a:t>
            </a:r>
          </a:p>
        </p:txBody>
      </p:sp>
      <p:cxnSp>
        <p:nvCxnSpPr>
          <p:cNvPr id="7" name="Connector 6"/>
          <p:cNvCxnSpPr/>
          <p:nvPr/>
        </p:nvCxnSpPr>
        <p:spPr>
          <a:xfrm>
            <a:off x="7269480" y="1600200"/>
            <a:ext cx="1143000" cy="0"/>
          </a:xfrm>
          <a:prstGeom prst="line">
            <a:avLst/>
          </a:prstGeom>
          <a:ln w="12700">
            <a:solidFill>
              <a:srgbClr val="CBD5E1"/>
            </a:solidFill>
          </a:ln>
          <a:effectLst/>
        </p:spPr>
      </p:cxnSp>
      <p:cxnSp>
        <p:nvCxnSpPr>
          <p:cNvPr id="8" name="Connector 7"/>
          <p:cNvCxnSpPr/>
          <p:nvPr/>
        </p:nvCxnSpPr>
        <p:spPr>
          <a:xfrm>
            <a:off x="7269480" y="1600200"/>
            <a:ext cx="0" cy="1143000"/>
          </a:xfrm>
          <a:prstGeom prst="line">
            <a:avLst/>
          </a:prstGeom>
          <a:ln w="12700">
            <a:solidFill>
              <a:srgbClr val="CBD5E1"/>
            </a:solidFill>
          </a:ln>
          <a:effectLst/>
        </p:spPr>
      </p:cxnSp>
      <p:cxnSp>
        <p:nvCxnSpPr>
          <p:cNvPr id="9" name="Connector 8"/>
          <p:cNvCxnSpPr/>
          <p:nvPr/>
        </p:nvCxnSpPr>
        <p:spPr>
          <a:xfrm>
            <a:off x="7269480" y="1600200"/>
            <a:ext cx="1143000" cy="1143000"/>
          </a:xfrm>
          <a:prstGeom prst="line">
            <a:avLst/>
          </a:prstGeom>
          <a:ln w="12700">
            <a:solidFill>
              <a:srgbClr val="CBD5E1"/>
            </a:solidFill>
          </a:ln>
          <a:effectLst/>
        </p:spPr>
      </p:cxnSp>
      <p:cxnSp>
        <p:nvCxnSpPr>
          <p:cNvPr id="10" name="Connector 9"/>
          <p:cNvCxnSpPr/>
          <p:nvPr/>
        </p:nvCxnSpPr>
        <p:spPr>
          <a:xfrm>
            <a:off x="8412480" y="1600200"/>
            <a:ext cx="1143000" cy="0"/>
          </a:xfrm>
          <a:prstGeom prst="line">
            <a:avLst/>
          </a:prstGeom>
          <a:ln w="12700">
            <a:solidFill>
              <a:srgbClr val="CBD5E1"/>
            </a:solidFill>
          </a:ln>
          <a:effectLst/>
        </p:spPr>
      </p:cxnSp>
      <p:cxnSp>
        <p:nvCxnSpPr>
          <p:cNvPr id="11" name="Connector 10"/>
          <p:cNvCxnSpPr/>
          <p:nvPr/>
        </p:nvCxnSpPr>
        <p:spPr>
          <a:xfrm flipH="1">
            <a:off x="7269480" y="1600200"/>
            <a:ext cx="1143000" cy="1143000"/>
          </a:xfrm>
          <a:prstGeom prst="line">
            <a:avLst/>
          </a:prstGeom>
          <a:ln w="12700">
            <a:solidFill>
              <a:srgbClr val="CBD5E1"/>
            </a:solidFill>
          </a:ln>
          <a:effectLst/>
        </p:spPr>
      </p:cxnSp>
      <p:cxnSp>
        <p:nvCxnSpPr>
          <p:cNvPr id="12" name="Connector 11"/>
          <p:cNvCxnSpPr/>
          <p:nvPr/>
        </p:nvCxnSpPr>
        <p:spPr>
          <a:xfrm>
            <a:off x="8412480" y="1600200"/>
            <a:ext cx="0" cy="1143000"/>
          </a:xfrm>
          <a:prstGeom prst="line">
            <a:avLst/>
          </a:prstGeom>
          <a:ln w="12700">
            <a:solidFill>
              <a:srgbClr val="CBD5E1"/>
            </a:solidFill>
          </a:ln>
          <a:effectLst/>
        </p:spPr>
      </p:cxnSp>
      <p:cxnSp>
        <p:nvCxnSpPr>
          <p:cNvPr id="13" name="Connector 12"/>
          <p:cNvCxnSpPr/>
          <p:nvPr/>
        </p:nvCxnSpPr>
        <p:spPr>
          <a:xfrm>
            <a:off x="8412480" y="1600200"/>
            <a:ext cx="1143000" cy="1143000"/>
          </a:xfrm>
          <a:prstGeom prst="line">
            <a:avLst/>
          </a:prstGeom>
          <a:ln w="12700">
            <a:solidFill>
              <a:srgbClr val="CBD5E1"/>
            </a:solidFill>
          </a:ln>
          <a:effectLst/>
        </p:spPr>
      </p:cxnSp>
      <p:cxnSp>
        <p:nvCxnSpPr>
          <p:cNvPr id="14" name="Connector 13"/>
          <p:cNvCxnSpPr/>
          <p:nvPr/>
        </p:nvCxnSpPr>
        <p:spPr>
          <a:xfrm>
            <a:off x="9555480" y="1600200"/>
            <a:ext cx="1143000" cy="0"/>
          </a:xfrm>
          <a:prstGeom prst="line">
            <a:avLst/>
          </a:prstGeom>
          <a:ln w="12700">
            <a:solidFill>
              <a:srgbClr val="CBD5E1"/>
            </a:solidFill>
          </a:ln>
          <a:effectLst/>
        </p:spPr>
      </p:cxnSp>
      <p:cxnSp>
        <p:nvCxnSpPr>
          <p:cNvPr id="15" name="Connector 14"/>
          <p:cNvCxnSpPr/>
          <p:nvPr/>
        </p:nvCxnSpPr>
        <p:spPr>
          <a:xfrm flipH="1">
            <a:off x="8412480" y="1600200"/>
            <a:ext cx="1143000" cy="1143000"/>
          </a:xfrm>
          <a:prstGeom prst="line">
            <a:avLst/>
          </a:prstGeom>
          <a:ln w="12700">
            <a:solidFill>
              <a:srgbClr val="CBD5E1"/>
            </a:solidFill>
          </a:ln>
          <a:effectLst/>
        </p:spPr>
      </p:cxnSp>
      <p:cxnSp>
        <p:nvCxnSpPr>
          <p:cNvPr id="16" name="Connector 15"/>
          <p:cNvCxnSpPr/>
          <p:nvPr/>
        </p:nvCxnSpPr>
        <p:spPr>
          <a:xfrm>
            <a:off x="9555480" y="1600200"/>
            <a:ext cx="0" cy="1143000"/>
          </a:xfrm>
          <a:prstGeom prst="line">
            <a:avLst/>
          </a:prstGeom>
          <a:ln w="12700">
            <a:solidFill>
              <a:srgbClr val="CBD5E1"/>
            </a:solidFill>
          </a:ln>
          <a:effectLst/>
        </p:spPr>
      </p:cxnSp>
      <p:cxnSp>
        <p:nvCxnSpPr>
          <p:cNvPr id="17" name="Connector 16"/>
          <p:cNvCxnSpPr/>
          <p:nvPr/>
        </p:nvCxnSpPr>
        <p:spPr>
          <a:xfrm>
            <a:off x="9555480" y="1600200"/>
            <a:ext cx="1143000" cy="1143000"/>
          </a:xfrm>
          <a:prstGeom prst="line">
            <a:avLst/>
          </a:prstGeom>
          <a:ln w="12700">
            <a:solidFill>
              <a:srgbClr val="CBD5E1"/>
            </a:solidFill>
          </a:ln>
          <a:effectLst/>
        </p:spPr>
      </p:cxnSp>
      <p:cxnSp>
        <p:nvCxnSpPr>
          <p:cNvPr id="18" name="Connector 17"/>
          <p:cNvCxnSpPr/>
          <p:nvPr/>
        </p:nvCxnSpPr>
        <p:spPr>
          <a:xfrm flipH="1">
            <a:off x="9555480" y="1600200"/>
            <a:ext cx="1143000" cy="1143000"/>
          </a:xfrm>
          <a:prstGeom prst="line">
            <a:avLst/>
          </a:prstGeom>
          <a:ln w="12700">
            <a:solidFill>
              <a:srgbClr val="CBD5E1"/>
            </a:solidFill>
          </a:ln>
          <a:effectLst/>
        </p:spPr>
      </p:cxnSp>
      <p:cxnSp>
        <p:nvCxnSpPr>
          <p:cNvPr id="19" name="Connector 18"/>
          <p:cNvCxnSpPr/>
          <p:nvPr/>
        </p:nvCxnSpPr>
        <p:spPr>
          <a:xfrm>
            <a:off x="10698480" y="1600200"/>
            <a:ext cx="0" cy="1143000"/>
          </a:xfrm>
          <a:prstGeom prst="line">
            <a:avLst/>
          </a:prstGeom>
          <a:ln w="12700">
            <a:solidFill>
              <a:srgbClr val="CBD5E1"/>
            </a:solidFill>
          </a:ln>
          <a:effectLst/>
        </p:spPr>
      </p:cxnSp>
      <p:cxnSp>
        <p:nvCxnSpPr>
          <p:cNvPr id="20" name="Connector 19"/>
          <p:cNvCxnSpPr/>
          <p:nvPr/>
        </p:nvCxnSpPr>
        <p:spPr>
          <a:xfrm>
            <a:off x="7269480" y="2743200"/>
            <a:ext cx="1143000" cy="0"/>
          </a:xfrm>
          <a:prstGeom prst="line">
            <a:avLst/>
          </a:prstGeom>
          <a:ln w="12700">
            <a:solidFill>
              <a:srgbClr val="CBD5E1"/>
            </a:solidFill>
          </a:ln>
          <a:effectLst/>
        </p:spPr>
      </p:cxnSp>
      <p:cxnSp>
        <p:nvCxnSpPr>
          <p:cNvPr id="21" name="Connector 20"/>
          <p:cNvCxnSpPr/>
          <p:nvPr/>
        </p:nvCxnSpPr>
        <p:spPr>
          <a:xfrm>
            <a:off x="7269480" y="2743200"/>
            <a:ext cx="0" cy="1143000"/>
          </a:xfrm>
          <a:prstGeom prst="line">
            <a:avLst/>
          </a:prstGeom>
          <a:ln w="12700">
            <a:solidFill>
              <a:srgbClr val="CBD5E1"/>
            </a:solidFill>
          </a:ln>
          <a:effectLst/>
        </p:spPr>
      </p:cxnSp>
      <p:cxnSp>
        <p:nvCxnSpPr>
          <p:cNvPr id="22" name="Connector 21"/>
          <p:cNvCxnSpPr/>
          <p:nvPr/>
        </p:nvCxnSpPr>
        <p:spPr>
          <a:xfrm>
            <a:off x="7269480" y="2743200"/>
            <a:ext cx="1143000" cy="1143000"/>
          </a:xfrm>
          <a:prstGeom prst="line">
            <a:avLst/>
          </a:prstGeom>
          <a:ln w="12700">
            <a:solidFill>
              <a:srgbClr val="CBD5E1"/>
            </a:solidFill>
          </a:ln>
          <a:effectLst/>
        </p:spPr>
      </p:cxnSp>
      <p:cxnSp>
        <p:nvCxnSpPr>
          <p:cNvPr id="23" name="Connector 22"/>
          <p:cNvCxnSpPr/>
          <p:nvPr/>
        </p:nvCxnSpPr>
        <p:spPr>
          <a:xfrm>
            <a:off x="8412480" y="2743200"/>
            <a:ext cx="1143000" cy="0"/>
          </a:xfrm>
          <a:prstGeom prst="line">
            <a:avLst/>
          </a:prstGeom>
          <a:ln w="12700">
            <a:solidFill>
              <a:srgbClr val="CBD5E1"/>
            </a:solidFill>
          </a:ln>
          <a:effectLst/>
        </p:spPr>
      </p:cxnSp>
      <p:cxnSp>
        <p:nvCxnSpPr>
          <p:cNvPr id="24" name="Connector 23"/>
          <p:cNvCxnSpPr/>
          <p:nvPr/>
        </p:nvCxnSpPr>
        <p:spPr>
          <a:xfrm flipH="1">
            <a:off x="7269480" y="2743200"/>
            <a:ext cx="1143000" cy="1143000"/>
          </a:xfrm>
          <a:prstGeom prst="line">
            <a:avLst/>
          </a:prstGeom>
          <a:ln w="12700">
            <a:solidFill>
              <a:srgbClr val="CBD5E1"/>
            </a:solidFill>
          </a:ln>
          <a:effectLst/>
        </p:spPr>
      </p:cxnSp>
      <p:cxnSp>
        <p:nvCxnSpPr>
          <p:cNvPr id="25" name="Connector 24"/>
          <p:cNvCxnSpPr/>
          <p:nvPr/>
        </p:nvCxnSpPr>
        <p:spPr>
          <a:xfrm>
            <a:off x="8412480" y="2743200"/>
            <a:ext cx="0" cy="1143000"/>
          </a:xfrm>
          <a:prstGeom prst="line">
            <a:avLst/>
          </a:prstGeom>
          <a:ln w="12700">
            <a:solidFill>
              <a:srgbClr val="CBD5E1"/>
            </a:solidFill>
          </a:ln>
          <a:effectLst/>
        </p:spPr>
      </p:cxnSp>
      <p:cxnSp>
        <p:nvCxnSpPr>
          <p:cNvPr id="26" name="Connector 25"/>
          <p:cNvCxnSpPr/>
          <p:nvPr/>
        </p:nvCxnSpPr>
        <p:spPr>
          <a:xfrm>
            <a:off x="8412480" y="2743200"/>
            <a:ext cx="1143000" cy="1143000"/>
          </a:xfrm>
          <a:prstGeom prst="line">
            <a:avLst/>
          </a:prstGeom>
          <a:ln w="12700">
            <a:solidFill>
              <a:srgbClr val="CBD5E1"/>
            </a:solidFill>
          </a:ln>
          <a:effectLst/>
        </p:spPr>
      </p:cxnSp>
      <p:cxnSp>
        <p:nvCxnSpPr>
          <p:cNvPr id="27" name="Connector 26"/>
          <p:cNvCxnSpPr/>
          <p:nvPr/>
        </p:nvCxnSpPr>
        <p:spPr>
          <a:xfrm>
            <a:off x="9555480" y="2743200"/>
            <a:ext cx="1143000" cy="0"/>
          </a:xfrm>
          <a:prstGeom prst="line">
            <a:avLst/>
          </a:prstGeom>
          <a:ln w="12700">
            <a:solidFill>
              <a:srgbClr val="CBD5E1"/>
            </a:solidFill>
          </a:ln>
          <a:effectLst/>
        </p:spPr>
      </p:cxnSp>
      <p:cxnSp>
        <p:nvCxnSpPr>
          <p:cNvPr id="28" name="Connector 27"/>
          <p:cNvCxnSpPr/>
          <p:nvPr/>
        </p:nvCxnSpPr>
        <p:spPr>
          <a:xfrm flipH="1">
            <a:off x="8412480" y="2743200"/>
            <a:ext cx="1143000" cy="1143000"/>
          </a:xfrm>
          <a:prstGeom prst="line">
            <a:avLst/>
          </a:prstGeom>
          <a:ln w="12700">
            <a:solidFill>
              <a:srgbClr val="CBD5E1"/>
            </a:solidFill>
          </a:ln>
          <a:effectLst/>
        </p:spPr>
      </p:cxnSp>
      <p:cxnSp>
        <p:nvCxnSpPr>
          <p:cNvPr id="29" name="Connector 28"/>
          <p:cNvCxnSpPr/>
          <p:nvPr/>
        </p:nvCxnSpPr>
        <p:spPr>
          <a:xfrm>
            <a:off x="9555480" y="2743200"/>
            <a:ext cx="0" cy="1143000"/>
          </a:xfrm>
          <a:prstGeom prst="line">
            <a:avLst/>
          </a:prstGeom>
          <a:ln w="12700">
            <a:solidFill>
              <a:srgbClr val="CBD5E1"/>
            </a:solidFill>
          </a:ln>
          <a:effectLst/>
        </p:spPr>
      </p:cxnSp>
      <p:cxnSp>
        <p:nvCxnSpPr>
          <p:cNvPr id="30" name="Connector 29"/>
          <p:cNvCxnSpPr/>
          <p:nvPr/>
        </p:nvCxnSpPr>
        <p:spPr>
          <a:xfrm>
            <a:off x="9555480" y="2743200"/>
            <a:ext cx="1143000" cy="1143000"/>
          </a:xfrm>
          <a:prstGeom prst="line">
            <a:avLst/>
          </a:prstGeom>
          <a:ln w="12700">
            <a:solidFill>
              <a:srgbClr val="CBD5E1"/>
            </a:solidFill>
          </a:ln>
          <a:effectLst/>
        </p:spPr>
      </p:cxnSp>
      <p:cxnSp>
        <p:nvCxnSpPr>
          <p:cNvPr id="31" name="Connector 30"/>
          <p:cNvCxnSpPr/>
          <p:nvPr/>
        </p:nvCxnSpPr>
        <p:spPr>
          <a:xfrm flipH="1">
            <a:off x="9555480" y="2743200"/>
            <a:ext cx="1143000" cy="1143000"/>
          </a:xfrm>
          <a:prstGeom prst="line">
            <a:avLst/>
          </a:prstGeom>
          <a:ln w="12700">
            <a:solidFill>
              <a:srgbClr val="CBD5E1"/>
            </a:solidFill>
          </a:ln>
          <a:effectLst/>
        </p:spPr>
      </p:cxnSp>
      <p:cxnSp>
        <p:nvCxnSpPr>
          <p:cNvPr id="32" name="Connector 31"/>
          <p:cNvCxnSpPr/>
          <p:nvPr/>
        </p:nvCxnSpPr>
        <p:spPr>
          <a:xfrm>
            <a:off x="10698480" y="2743200"/>
            <a:ext cx="0" cy="1143000"/>
          </a:xfrm>
          <a:prstGeom prst="line">
            <a:avLst/>
          </a:prstGeom>
          <a:ln w="12700">
            <a:solidFill>
              <a:srgbClr val="CBD5E1"/>
            </a:solidFill>
          </a:ln>
          <a:effectLst/>
        </p:spPr>
      </p:cxnSp>
      <p:cxnSp>
        <p:nvCxnSpPr>
          <p:cNvPr id="33" name="Connector 32"/>
          <p:cNvCxnSpPr/>
          <p:nvPr/>
        </p:nvCxnSpPr>
        <p:spPr>
          <a:xfrm>
            <a:off x="7269480" y="3886200"/>
            <a:ext cx="1143000" cy="0"/>
          </a:xfrm>
          <a:prstGeom prst="line">
            <a:avLst/>
          </a:prstGeom>
          <a:ln w="12700">
            <a:solidFill>
              <a:srgbClr val="CBD5E1"/>
            </a:solidFill>
          </a:ln>
          <a:effectLst/>
        </p:spPr>
      </p:cxnSp>
      <p:cxnSp>
        <p:nvCxnSpPr>
          <p:cNvPr id="34" name="Connector 33"/>
          <p:cNvCxnSpPr/>
          <p:nvPr/>
        </p:nvCxnSpPr>
        <p:spPr>
          <a:xfrm>
            <a:off x="7269480" y="3886200"/>
            <a:ext cx="0" cy="1143000"/>
          </a:xfrm>
          <a:prstGeom prst="line">
            <a:avLst/>
          </a:prstGeom>
          <a:ln w="12700">
            <a:solidFill>
              <a:srgbClr val="CBD5E1"/>
            </a:solidFill>
          </a:ln>
          <a:effectLst/>
        </p:spPr>
      </p:cxnSp>
      <p:cxnSp>
        <p:nvCxnSpPr>
          <p:cNvPr id="35" name="Connector 34"/>
          <p:cNvCxnSpPr/>
          <p:nvPr/>
        </p:nvCxnSpPr>
        <p:spPr>
          <a:xfrm>
            <a:off x="7269480" y="3886200"/>
            <a:ext cx="1143000" cy="1143000"/>
          </a:xfrm>
          <a:prstGeom prst="line">
            <a:avLst/>
          </a:prstGeom>
          <a:ln w="12700">
            <a:solidFill>
              <a:srgbClr val="CBD5E1"/>
            </a:solidFill>
          </a:ln>
          <a:effectLst/>
        </p:spPr>
      </p:cxnSp>
      <p:cxnSp>
        <p:nvCxnSpPr>
          <p:cNvPr id="36" name="Connector 35"/>
          <p:cNvCxnSpPr/>
          <p:nvPr/>
        </p:nvCxnSpPr>
        <p:spPr>
          <a:xfrm>
            <a:off x="8412480" y="3886200"/>
            <a:ext cx="1143000" cy="0"/>
          </a:xfrm>
          <a:prstGeom prst="line">
            <a:avLst/>
          </a:prstGeom>
          <a:ln w="12700">
            <a:solidFill>
              <a:srgbClr val="CBD5E1"/>
            </a:solidFill>
          </a:ln>
          <a:effectLst/>
        </p:spPr>
      </p:cxnSp>
      <p:cxnSp>
        <p:nvCxnSpPr>
          <p:cNvPr id="37" name="Connector 36"/>
          <p:cNvCxnSpPr/>
          <p:nvPr/>
        </p:nvCxnSpPr>
        <p:spPr>
          <a:xfrm flipH="1">
            <a:off x="7269480" y="3886200"/>
            <a:ext cx="1143000" cy="1143000"/>
          </a:xfrm>
          <a:prstGeom prst="line">
            <a:avLst/>
          </a:prstGeom>
          <a:ln w="12700">
            <a:solidFill>
              <a:srgbClr val="CBD5E1"/>
            </a:solidFill>
          </a:ln>
          <a:effectLst/>
        </p:spPr>
      </p:cxnSp>
      <p:cxnSp>
        <p:nvCxnSpPr>
          <p:cNvPr id="38" name="Connector 37"/>
          <p:cNvCxnSpPr/>
          <p:nvPr/>
        </p:nvCxnSpPr>
        <p:spPr>
          <a:xfrm>
            <a:off x="8412480" y="3886200"/>
            <a:ext cx="0" cy="1143000"/>
          </a:xfrm>
          <a:prstGeom prst="line">
            <a:avLst/>
          </a:prstGeom>
          <a:ln w="12700">
            <a:solidFill>
              <a:srgbClr val="CBD5E1"/>
            </a:solidFill>
          </a:ln>
          <a:effectLst/>
        </p:spPr>
      </p:cxnSp>
      <p:cxnSp>
        <p:nvCxnSpPr>
          <p:cNvPr id="39" name="Connector 38"/>
          <p:cNvCxnSpPr/>
          <p:nvPr/>
        </p:nvCxnSpPr>
        <p:spPr>
          <a:xfrm>
            <a:off x="8412480" y="3886200"/>
            <a:ext cx="1143000" cy="1143000"/>
          </a:xfrm>
          <a:prstGeom prst="line">
            <a:avLst/>
          </a:prstGeom>
          <a:ln w="12700">
            <a:solidFill>
              <a:srgbClr val="CBD5E1"/>
            </a:solidFill>
          </a:ln>
          <a:effectLst/>
        </p:spPr>
      </p:cxnSp>
      <p:cxnSp>
        <p:nvCxnSpPr>
          <p:cNvPr id="40" name="Connector 39"/>
          <p:cNvCxnSpPr/>
          <p:nvPr/>
        </p:nvCxnSpPr>
        <p:spPr>
          <a:xfrm>
            <a:off x="9555480" y="3886200"/>
            <a:ext cx="1143000" cy="0"/>
          </a:xfrm>
          <a:prstGeom prst="line">
            <a:avLst/>
          </a:prstGeom>
          <a:ln w="12700">
            <a:solidFill>
              <a:srgbClr val="CBD5E1"/>
            </a:solidFill>
          </a:ln>
          <a:effectLst/>
        </p:spPr>
      </p:cxnSp>
      <p:cxnSp>
        <p:nvCxnSpPr>
          <p:cNvPr id="41" name="Connector 40"/>
          <p:cNvCxnSpPr/>
          <p:nvPr/>
        </p:nvCxnSpPr>
        <p:spPr>
          <a:xfrm flipH="1">
            <a:off x="8412480" y="3886200"/>
            <a:ext cx="1143000" cy="1143000"/>
          </a:xfrm>
          <a:prstGeom prst="line">
            <a:avLst/>
          </a:prstGeom>
          <a:ln w="12700">
            <a:solidFill>
              <a:srgbClr val="CBD5E1"/>
            </a:solidFill>
          </a:ln>
          <a:effectLst/>
        </p:spPr>
      </p:cxnSp>
      <p:cxnSp>
        <p:nvCxnSpPr>
          <p:cNvPr id="42" name="Connector 41"/>
          <p:cNvCxnSpPr/>
          <p:nvPr/>
        </p:nvCxnSpPr>
        <p:spPr>
          <a:xfrm>
            <a:off x="9555480" y="3886200"/>
            <a:ext cx="0" cy="1143000"/>
          </a:xfrm>
          <a:prstGeom prst="line">
            <a:avLst/>
          </a:prstGeom>
          <a:ln w="12700">
            <a:solidFill>
              <a:srgbClr val="CBD5E1"/>
            </a:solidFill>
          </a:ln>
          <a:effectLst/>
        </p:spPr>
      </p:cxnSp>
      <p:cxnSp>
        <p:nvCxnSpPr>
          <p:cNvPr id="43" name="Connector 42"/>
          <p:cNvCxnSpPr/>
          <p:nvPr/>
        </p:nvCxnSpPr>
        <p:spPr>
          <a:xfrm>
            <a:off x="9555480" y="3886200"/>
            <a:ext cx="1143000" cy="1143000"/>
          </a:xfrm>
          <a:prstGeom prst="line">
            <a:avLst/>
          </a:prstGeom>
          <a:ln w="12700">
            <a:solidFill>
              <a:srgbClr val="CBD5E1"/>
            </a:solidFill>
          </a:ln>
          <a:effectLst/>
        </p:spPr>
      </p:cxnSp>
      <p:cxnSp>
        <p:nvCxnSpPr>
          <p:cNvPr id="44" name="Connector 43"/>
          <p:cNvCxnSpPr/>
          <p:nvPr/>
        </p:nvCxnSpPr>
        <p:spPr>
          <a:xfrm flipH="1">
            <a:off x="9555480" y="3886200"/>
            <a:ext cx="1143000" cy="1143000"/>
          </a:xfrm>
          <a:prstGeom prst="line">
            <a:avLst/>
          </a:prstGeom>
          <a:ln w="12700">
            <a:solidFill>
              <a:srgbClr val="CBD5E1"/>
            </a:solidFill>
          </a:ln>
          <a:effectLst/>
        </p:spPr>
      </p:cxnSp>
      <p:cxnSp>
        <p:nvCxnSpPr>
          <p:cNvPr id="45" name="Connector 44"/>
          <p:cNvCxnSpPr/>
          <p:nvPr/>
        </p:nvCxnSpPr>
        <p:spPr>
          <a:xfrm>
            <a:off x="10698480" y="3886200"/>
            <a:ext cx="0" cy="1143000"/>
          </a:xfrm>
          <a:prstGeom prst="line">
            <a:avLst/>
          </a:prstGeom>
          <a:ln w="12700">
            <a:solidFill>
              <a:srgbClr val="CBD5E1"/>
            </a:solidFill>
          </a:ln>
          <a:effectLst/>
        </p:spPr>
      </p:cxnSp>
      <p:cxnSp>
        <p:nvCxnSpPr>
          <p:cNvPr id="46" name="Connector 45"/>
          <p:cNvCxnSpPr/>
          <p:nvPr/>
        </p:nvCxnSpPr>
        <p:spPr>
          <a:xfrm>
            <a:off x="7269480" y="5029200"/>
            <a:ext cx="1143000" cy="0"/>
          </a:xfrm>
          <a:prstGeom prst="line">
            <a:avLst/>
          </a:prstGeom>
          <a:ln w="12700">
            <a:solidFill>
              <a:srgbClr val="CBD5E1"/>
            </a:solidFill>
          </a:ln>
          <a:effectLst/>
        </p:spPr>
      </p:cxnSp>
      <p:cxnSp>
        <p:nvCxnSpPr>
          <p:cNvPr id="47" name="Connector 46"/>
          <p:cNvCxnSpPr/>
          <p:nvPr/>
        </p:nvCxnSpPr>
        <p:spPr>
          <a:xfrm>
            <a:off x="8412480" y="5029200"/>
            <a:ext cx="1143000" cy="0"/>
          </a:xfrm>
          <a:prstGeom prst="line">
            <a:avLst/>
          </a:prstGeom>
          <a:ln w="12700">
            <a:solidFill>
              <a:srgbClr val="CBD5E1"/>
            </a:solidFill>
          </a:ln>
          <a:effectLst/>
        </p:spPr>
      </p:cxnSp>
      <p:cxnSp>
        <p:nvCxnSpPr>
          <p:cNvPr id="48" name="Connector 47"/>
          <p:cNvCxnSpPr/>
          <p:nvPr/>
        </p:nvCxnSpPr>
        <p:spPr>
          <a:xfrm>
            <a:off x="9555480" y="5029200"/>
            <a:ext cx="1143000" cy="0"/>
          </a:xfrm>
          <a:prstGeom prst="line">
            <a:avLst/>
          </a:prstGeom>
          <a:ln w="12700">
            <a:solidFill>
              <a:srgbClr val="CBD5E1"/>
            </a:solidFill>
          </a:ln>
          <a:effectLst/>
        </p:spPr>
      </p:cxnSp>
      <p:sp>
        <p:nvSpPr>
          <p:cNvPr id="49" name="Oval 48"/>
          <p:cNvSpPr/>
          <p:nvPr/>
        </p:nvSpPr>
        <p:spPr>
          <a:xfrm>
            <a:off x="6858000" y="1188720"/>
            <a:ext cx="822960" cy="822960"/>
          </a:xfrm>
          <a:prstGeom prst="ellipse">
            <a:avLst/>
          </a:prstGeom>
          <a:noFill/>
          <a:ln w="31750">
            <a:solidFill>
              <a:srgbClr val="D97706"/>
            </a:solidFill>
          </a:ln>
          <a:effectLst/>
        </p:spPr>
        <p:txBody>
          <a:bodyPr rtlCol="0" anchor="ctr"/>
          <a:lstStyle/>
          <a:p>
            <a:pPr algn="ctr"/>
          </a:p>
        </p:txBody>
      </p:sp>
      <p:sp>
        <p:nvSpPr>
          <p:cNvPr id="50" name="Oval 49"/>
          <p:cNvSpPr/>
          <p:nvPr/>
        </p:nvSpPr>
        <p:spPr>
          <a:xfrm>
            <a:off x="6949440" y="1280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13</a:t>
            </a:r>
          </a:p>
        </p:txBody>
      </p:sp>
      <p:sp>
        <p:nvSpPr>
          <p:cNvPr id="51" name="Oval 50"/>
          <p:cNvSpPr/>
          <p:nvPr/>
        </p:nvSpPr>
        <p:spPr>
          <a:xfrm>
            <a:off x="8092440" y="1280160"/>
            <a:ext cx="640080" cy="640080"/>
          </a:xfrm>
          <a:prstGeom prst="ellipse">
            <a:avLst/>
          </a:prstGeom>
          <a:solidFill>
            <a:srgbClr val="059669"/>
          </a:solidFill>
          <a:ln>
            <a:noFill/>
          </a:ln>
          <a:effectLst/>
        </p:spPr>
        <p:txBody>
          <a:bodyPr rtlCol="0" anchor="ctr"/>
          <a:lstStyle/>
          <a:p>
            <a:pPr algn="ctr">
              <a:defRPr sz="1400" b="1">
                <a:solidFill>
                  <a:srgbClr val="FFFFFF"/>
                </a:solidFill>
                <a:latin typeface="Calibri"/>
              </a:defRPr>
            </a:pPr>
            <a:r>
              <a:t>14</a:t>
            </a:r>
          </a:p>
        </p:txBody>
      </p:sp>
      <p:sp>
        <p:nvSpPr>
          <p:cNvPr id="52" name="Oval 51"/>
          <p:cNvSpPr/>
          <p:nvPr/>
        </p:nvSpPr>
        <p:spPr>
          <a:xfrm>
            <a:off x="9235440" y="1280160"/>
            <a:ext cx="640080" cy="640080"/>
          </a:xfrm>
          <a:prstGeom prst="ellipse">
            <a:avLst/>
          </a:prstGeom>
          <a:solidFill>
            <a:srgbClr val="B45309"/>
          </a:solidFill>
          <a:ln>
            <a:noFill/>
          </a:ln>
          <a:effectLst/>
        </p:spPr>
        <p:txBody>
          <a:bodyPr rtlCol="0" anchor="ctr"/>
          <a:lstStyle/>
          <a:p>
            <a:pPr algn="ctr">
              <a:defRPr sz="1400" b="1">
                <a:solidFill>
                  <a:srgbClr val="FFFFFF"/>
                </a:solidFill>
                <a:latin typeface="Calibri"/>
              </a:defRPr>
            </a:pPr>
            <a:r>
              <a:t>15</a:t>
            </a:r>
          </a:p>
        </p:txBody>
      </p:sp>
      <p:sp>
        <p:nvSpPr>
          <p:cNvPr id="53" name="Oval 52"/>
          <p:cNvSpPr/>
          <p:nvPr/>
        </p:nvSpPr>
        <p:spPr>
          <a:xfrm>
            <a:off x="10287000" y="1188720"/>
            <a:ext cx="822960" cy="822960"/>
          </a:xfrm>
          <a:prstGeom prst="ellipse">
            <a:avLst/>
          </a:prstGeom>
          <a:noFill/>
          <a:ln w="31750">
            <a:solidFill>
              <a:srgbClr val="D97706"/>
            </a:solidFill>
          </a:ln>
          <a:effectLst/>
        </p:spPr>
        <p:txBody>
          <a:bodyPr rtlCol="0" anchor="ctr"/>
          <a:lstStyle/>
          <a:p>
            <a:pPr algn="ctr"/>
          </a:p>
        </p:txBody>
      </p:sp>
      <p:sp>
        <p:nvSpPr>
          <p:cNvPr id="54" name="Oval 53"/>
          <p:cNvSpPr/>
          <p:nvPr/>
        </p:nvSpPr>
        <p:spPr>
          <a:xfrm>
            <a:off x="10378440" y="1280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16</a:t>
            </a:r>
          </a:p>
        </p:txBody>
      </p:sp>
      <p:sp>
        <p:nvSpPr>
          <p:cNvPr id="55" name="Oval 54"/>
          <p:cNvSpPr/>
          <p:nvPr/>
        </p:nvSpPr>
        <p:spPr>
          <a:xfrm>
            <a:off x="6949440" y="2423160"/>
            <a:ext cx="640080" cy="640080"/>
          </a:xfrm>
          <a:prstGeom prst="ellipse">
            <a:avLst/>
          </a:prstGeom>
          <a:solidFill>
            <a:srgbClr val="1E3A8A"/>
          </a:solidFill>
          <a:ln>
            <a:noFill/>
          </a:ln>
          <a:effectLst/>
        </p:spPr>
        <p:txBody>
          <a:bodyPr rtlCol="0" anchor="ctr"/>
          <a:lstStyle/>
          <a:p>
            <a:pPr algn="ctr">
              <a:defRPr sz="1400" b="1">
                <a:solidFill>
                  <a:srgbClr val="FFFFFF"/>
                </a:solidFill>
                <a:latin typeface="Calibri"/>
              </a:defRPr>
            </a:pPr>
            <a:r>
              <a:t>09</a:t>
            </a:r>
          </a:p>
        </p:txBody>
      </p:sp>
      <p:sp>
        <p:nvSpPr>
          <p:cNvPr id="56" name="Oval 55"/>
          <p:cNvSpPr/>
          <p:nvPr/>
        </p:nvSpPr>
        <p:spPr>
          <a:xfrm>
            <a:off x="8092440" y="2423160"/>
            <a:ext cx="640080" cy="640080"/>
          </a:xfrm>
          <a:prstGeom prst="ellipse">
            <a:avLst/>
          </a:prstGeom>
          <a:solidFill>
            <a:srgbClr val="7C3AED"/>
          </a:solidFill>
          <a:ln>
            <a:noFill/>
          </a:ln>
          <a:effectLst/>
        </p:spPr>
        <p:txBody>
          <a:bodyPr rtlCol="0" anchor="ctr"/>
          <a:lstStyle/>
          <a:p>
            <a:pPr algn="ctr">
              <a:defRPr sz="1400" b="1">
                <a:solidFill>
                  <a:srgbClr val="FFFFFF"/>
                </a:solidFill>
                <a:latin typeface="Calibri"/>
              </a:defRPr>
            </a:pPr>
            <a:r>
              <a:t>10</a:t>
            </a:r>
          </a:p>
        </p:txBody>
      </p:sp>
      <p:sp>
        <p:nvSpPr>
          <p:cNvPr id="57" name="Oval 56"/>
          <p:cNvSpPr/>
          <p:nvPr/>
        </p:nvSpPr>
        <p:spPr>
          <a:xfrm>
            <a:off x="9235440" y="2423160"/>
            <a:ext cx="640080" cy="640080"/>
          </a:xfrm>
          <a:prstGeom prst="ellipse">
            <a:avLst/>
          </a:prstGeom>
          <a:solidFill>
            <a:srgbClr val="DB2777"/>
          </a:solidFill>
          <a:ln>
            <a:noFill/>
          </a:ln>
          <a:effectLst/>
        </p:spPr>
        <p:txBody>
          <a:bodyPr rtlCol="0" anchor="ctr"/>
          <a:lstStyle/>
          <a:p>
            <a:pPr algn="ctr">
              <a:defRPr sz="1400" b="1">
                <a:solidFill>
                  <a:srgbClr val="FFFFFF"/>
                </a:solidFill>
                <a:latin typeface="Calibri"/>
              </a:defRPr>
            </a:pPr>
            <a:r>
              <a:t>11</a:t>
            </a:r>
          </a:p>
        </p:txBody>
      </p:sp>
      <p:sp>
        <p:nvSpPr>
          <p:cNvPr id="58" name="Oval 57"/>
          <p:cNvSpPr/>
          <p:nvPr/>
        </p:nvSpPr>
        <p:spPr>
          <a:xfrm>
            <a:off x="10378440" y="2423160"/>
            <a:ext cx="640080" cy="640080"/>
          </a:xfrm>
          <a:prstGeom prst="ellipse">
            <a:avLst/>
          </a:prstGeom>
          <a:solidFill>
            <a:srgbClr val="1E3A8A"/>
          </a:solidFill>
          <a:ln>
            <a:noFill/>
          </a:ln>
          <a:effectLst/>
        </p:spPr>
        <p:txBody>
          <a:bodyPr rtlCol="0" anchor="ctr"/>
          <a:lstStyle/>
          <a:p>
            <a:pPr algn="ctr">
              <a:defRPr sz="1400" b="1">
                <a:solidFill>
                  <a:srgbClr val="FFFFFF"/>
                </a:solidFill>
                <a:latin typeface="Calibri"/>
              </a:defRPr>
            </a:pPr>
            <a:r>
              <a:t>12</a:t>
            </a:r>
          </a:p>
        </p:txBody>
      </p:sp>
      <p:sp>
        <p:nvSpPr>
          <p:cNvPr id="59" name="Oval 58"/>
          <p:cNvSpPr/>
          <p:nvPr/>
        </p:nvSpPr>
        <p:spPr>
          <a:xfrm>
            <a:off x="6949440" y="3566160"/>
            <a:ext cx="640080" cy="640080"/>
          </a:xfrm>
          <a:prstGeom prst="ellipse">
            <a:avLst/>
          </a:prstGeom>
          <a:solidFill>
            <a:srgbClr val="475569"/>
          </a:solidFill>
          <a:ln>
            <a:noFill/>
          </a:ln>
          <a:effectLst/>
        </p:spPr>
        <p:txBody>
          <a:bodyPr rtlCol="0" anchor="ctr"/>
          <a:lstStyle/>
          <a:p>
            <a:pPr algn="ctr">
              <a:defRPr sz="1400" b="1">
                <a:solidFill>
                  <a:srgbClr val="FFFFFF"/>
                </a:solidFill>
                <a:latin typeface="Calibri"/>
              </a:defRPr>
            </a:pPr>
            <a:r>
              <a:t>05</a:t>
            </a:r>
          </a:p>
        </p:txBody>
      </p:sp>
      <p:sp>
        <p:nvSpPr>
          <p:cNvPr id="60" name="Oval 59"/>
          <p:cNvSpPr/>
          <p:nvPr/>
        </p:nvSpPr>
        <p:spPr>
          <a:xfrm>
            <a:off x="8092440" y="3566160"/>
            <a:ext cx="640080" cy="640080"/>
          </a:xfrm>
          <a:prstGeom prst="ellipse">
            <a:avLst/>
          </a:prstGeom>
          <a:solidFill>
            <a:srgbClr val="0F766E"/>
          </a:solidFill>
          <a:ln>
            <a:noFill/>
          </a:ln>
          <a:effectLst/>
        </p:spPr>
        <p:txBody>
          <a:bodyPr rtlCol="0" anchor="ctr"/>
          <a:lstStyle/>
          <a:p>
            <a:pPr algn="ctr">
              <a:defRPr sz="1400" b="1">
                <a:solidFill>
                  <a:srgbClr val="FFFFFF"/>
                </a:solidFill>
                <a:latin typeface="Calibri"/>
              </a:defRPr>
            </a:pPr>
            <a:r>
              <a:t>06</a:t>
            </a:r>
          </a:p>
        </p:txBody>
      </p:sp>
      <p:sp>
        <p:nvSpPr>
          <p:cNvPr id="61" name="Oval 60"/>
          <p:cNvSpPr/>
          <p:nvPr/>
        </p:nvSpPr>
        <p:spPr>
          <a:xfrm>
            <a:off x="9235440" y="3566160"/>
            <a:ext cx="640080" cy="640080"/>
          </a:xfrm>
          <a:prstGeom prst="ellipse">
            <a:avLst/>
          </a:prstGeom>
          <a:solidFill>
            <a:srgbClr val="2563EB"/>
          </a:solidFill>
          <a:ln>
            <a:noFill/>
          </a:ln>
          <a:effectLst/>
        </p:spPr>
        <p:txBody>
          <a:bodyPr rtlCol="0" anchor="ctr"/>
          <a:lstStyle/>
          <a:p>
            <a:pPr algn="ctr">
              <a:defRPr sz="1400" b="1">
                <a:solidFill>
                  <a:srgbClr val="FFFFFF"/>
                </a:solidFill>
                <a:latin typeface="Calibri"/>
              </a:defRPr>
            </a:pPr>
            <a:r>
              <a:t>07</a:t>
            </a:r>
          </a:p>
        </p:txBody>
      </p:sp>
      <p:sp>
        <p:nvSpPr>
          <p:cNvPr id="62" name="Oval 61"/>
          <p:cNvSpPr/>
          <p:nvPr/>
        </p:nvSpPr>
        <p:spPr>
          <a:xfrm>
            <a:off x="10378440" y="3566160"/>
            <a:ext cx="640080" cy="640080"/>
          </a:xfrm>
          <a:prstGeom prst="ellipse">
            <a:avLst/>
          </a:prstGeom>
          <a:solidFill>
            <a:srgbClr val="475569"/>
          </a:solidFill>
          <a:ln>
            <a:noFill/>
          </a:ln>
          <a:effectLst/>
        </p:spPr>
        <p:txBody>
          <a:bodyPr rtlCol="0" anchor="ctr"/>
          <a:lstStyle/>
          <a:p>
            <a:pPr algn="ctr">
              <a:defRPr sz="1400" b="1">
                <a:solidFill>
                  <a:srgbClr val="FFFFFF"/>
                </a:solidFill>
                <a:latin typeface="Calibri"/>
              </a:defRPr>
            </a:pPr>
            <a:r>
              <a:t>08</a:t>
            </a:r>
          </a:p>
        </p:txBody>
      </p:sp>
      <p:sp>
        <p:nvSpPr>
          <p:cNvPr id="63" name="Oval 62"/>
          <p:cNvSpPr/>
          <p:nvPr/>
        </p:nvSpPr>
        <p:spPr>
          <a:xfrm>
            <a:off x="6858000" y="4617720"/>
            <a:ext cx="822960" cy="822960"/>
          </a:xfrm>
          <a:prstGeom prst="ellipse">
            <a:avLst/>
          </a:prstGeom>
          <a:noFill/>
          <a:ln w="31750">
            <a:solidFill>
              <a:srgbClr val="D97706"/>
            </a:solidFill>
          </a:ln>
          <a:effectLst/>
        </p:spPr>
        <p:txBody>
          <a:bodyPr rtlCol="0" anchor="ctr"/>
          <a:lstStyle/>
          <a:p>
            <a:pPr algn="ctr"/>
          </a:p>
        </p:txBody>
      </p:sp>
      <p:sp>
        <p:nvSpPr>
          <p:cNvPr id="64" name="Oval 63"/>
          <p:cNvSpPr/>
          <p:nvPr/>
        </p:nvSpPr>
        <p:spPr>
          <a:xfrm>
            <a:off x="6949440" y="4709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01</a:t>
            </a:r>
          </a:p>
        </p:txBody>
      </p:sp>
      <p:sp>
        <p:nvSpPr>
          <p:cNvPr id="65" name="Oval 64"/>
          <p:cNvSpPr/>
          <p:nvPr/>
        </p:nvSpPr>
        <p:spPr>
          <a:xfrm>
            <a:off x="8092440" y="4709160"/>
            <a:ext cx="640080" cy="640080"/>
          </a:xfrm>
          <a:prstGeom prst="ellipse">
            <a:avLst/>
          </a:prstGeom>
          <a:solidFill>
            <a:srgbClr val="059669"/>
          </a:solidFill>
          <a:ln>
            <a:noFill/>
          </a:ln>
          <a:effectLst/>
        </p:spPr>
        <p:txBody>
          <a:bodyPr rtlCol="0" anchor="ctr"/>
          <a:lstStyle/>
          <a:p>
            <a:pPr algn="ctr">
              <a:defRPr sz="1400" b="1">
                <a:solidFill>
                  <a:srgbClr val="FFFFFF"/>
                </a:solidFill>
                <a:latin typeface="Calibri"/>
              </a:defRPr>
            </a:pPr>
            <a:r>
              <a:t>02</a:t>
            </a:r>
          </a:p>
        </p:txBody>
      </p:sp>
      <p:sp>
        <p:nvSpPr>
          <p:cNvPr id="66" name="Oval 65"/>
          <p:cNvSpPr/>
          <p:nvPr/>
        </p:nvSpPr>
        <p:spPr>
          <a:xfrm>
            <a:off x="9235440" y="4709160"/>
            <a:ext cx="640080" cy="640080"/>
          </a:xfrm>
          <a:prstGeom prst="ellipse">
            <a:avLst/>
          </a:prstGeom>
          <a:solidFill>
            <a:srgbClr val="B45309"/>
          </a:solidFill>
          <a:ln>
            <a:noFill/>
          </a:ln>
          <a:effectLst/>
        </p:spPr>
        <p:txBody>
          <a:bodyPr rtlCol="0" anchor="ctr"/>
          <a:lstStyle/>
          <a:p>
            <a:pPr algn="ctr">
              <a:defRPr sz="1400" b="1">
                <a:solidFill>
                  <a:srgbClr val="FFFFFF"/>
                </a:solidFill>
                <a:latin typeface="Calibri"/>
              </a:defRPr>
            </a:pPr>
            <a:r>
              <a:t>03</a:t>
            </a:r>
          </a:p>
        </p:txBody>
      </p:sp>
      <p:sp>
        <p:nvSpPr>
          <p:cNvPr id="67" name="Oval 66"/>
          <p:cNvSpPr/>
          <p:nvPr/>
        </p:nvSpPr>
        <p:spPr>
          <a:xfrm>
            <a:off x="10287000" y="4617720"/>
            <a:ext cx="822960" cy="822960"/>
          </a:xfrm>
          <a:prstGeom prst="ellipse">
            <a:avLst/>
          </a:prstGeom>
          <a:noFill/>
          <a:ln w="31750">
            <a:solidFill>
              <a:srgbClr val="D97706"/>
            </a:solidFill>
          </a:ln>
          <a:effectLst/>
        </p:spPr>
        <p:txBody>
          <a:bodyPr rtlCol="0" anchor="ctr"/>
          <a:lstStyle/>
          <a:p>
            <a:pPr algn="ctr"/>
          </a:p>
        </p:txBody>
      </p:sp>
      <p:sp>
        <p:nvSpPr>
          <p:cNvPr id="68" name="Oval 67"/>
          <p:cNvSpPr/>
          <p:nvPr/>
        </p:nvSpPr>
        <p:spPr>
          <a:xfrm>
            <a:off x="10378440" y="4709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04</a:t>
            </a:r>
          </a:p>
        </p:txBody>
      </p:sp>
      <p:sp>
        <p:nvSpPr>
          <p:cNvPr id="69" name="TextBox 68"/>
          <p:cNvSpPr txBox="1"/>
          <p:nvPr/>
        </p:nvSpPr>
        <p:spPr>
          <a:xfrm>
            <a:off x="6675120" y="5715000"/>
            <a:ext cx="4114800" cy="411480"/>
          </a:xfrm>
          <a:prstGeom prst="rect">
            <a:avLst/>
          </a:prstGeom>
          <a:noFill/>
          <a:effectLst/>
        </p:spPr>
        <p:txBody>
          <a:bodyPr wrap="none">
            <a:spAutoFit/>
          </a:bodyPr>
          <a:lstStyle/>
          <a:p>
            <a:pPr algn="ctr">
              <a:defRPr sz="2000" b="1">
                <a:solidFill>
                  <a:srgbClr val="D97706"/>
                </a:solidFill>
                <a:latin typeface="Calibri"/>
              </a:defRPr>
            </a:pPr>
            <a:r>
              <a:t>Four corners share slot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a:effectLst/>
        </p:spPr>
        <p:txBody>
          <a:bodyPr rtlCol="0" anchor="ctr"/>
          <a:lstStyle/>
          <a:p>
            <a:pPr algn="ctr"/>
          </a:p>
        </p:txBody>
      </p:sp>
      <p:sp>
        <p:nvSpPr>
          <p:cNvPr id="3" name="TextBox 2"/>
          <p:cNvSpPr txBox="1"/>
          <p:nvPr/>
        </p:nvSpPr>
        <p:spPr>
          <a:xfrm>
            <a:off x="914400" y="502920"/>
            <a:ext cx="10362895" cy="594360"/>
          </a:xfrm>
          <a:prstGeom prst="rect">
            <a:avLst/>
          </a:prstGeom>
          <a:noFill/>
          <a:effectLst/>
        </p:spPr>
        <p:txBody>
          <a:bodyPr wrap="square" lIns="0" tIns="0" rIns="0" bIns="0">
            <a:spAutoFit/>
          </a:bodyPr>
          <a:lstStyle/>
          <a:p>
            <a:pPr>
              <a:defRPr sz="3200" b="1">
                <a:solidFill>
                  <a:srgbClr val="1B1F2A"/>
                </a:solidFill>
                <a:latin typeface="Georgia"/>
              </a:defRPr>
            </a:pPr>
            <a:r>
              <a:t>Why 9 is the best possible</a:t>
            </a:r>
          </a:p>
        </p:txBody>
      </p:sp>
      <p:sp>
        <p:nvSpPr>
          <p:cNvPr id="4" name="Rectangle 3"/>
          <p:cNvSpPr/>
          <p:nvPr/>
        </p:nvSpPr>
        <p:spPr>
          <a:xfrm>
            <a:off x="914400" y="1170432"/>
            <a:ext cx="10362895" cy="12700"/>
          </a:xfrm>
          <a:prstGeom prst="rect">
            <a:avLst/>
          </a:prstGeom>
          <a:solidFill>
            <a:srgbClr val="CBD5E1"/>
          </a:solidFill>
          <a:ln>
            <a:noFill/>
          </a:ln>
          <a:effectLst/>
        </p:spPr>
        <p:txBody>
          <a:bodyPr rtlCol="0" anchor="ctr"/>
          <a:lstStyle/>
          <a:p>
            <a:pPr algn="ctr"/>
          </a:p>
        </p:txBody>
      </p:sp>
      <p:sp>
        <p:nvSpPr>
          <p:cNvPr id="5" name="TextBox 4"/>
          <p:cNvSpPr txBox="1"/>
          <p:nvPr/>
        </p:nvSpPr>
        <p:spPr>
          <a:xfrm>
            <a:off x="914400" y="1371600"/>
            <a:ext cx="2743200" cy="1280160"/>
          </a:xfrm>
          <a:prstGeom prst="rect">
            <a:avLst/>
          </a:prstGeom>
          <a:noFill/>
          <a:effectLst/>
        </p:spPr>
        <p:txBody>
          <a:bodyPr wrap="none" lIns="0" tIns="0" rIns="0" bIns="0">
            <a:spAutoFit/>
          </a:bodyPr>
          <a:lstStyle/>
          <a:p>
            <a:pPr>
              <a:defRPr sz="11000" b="1">
                <a:solidFill>
                  <a:srgbClr val="D97706"/>
                </a:solidFill>
                <a:latin typeface="Georgia"/>
              </a:defRPr>
            </a:pPr>
            <a:r>
              <a:t>9</a:t>
            </a:r>
          </a:p>
        </p:txBody>
      </p:sp>
      <p:sp>
        <p:nvSpPr>
          <p:cNvPr id="6" name="TextBox 5"/>
          <p:cNvSpPr txBox="1"/>
          <p:nvPr/>
        </p:nvSpPr>
        <p:spPr>
          <a:xfrm>
            <a:off x="914400" y="3017520"/>
            <a:ext cx="5303520" cy="411480"/>
          </a:xfrm>
          <a:prstGeom prst="rect">
            <a:avLst/>
          </a:prstGeom>
          <a:noFill/>
          <a:effectLst/>
        </p:spPr>
        <p:txBody>
          <a:bodyPr wrap="square" lIns="0" tIns="0" rIns="0" bIns="0">
            <a:spAutoFit/>
          </a:bodyPr>
          <a:lstStyle/>
          <a:p>
            <a:pPr>
              <a:defRPr sz="2200" b="1">
                <a:solidFill>
                  <a:srgbClr val="1B1F2A"/>
                </a:solidFill>
                <a:latin typeface="Georgia"/>
              </a:defRPr>
            </a:pPr>
            <a:r>
              <a:t>slots is the mathematical floor</a:t>
            </a:r>
          </a:p>
        </p:txBody>
      </p:sp>
      <p:sp>
        <p:nvSpPr>
          <p:cNvPr id="7" name="TextBox 6"/>
          <p:cNvSpPr txBox="1"/>
          <p:nvPr/>
        </p:nvSpPr>
        <p:spPr>
          <a:xfrm>
            <a:off x="914400" y="3474720"/>
            <a:ext cx="5303520" cy="1051560"/>
          </a:xfrm>
          <a:prstGeom prst="rect">
            <a:avLst/>
          </a:prstGeom>
          <a:noFill/>
          <a:effectLst/>
        </p:spPr>
        <p:txBody>
          <a:bodyPr wrap="square" lIns="0" tIns="0" rIns="0" bIns="0">
            <a:spAutoFit/>
          </a:bodyPr>
          <a:lstStyle/>
          <a:p>
            <a:pPr>
              <a:defRPr sz="2000">
                <a:solidFill>
                  <a:srgbClr val="1B1F2A"/>
                </a:solidFill>
                <a:latin typeface="Calibri"/>
              </a:defRPr>
            </a:pPr>
            <a:r>
              <a:t>• Diagonal neighbors reach each other (424 m ≤ 500 m).</a:t>
            </a:r>
          </a:p>
          <a:p>
            <a:pPr>
              <a:spcBef>
                <a:spcPts val="400"/>
              </a:spcBef>
              <a:defRPr sz="2000">
                <a:solidFill>
                  <a:srgbClr val="1B1F2A"/>
                </a:solidFill>
                <a:latin typeface="Calibri"/>
              </a:defRPr>
            </a:pPr>
            <a:r>
              <a:t>• Every pair in any 3×3 block is within 2 hops in G.</a:t>
            </a:r>
          </a:p>
          <a:p>
            <a:pPr>
              <a:spcBef>
                <a:spcPts val="400"/>
              </a:spcBef>
              <a:defRPr sz="2000">
                <a:solidFill>
                  <a:srgbClr val="1B1F2A"/>
                </a:solidFill>
                <a:latin typeface="Calibri"/>
              </a:defRPr>
            </a:pPr>
            <a:r>
              <a:t>• That forms a 9-clique in G², forcing 9 distinct slots.</a:t>
            </a:r>
          </a:p>
        </p:txBody>
      </p:sp>
      <p:sp>
        <p:nvSpPr>
          <p:cNvPr id="8" name="TextBox 7"/>
          <p:cNvSpPr txBox="1"/>
          <p:nvPr/>
        </p:nvSpPr>
        <p:spPr>
          <a:xfrm>
            <a:off x="914400" y="5166360"/>
            <a:ext cx="5303520" cy="1005840"/>
          </a:xfrm>
          <a:prstGeom prst="rect">
            <a:avLst/>
          </a:prstGeom>
          <a:noFill/>
          <a:effectLst/>
        </p:spPr>
        <p:txBody>
          <a:bodyPr wrap="square" lIns="0" tIns="0" rIns="0" bIns="0">
            <a:spAutoFit/>
          </a:bodyPr>
          <a:lstStyle/>
          <a:p>
            <a:pPr>
              <a:defRPr sz="1900">
                <a:solidFill>
                  <a:srgbClr val="D97706"/>
                </a:solidFill>
                <a:latin typeface="Calibri"/>
              </a:defRPr>
            </a:pPr>
            <a:r>
              <a:t>The brief's sample shows 5 slots with partial coordinates. Node_01 and Node_03 share slot 0, but both neighbor Node_02, so distance-2 forbids sharing.</a:t>
            </a:r>
          </a:p>
        </p:txBody>
      </p:sp>
      <p:sp>
        <p:nvSpPr>
          <p:cNvPr id="9" name="Rectangle 8"/>
          <p:cNvSpPr/>
          <p:nvPr/>
        </p:nvSpPr>
        <p:spPr>
          <a:xfrm>
            <a:off x="6784848" y="2304288"/>
            <a:ext cx="3255264" cy="3255264"/>
          </a:xfrm>
          <a:prstGeom prst="rect">
            <a:avLst/>
          </a:prstGeom>
          <a:solidFill>
            <a:srgbClr val="FEF3C7"/>
          </a:solidFill>
          <a:ln w="25400">
            <a:solidFill>
              <a:srgbClr val="D97706"/>
            </a:solidFill>
          </a:ln>
          <a:effectLst/>
        </p:spPr>
        <p:txBody>
          <a:bodyPr rtlCol="0" anchor="ctr"/>
          <a:lstStyle/>
          <a:p>
            <a:pPr algn="ctr"/>
          </a:p>
        </p:txBody>
      </p:sp>
      <p:cxnSp>
        <p:nvCxnSpPr>
          <p:cNvPr id="10" name="Connector 9"/>
          <p:cNvCxnSpPr/>
          <p:nvPr/>
        </p:nvCxnSpPr>
        <p:spPr>
          <a:xfrm>
            <a:off x="7269480" y="1600200"/>
            <a:ext cx="1143000" cy="0"/>
          </a:xfrm>
          <a:prstGeom prst="line">
            <a:avLst/>
          </a:prstGeom>
          <a:ln w="12700">
            <a:solidFill>
              <a:srgbClr val="CBD5E1"/>
            </a:solidFill>
          </a:ln>
          <a:effectLst/>
        </p:spPr>
      </p:cxnSp>
      <p:cxnSp>
        <p:nvCxnSpPr>
          <p:cNvPr id="11" name="Connector 10"/>
          <p:cNvCxnSpPr/>
          <p:nvPr/>
        </p:nvCxnSpPr>
        <p:spPr>
          <a:xfrm>
            <a:off x="7269480" y="1600200"/>
            <a:ext cx="0" cy="1143000"/>
          </a:xfrm>
          <a:prstGeom prst="line">
            <a:avLst/>
          </a:prstGeom>
          <a:ln w="12700">
            <a:solidFill>
              <a:srgbClr val="CBD5E1"/>
            </a:solidFill>
          </a:ln>
          <a:effectLst/>
        </p:spPr>
      </p:cxnSp>
      <p:cxnSp>
        <p:nvCxnSpPr>
          <p:cNvPr id="12" name="Connector 11"/>
          <p:cNvCxnSpPr/>
          <p:nvPr/>
        </p:nvCxnSpPr>
        <p:spPr>
          <a:xfrm>
            <a:off x="7269480" y="1600200"/>
            <a:ext cx="1143000" cy="1143000"/>
          </a:xfrm>
          <a:prstGeom prst="line">
            <a:avLst/>
          </a:prstGeom>
          <a:ln w="12700">
            <a:solidFill>
              <a:srgbClr val="CBD5E1"/>
            </a:solidFill>
          </a:ln>
          <a:effectLst/>
        </p:spPr>
      </p:cxnSp>
      <p:cxnSp>
        <p:nvCxnSpPr>
          <p:cNvPr id="13" name="Connector 12"/>
          <p:cNvCxnSpPr/>
          <p:nvPr/>
        </p:nvCxnSpPr>
        <p:spPr>
          <a:xfrm>
            <a:off x="8412480" y="1600200"/>
            <a:ext cx="1143000" cy="0"/>
          </a:xfrm>
          <a:prstGeom prst="line">
            <a:avLst/>
          </a:prstGeom>
          <a:ln w="12700">
            <a:solidFill>
              <a:srgbClr val="CBD5E1"/>
            </a:solidFill>
          </a:ln>
          <a:effectLst/>
        </p:spPr>
      </p:cxnSp>
      <p:cxnSp>
        <p:nvCxnSpPr>
          <p:cNvPr id="14" name="Connector 13"/>
          <p:cNvCxnSpPr/>
          <p:nvPr/>
        </p:nvCxnSpPr>
        <p:spPr>
          <a:xfrm flipH="1">
            <a:off x="7269480" y="1600200"/>
            <a:ext cx="1143000" cy="1143000"/>
          </a:xfrm>
          <a:prstGeom prst="line">
            <a:avLst/>
          </a:prstGeom>
          <a:ln w="12700">
            <a:solidFill>
              <a:srgbClr val="CBD5E1"/>
            </a:solidFill>
          </a:ln>
          <a:effectLst/>
        </p:spPr>
      </p:cxnSp>
      <p:cxnSp>
        <p:nvCxnSpPr>
          <p:cNvPr id="15" name="Connector 14"/>
          <p:cNvCxnSpPr/>
          <p:nvPr/>
        </p:nvCxnSpPr>
        <p:spPr>
          <a:xfrm>
            <a:off x="8412480" y="1600200"/>
            <a:ext cx="0" cy="1143000"/>
          </a:xfrm>
          <a:prstGeom prst="line">
            <a:avLst/>
          </a:prstGeom>
          <a:ln w="12700">
            <a:solidFill>
              <a:srgbClr val="CBD5E1"/>
            </a:solidFill>
          </a:ln>
          <a:effectLst/>
        </p:spPr>
      </p:cxnSp>
      <p:cxnSp>
        <p:nvCxnSpPr>
          <p:cNvPr id="16" name="Connector 15"/>
          <p:cNvCxnSpPr/>
          <p:nvPr/>
        </p:nvCxnSpPr>
        <p:spPr>
          <a:xfrm>
            <a:off x="8412480" y="1600200"/>
            <a:ext cx="1143000" cy="1143000"/>
          </a:xfrm>
          <a:prstGeom prst="line">
            <a:avLst/>
          </a:prstGeom>
          <a:ln w="12700">
            <a:solidFill>
              <a:srgbClr val="CBD5E1"/>
            </a:solidFill>
          </a:ln>
          <a:effectLst/>
        </p:spPr>
      </p:cxnSp>
      <p:cxnSp>
        <p:nvCxnSpPr>
          <p:cNvPr id="17" name="Connector 16"/>
          <p:cNvCxnSpPr/>
          <p:nvPr/>
        </p:nvCxnSpPr>
        <p:spPr>
          <a:xfrm>
            <a:off x="9555480" y="1600200"/>
            <a:ext cx="1143000" cy="0"/>
          </a:xfrm>
          <a:prstGeom prst="line">
            <a:avLst/>
          </a:prstGeom>
          <a:ln w="12700">
            <a:solidFill>
              <a:srgbClr val="CBD5E1"/>
            </a:solidFill>
          </a:ln>
          <a:effectLst/>
        </p:spPr>
      </p:cxnSp>
      <p:cxnSp>
        <p:nvCxnSpPr>
          <p:cNvPr id="18" name="Connector 17"/>
          <p:cNvCxnSpPr/>
          <p:nvPr/>
        </p:nvCxnSpPr>
        <p:spPr>
          <a:xfrm flipH="1">
            <a:off x="8412480" y="1600200"/>
            <a:ext cx="1143000" cy="1143000"/>
          </a:xfrm>
          <a:prstGeom prst="line">
            <a:avLst/>
          </a:prstGeom>
          <a:ln w="12700">
            <a:solidFill>
              <a:srgbClr val="CBD5E1"/>
            </a:solidFill>
          </a:ln>
          <a:effectLst/>
        </p:spPr>
      </p:cxnSp>
      <p:cxnSp>
        <p:nvCxnSpPr>
          <p:cNvPr id="19" name="Connector 18"/>
          <p:cNvCxnSpPr/>
          <p:nvPr/>
        </p:nvCxnSpPr>
        <p:spPr>
          <a:xfrm>
            <a:off x="9555480" y="1600200"/>
            <a:ext cx="0" cy="1143000"/>
          </a:xfrm>
          <a:prstGeom prst="line">
            <a:avLst/>
          </a:prstGeom>
          <a:ln w="12700">
            <a:solidFill>
              <a:srgbClr val="CBD5E1"/>
            </a:solidFill>
          </a:ln>
          <a:effectLst/>
        </p:spPr>
      </p:cxnSp>
      <p:cxnSp>
        <p:nvCxnSpPr>
          <p:cNvPr id="20" name="Connector 19"/>
          <p:cNvCxnSpPr/>
          <p:nvPr/>
        </p:nvCxnSpPr>
        <p:spPr>
          <a:xfrm>
            <a:off x="9555480" y="1600200"/>
            <a:ext cx="1143000" cy="1143000"/>
          </a:xfrm>
          <a:prstGeom prst="line">
            <a:avLst/>
          </a:prstGeom>
          <a:ln w="12700">
            <a:solidFill>
              <a:srgbClr val="CBD5E1"/>
            </a:solidFill>
          </a:ln>
          <a:effectLst/>
        </p:spPr>
      </p:cxnSp>
      <p:cxnSp>
        <p:nvCxnSpPr>
          <p:cNvPr id="21" name="Connector 20"/>
          <p:cNvCxnSpPr/>
          <p:nvPr/>
        </p:nvCxnSpPr>
        <p:spPr>
          <a:xfrm flipH="1">
            <a:off x="9555480" y="1600200"/>
            <a:ext cx="1143000" cy="1143000"/>
          </a:xfrm>
          <a:prstGeom prst="line">
            <a:avLst/>
          </a:prstGeom>
          <a:ln w="12700">
            <a:solidFill>
              <a:srgbClr val="CBD5E1"/>
            </a:solidFill>
          </a:ln>
          <a:effectLst/>
        </p:spPr>
      </p:cxnSp>
      <p:cxnSp>
        <p:nvCxnSpPr>
          <p:cNvPr id="22" name="Connector 21"/>
          <p:cNvCxnSpPr/>
          <p:nvPr/>
        </p:nvCxnSpPr>
        <p:spPr>
          <a:xfrm>
            <a:off x="10698480" y="1600200"/>
            <a:ext cx="0" cy="1143000"/>
          </a:xfrm>
          <a:prstGeom prst="line">
            <a:avLst/>
          </a:prstGeom>
          <a:ln w="12700">
            <a:solidFill>
              <a:srgbClr val="CBD5E1"/>
            </a:solidFill>
          </a:ln>
          <a:effectLst/>
        </p:spPr>
      </p:cxnSp>
      <p:cxnSp>
        <p:nvCxnSpPr>
          <p:cNvPr id="23" name="Connector 22"/>
          <p:cNvCxnSpPr/>
          <p:nvPr/>
        </p:nvCxnSpPr>
        <p:spPr>
          <a:xfrm>
            <a:off x="7269480" y="2743200"/>
            <a:ext cx="1143000" cy="0"/>
          </a:xfrm>
          <a:prstGeom prst="line">
            <a:avLst/>
          </a:prstGeom>
          <a:ln w="12700">
            <a:solidFill>
              <a:srgbClr val="CBD5E1"/>
            </a:solidFill>
          </a:ln>
          <a:effectLst/>
        </p:spPr>
      </p:cxnSp>
      <p:cxnSp>
        <p:nvCxnSpPr>
          <p:cNvPr id="24" name="Connector 23"/>
          <p:cNvCxnSpPr/>
          <p:nvPr/>
        </p:nvCxnSpPr>
        <p:spPr>
          <a:xfrm>
            <a:off x="7269480" y="2743200"/>
            <a:ext cx="0" cy="1143000"/>
          </a:xfrm>
          <a:prstGeom prst="line">
            <a:avLst/>
          </a:prstGeom>
          <a:ln w="12700">
            <a:solidFill>
              <a:srgbClr val="CBD5E1"/>
            </a:solidFill>
          </a:ln>
          <a:effectLst/>
        </p:spPr>
      </p:cxnSp>
      <p:cxnSp>
        <p:nvCxnSpPr>
          <p:cNvPr id="25" name="Connector 24"/>
          <p:cNvCxnSpPr/>
          <p:nvPr/>
        </p:nvCxnSpPr>
        <p:spPr>
          <a:xfrm>
            <a:off x="7269480" y="2743200"/>
            <a:ext cx="1143000" cy="1143000"/>
          </a:xfrm>
          <a:prstGeom prst="line">
            <a:avLst/>
          </a:prstGeom>
          <a:ln w="12700">
            <a:solidFill>
              <a:srgbClr val="CBD5E1"/>
            </a:solidFill>
          </a:ln>
          <a:effectLst/>
        </p:spPr>
      </p:cxnSp>
      <p:cxnSp>
        <p:nvCxnSpPr>
          <p:cNvPr id="26" name="Connector 25"/>
          <p:cNvCxnSpPr/>
          <p:nvPr/>
        </p:nvCxnSpPr>
        <p:spPr>
          <a:xfrm>
            <a:off x="8412480" y="2743200"/>
            <a:ext cx="1143000" cy="0"/>
          </a:xfrm>
          <a:prstGeom prst="line">
            <a:avLst/>
          </a:prstGeom>
          <a:ln w="12700">
            <a:solidFill>
              <a:srgbClr val="CBD5E1"/>
            </a:solidFill>
          </a:ln>
          <a:effectLst/>
        </p:spPr>
      </p:cxnSp>
      <p:cxnSp>
        <p:nvCxnSpPr>
          <p:cNvPr id="27" name="Connector 26"/>
          <p:cNvCxnSpPr/>
          <p:nvPr/>
        </p:nvCxnSpPr>
        <p:spPr>
          <a:xfrm flipH="1">
            <a:off x="7269480" y="2743200"/>
            <a:ext cx="1143000" cy="1143000"/>
          </a:xfrm>
          <a:prstGeom prst="line">
            <a:avLst/>
          </a:prstGeom>
          <a:ln w="12700">
            <a:solidFill>
              <a:srgbClr val="CBD5E1"/>
            </a:solidFill>
          </a:ln>
          <a:effectLst/>
        </p:spPr>
      </p:cxnSp>
      <p:cxnSp>
        <p:nvCxnSpPr>
          <p:cNvPr id="28" name="Connector 27"/>
          <p:cNvCxnSpPr/>
          <p:nvPr/>
        </p:nvCxnSpPr>
        <p:spPr>
          <a:xfrm>
            <a:off x="8412480" y="2743200"/>
            <a:ext cx="0" cy="1143000"/>
          </a:xfrm>
          <a:prstGeom prst="line">
            <a:avLst/>
          </a:prstGeom>
          <a:ln w="12700">
            <a:solidFill>
              <a:srgbClr val="CBD5E1"/>
            </a:solidFill>
          </a:ln>
          <a:effectLst/>
        </p:spPr>
      </p:cxnSp>
      <p:cxnSp>
        <p:nvCxnSpPr>
          <p:cNvPr id="29" name="Connector 28"/>
          <p:cNvCxnSpPr/>
          <p:nvPr/>
        </p:nvCxnSpPr>
        <p:spPr>
          <a:xfrm>
            <a:off x="8412480" y="2743200"/>
            <a:ext cx="1143000" cy="1143000"/>
          </a:xfrm>
          <a:prstGeom prst="line">
            <a:avLst/>
          </a:prstGeom>
          <a:ln w="12700">
            <a:solidFill>
              <a:srgbClr val="CBD5E1"/>
            </a:solidFill>
          </a:ln>
          <a:effectLst/>
        </p:spPr>
      </p:cxnSp>
      <p:cxnSp>
        <p:nvCxnSpPr>
          <p:cNvPr id="30" name="Connector 29"/>
          <p:cNvCxnSpPr/>
          <p:nvPr/>
        </p:nvCxnSpPr>
        <p:spPr>
          <a:xfrm>
            <a:off x="9555480" y="2743200"/>
            <a:ext cx="1143000" cy="0"/>
          </a:xfrm>
          <a:prstGeom prst="line">
            <a:avLst/>
          </a:prstGeom>
          <a:ln w="12700">
            <a:solidFill>
              <a:srgbClr val="CBD5E1"/>
            </a:solidFill>
          </a:ln>
          <a:effectLst/>
        </p:spPr>
      </p:cxnSp>
      <p:cxnSp>
        <p:nvCxnSpPr>
          <p:cNvPr id="31" name="Connector 30"/>
          <p:cNvCxnSpPr/>
          <p:nvPr/>
        </p:nvCxnSpPr>
        <p:spPr>
          <a:xfrm flipH="1">
            <a:off x="8412480" y="2743200"/>
            <a:ext cx="1143000" cy="1143000"/>
          </a:xfrm>
          <a:prstGeom prst="line">
            <a:avLst/>
          </a:prstGeom>
          <a:ln w="12700">
            <a:solidFill>
              <a:srgbClr val="CBD5E1"/>
            </a:solidFill>
          </a:ln>
          <a:effectLst/>
        </p:spPr>
      </p:cxnSp>
      <p:cxnSp>
        <p:nvCxnSpPr>
          <p:cNvPr id="32" name="Connector 31"/>
          <p:cNvCxnSpPr/>
          <p:nvPr/>
        </p:nvCxnSpPr>
        <p:spPr>
          <a:xfrm>
            <a:off x="9555480" y="2743200"/>
            <a:ext cx="0" cy="1143000"/>
          </a:xfrm>
          <a:prstGeom prst="line">
            <a:avLst/>
          </a:prstGeom>
          <a:ln w="12700">
            <a:solidFill>
              <a:srgbClr val="CBD5E1"/>
            </a:solidFill>
          </a:ln>
          <a:effectLst/>
        </p:spPr>
      </p:cxnSp>
      <p:cxnSp>
        <p:nvCxnSpPr>
          <p:cNvPr id="33" name="Connector 32"/>
          <p:cNvCxnSpPr/>
          <p:nvPr/>
        </p:nvCxnSpPr>
        <p:spPr>
          <a:xfrm>
            <a:off x="9555480" y="2743200"/>
            <a:ext cx="1143000" cy="1143000"/>
          </a:xfrm>
          <a:prstGeom prst="line">
            <a:avLst/>
          </a:prstGeom>
          <a:ln w="12700">
            <a:solidFill>
              <a:srgbClr val="CBD5E1"/>
            </a:solidFill>
          </a:ln>
          <a:effectLst/>
        </p:spPr>
      </p:cxnSp>
      <p:cxnSp>
        <p:nvCxnSpPr>
          <p:cNvPr id="34" name="Connector 33"/>
          <p:cNvCxnSpPr/>
          <p:nvPr/>
        </p:nvCxnSpPr>
        <p:spPr>
          <a:xfrm flipH="1">
            <a:off x="9555480" y="2743200"/>
            <a:ext cx="1143000" cy="1143000"/>
          </a:xfrm>
          <a:prstGeom prst="line">
            <a:avLst/>
          </a:prstGeom>
          <a:ln w="12700">
            <a:solidFill>
              <a:srgbClr val="CBD5E1"/>
            </a:solidFill>
          </a:ln>
          <a:effectLst/>
        </p:spPr>
      </p:cxnSp>
      <p:cxnSp>
        <p:nvCxnSpPr>
          <p:cNvPr id="35" name="Connector 34"/>
          <p:cNvCxnSpPr/>
          <p:nvPr/>
        </p:nvCxnSpPr>
        <p:spPr>
          <a:xfrm>
            <a:off x="10698480" y="2743200"/>
            <a:ext cx="0" cy="1143000"/>
          </a:xfrm>
          <a:prstGeom prst="line">
            <a:avLst/>
          </a:prstGeom>
          <a:ln w="12700">
            <a:solidFill>
              <a:srgbClr val="CBD5E1"/>
            </a:solidFill>
          </a:ln>
          <a:effectLst/>
        </p:spPr>
      </p:cxnSp>
      <p:cxnSp>
        <p:nvCxnSpPr>
          <p:cNvPr id="36" name="Connector 35"/>
          <p:cNvCxnSpPr/>
          <p:nvPr/>
        </p:nvCxnSpPr>
        <p:spPr>
          <a:xfrm>
            <a:off x="7269480" y="3886200"/>
            <a:ext cx="1143000" cy="0"/>
          </a:xfrm>
          <a:prstGeom prst="line">
            <a:avLst/>
          </a:prstGeom>
          <a:ln w="12700">
            <a:solidFill>
              <a:srgbClr val="CBD5E1"/>
            </a:solidFill>
          </a:ln>
          <a:effectLst/>
        </p:spPr>
      </p:cxnSp>
      <p:cxnSp>
        <p:nvCxnSpPr>
          <p:cNvPr id="37" name="Connector 36"/>
          <p:cNvCxnSpPr/>
          <p:nvPr/>
        </p:nvCxnSpPr>
        <p:spPr>
          <a:xfrm>
            <a:off x="7269480" y="3886200"/>
            <a:ext cx="0" cy="1143000"/>
          </a:xfrm>
          <a:prstGeom prst="line">
            <a:avLst/>
          </a:prstGeom>
          <a:ln w="12700">
            <a:solidFill>
              <a:srgbClr val="CBD5E1"/>
            </a:solidFill>
          </a:ln>
          <a:effectLst/>
        </p:spPr>
      </p:cxnSp>
      <p:cxnSp>
        <p:nvCxnSpPr>
          <p:cNvPr id="38" name="Connector 37"/>
          <p:cNvCxnSpPr/>
          <p:nvPr/>
        </p:nvCxnSpPr>
        <p:spPr>
          <a:xfrm>
            <a:off x="7269480" y="3886200"/>
            <a:ext cx="1143000" cy="1143000"/>
          </a:xfrm>
          <a:prstGeom prst="line">
            <a:avLst/>
          </a:prstGeom>
          <a:ln w="12700">
            <a:solidFill>
              <a:srgbClr val="CBD5E1"/>
            </a:solidFill>
          </a:ln>
          <a:effectLst/>
        </p:spPr>
      </p:cxnSp>
      <p:cxnSp>
        <p:nvCxnSpPr>
          <p:cNvPr id="39" name="Connector 38"/>
          <p:cNvCxnSpPr/>
          <p:nvPr/>
        </p:nvCxnSpPr>
        <p:spPr>
          <a:xfrm>
            <a:off x="8412480" y="3886200"/>
            <a:ext cx="1143000" cy="0"/>
          </a:xfrm>
          <a:prstGeom prst="line">
            <a:avLst/>
          </a:prstGeom>
          <a:ln w="12700">
            <a:solidFill>
              <a:srgbClr val="CBD5E1"/>
            </a:solidFill>
          </a:ln>
          <a:effectLst/>
        </p:spPr>
      </p:cxnSp>
      <p:cxnSp>
        <p:nvCxnSpPr>
          <p:cNvPr id="40" name="Connector 39"/>
          <p:cNvCxnSpPr/>
          <p:nvPr/>
        </p:nvCxnSpPr>
        <p:spPr>
          <a:xfrm flipH="1">
            <a:off x="7269480" y="3886200"/>
            <a:ext cx="1143000" cy="1143000"/>
          </a:xfrm>
          <a:prstGeom prst="line">
            <a:avLst/>
          </a:prstGeom>
          <a:ln w="12700">
            <a:solidFill>
              <a:srgbClr val="CBD5E1"/>
            </a:solidFill>
          </a:ln>
          <a:effectLst/>
        </p:spPr>
      </p:cxnSp>
      <p:cxnSp>
        <p:nvCxnSpPr>
          <p:cNvPr id="41" name="Connector 40"/>
          <p:cNvCxnSpPr/>
          <p:nvPr/>
        </p:nvCxnSpPr>
        <p:spPr>
          <a:xfrm>
            <a:off x="8412480" y="3886200"/>
            <a:ext cx="0" cy="1143000"/>
          </a:xfrm>
          <a:prstGeom prst="line">
            <a:avLst/>
          </a:prstGeom>
          <a:ln w="12700">
            <a:solidFill>
              <a:srgbClr val="CBD5E1"/>
            </a:solidFill>
          </a:ln>
          <a:effectLst/>
        </p:spPr>
      </p:cxnSp>
      <p:cxnSp>
        <p:nvCxnSpPr>
          <p:cNvPr id="42" name="Connector 41"/>
          <p:cNvCxnSpPr/>
          <p:nvPr/>
        </p:nvCxnSpPr>
        <p:spPr>
          <a:xfrm>
            <a:off x="8412480" y="3886200"/>
            <a:ext cx="1143000" cy="1143000"/>
          </a:xfrm>
          <a:prstGeom prst="line">
            <a:avLst/>
          </a:prstGeom>
          <a:ln w="12700">
            <a:solidFill>
              <a:srgbClr val="CBD5E1"/>
            </a:solidFill>
          </a:ln>
          <a:effectLst/>
        </p:spPr>
      </p:cxnSp>
      <p:cxnSp>
        <p:nvCxnSpPr>
          <p:cNvPr id="43" name="Connector 42"/>
          <p:cNvCxnSpPr/>
          <p:nvPr/>
        </p:nvCxnSpPr>
        <p:spPr>
          <a:xfrm>
            <a:off x="9555480" y="3886200"/>
            <a:ext cx="1143000" cy="0"/>
          </a:xfrm>
          <a:prstGeom prst="line">
            <a:avLst/>
          </a:prstGeom>
          <a:ln w="12700">
            <a:solidFill>
              <a:srgbClr val="CBD5E1"/>
            </a:solidFill>
          </a:ln>
          <a:effectLst/>
        </p:spPr>
      </p:cxnSp>
      <p:cxnSp>
        <p:nvCxnSpPr>
          <p:cNvPr id="44" name="Connector 43"/>
          <p:cNvCxnSpPr/>
          <p:nvPr/>
        </p:nvCxnSpPr>
        <p:spPr>
          <a:xfrm flipH="1">
            <a:off x="8412480" y="3886200"/>
            <a:ext cx="1143000" cy="1143000"/>
          </a:xfrm>
          <a:prstGeom prst="line">
            <a:avLst/>
          </a:prstGeom>
          <a:ln w="12700">
            <a:solidFill>
              <a:srgbClr val="CBD5E1"/>
            </a:solidFill>
          </a:ln>
          <a:effectLst/>
        </p:spPr>
      </p:cxnSp>
      <p:cxnSp>
        <p:nvCxnSpPr>
          <p:cNvPr id="45" name="Connector 44"/>
          <p:cNvCxnSpPr/>
          <p:nvPr/>
        </p:nvCxnSpPr>
        <p:spPr>
          <a:xfrm>
            <a:off x="9555480" y="3886200"/>
            <a:ext cx="0" cy="1143000"/>
          </a:xfrm>
          <a:prstGeom prst="line">
            <a:avLst/>
          </a:prstGeom>
          <a:ln w="12700">
            <a:solidFill>
              <a:srgbClr val="CBD5E1"/>
            </a:solidFill>
          </a:ln>
          <a:effectLst/>
        </p:spPr>
      </p:cxnSp>
      <p:cxnSp>
        <p:nvCxnSpPr>
          <p:cNvPr id="46" name="Connector 45"/>
          <p:cNvCxnSpPr/>
          <p:nvPr/>
        </p:nvCxnSpPr>
        <p:spPr>
          <a:xfrm>
            <a:off x="9555480" y="3886200"/>
            <a:ext cx="1143000" cy="1143000"/>
          </a:xfrm>
          <a:prstGeom prst="line">
            <a:avLst/>
          </a:prstGeom>
          <a:ln w="12700">
            <a:solidFill>
              <a:srgbClr val="CBD5E1"/>
            </a:solidFill>
          </a:ln>
          <a:effectLst/>
        </p:spPr>
      </p:cxnSp>
      <p:cxnSp>
        <p:nvCxnSpPr>
          <p:cNvPr id="47" name="Connector 46"/>
          <p:cNvCxnSpPr/>
          <p:nvPr/>
        </p:nvCxnSpPr>
        <p:spPr>
          <a:xfrm flipH="1">
            <a:off x="9555480" y="3886200"/>
            <a:ext cx="1143000" cy="1143000"/>
          </a:xfrm>
          <a:prstGeom prst="line">
            <a:avLst/>
          </a:prstGeom>
          <a:ln w="12700">
            <a:solidFill>
              <a:srgbClr val="CBD5E1"/>
            </a:solidFill>
          </a:ln>
          <a:effectLst/>
        </p:spPr>
      </p:cxnSp>
      <p:cxnSp>
        <p:nvCxnSpPr>
          <p:cNvPr id="48" name="Connector 47"/>
          <p:cNvCxnSpPr/>
          <p:nvPr/>
        </p:nvCxnSpPr>
        <p:spPr>
          <a:xfrm>
            <a:off x="10698480" y="3886200"/>
            <a:ext cx="0" cy="1143000"/>
          </a:xfrm>
          <a:prstGeom prst="line">
            <a:avLst/>
          </a:prstGeom>
          <a:ln w="12700">
            <a:solidFill>
              <a:srgbClr val="CBD5E1"/>
            </a:solidFill>
          </a:ln>
          <a:effectLst/>
        </p:spPr>
      </p:cxnSp>
      <p:cxnSp>
        <p:nvCxnSpPr>
          <p:cNvPr id="49" name="Connector 48"/>
          <p:cNvCxnSpPr/>
          <p:nvPr/>
        </p:nvCxnSpPr>
        <p:spPr>
          <a:xfrm>
            <a:off x="7269480" y="5029200"/>
            <a:ext cx="1143000" cy="0"/>
          </a:xfrm>
          <a:prstGeom prst="line">
            <a:avLst/>
          </a:prstGeom>
          <a:ln w="12700">
            <a:solidFill>
              <a:srgbClr val="CBD5E1"/>
            </a:solidFill>
          </a:ln>
          <a:effectLst/>
        </p:spPr>
      </p:cxnSp>
      <p:cxnSp>
        <p:nvCxnSpPr>
          <p:cNvPr id="50" name="Connector 49"/>
          <p:cNvCxnSpPr/>
          <p:nvPr/>
        </p:nvCxnSpPr>
        <p:spPr>
          <a:xfrm>
            <a:off x="8412480" y="5029200"/>
            <a:ext cx="1143000" cy="0"/>
          </a:xfrm>
          <a:prstGeom prst="line">
            <a:avLst/>
          </a:prstGeom>
          <a:ln w="12700">
            <a:solidFill>
              <a:srgbClr val="CBD5E1"/>
            </a:solidFill>
          </a:ln>
          <a:effectLst/>
        </p:spPr>
      </p:cxnSp>
      <p:cxnSp>
        <p:nvCxnSpPr>
          <p:cNvPr id="51" name="Connector 50"/>
          <p:cNvCxnSpPr/>
          <p:nvPr/>
        </p:nvCxnSpPr>
        <p:spPr>
          <a:xfrm>
            <a:off x="9555480" y="5029200"/>
            <a:ext cx="1143000" cy="0"/>
          </a:xfrm>
          <a:prstGeom prst="line">
            <a:avLst/>
          </a:prstGeom>
          <a:ln w="12700">
            <a:solidFill>
              <a:srgbClr val="CBD5E1"/>
            </a:solidFill>
          </a:ln>
          <a:effectLst/>
        </p:spPr>
      </p:cxnSp>
      <p:sp>
        <p:nvSpPr>
          <p:cNvPr id="52" name="Oval 51"/>
          <p:cNvSpPr/>
          <p:nvPr/>
        </p:nvSpPr>
        <p:spPr>
          <a:xfrm>
            <a:off x="6949440" y="1280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13</a:t>
            </a:r>
          </a:p>
        </p:txBody>
      </p:sp>
      <p:sp>
        <p:nvSpPr>
          <p:cNvPr id="53" name="Oval 52"/>
          <p:cNvSpPr/>
          <p:nvPr/>
        </p:nvSpPr>
        <p:spPr>
          <a:xfrm>
            <a:off x="8092440" y="1280160"/>
            <a:ext cx="640080" cy="640080"/>
          </a:xfrm>
          <a:prstGeom prst="ellipse">
            <a:avLst/>
          </a:prstGeom>
          <a:solidFill>
            <a:srgbClr val="059669"/>
          </a:solidFill>
          <a:ln>
            <a:noFill/>
          </a:ln>
          <a:effectLst/>
        </p:spPr>
        <p:txBody>
          <a:bodyPr rtlCol="0" anchor="ctr"/>
          <a:lstStyle/>
          <a:p>
            <a:pPr algn="ctr">
              <a:defRPr sz="1400" b="1">
                <a:solidFill>
                  <a:srgbClr val="FFFFFF"/>
                </a:solidFill>
                <a:latin typeface="Calibri"/>
              </a:defRPr>
            </a:pPr>
            <a:r>
              <a:t>14</a:t>
            </a:r>
          </a:p>
        </p:txBody>
      </p:sp>
      <p:sp>
        <p:nvSpPr>
          <p:cNvPr id="54" name="Oval 53"/>
          <p:cNvSpPr/>
          <p:nvPr/>
        </p:nvSpPr>
        <p:spPr>
          <a:xfrm>
            <a:off x="9235440" y="1280160"/>
            <a:ext cx="640080" cy="640080"/>
          </a:xfrm>
          <a:prstGeom prst="ellipse">
            <a:avLst/>
          </a:prstGeom>
          <a:solidFill>
            <a:srgbClr val="B45309"/>
          </a:solidFill>
          <a:ln>
            <a:noFill/>
          </a:ln>
          <a:effectLst/>
        </p:spPr>
        <p:txBody>
          <a:bodyPr rtlCol="0" anchor="ctr"/>
          <a:lstStyle/>
          <a:p>
            <a:pPr algn="ctr">
              <a:defRPr sz="1400" b="1">
                <a:solidFill>
                  <a:srgbClr val="FFFFFF"/>
                </a:solidFill>
                <a:latin typeface="Calibri"/>
              </a:defRPr>
            </a:pPr>
            <a:r>
              <a:t>15</a:t>
            </a:r>
          </a:p>
        </p:txBody>
      </p:sp>
      <p:sp>
        <p:nvSpPr>
          <p:cNvPr id="55" name="Oval 54"/>
          <p:cNvSpPr/>
          <p:nvPr/>
        </p:nvSpPr>
        <p:spPr>
          <a:xfrm>
            <a:off x="10378440" y="1280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16</a:t>
            </a:r>
          </a:p>
        </p:txBody>
      </p:sp>
      <p:sp>
        <p:nvSpPr>
          <p:cNvPr id="56" name="Oval 55"/>
          <p:cNvSpPr/>
          <p:nvPr/>
        </p:nvSpPr>
        <p:spPr>
          <a:xfrm>
            <a:off x="6949440" y="2423160"/>
            <a:ext cx="640080" cy="640080"/>
          </a:xfrm>
          <a:prstGeom prst="ellipse">
            <a:avLst/>
          </a:prstGeom>
          <a:solidFill>
            <a:srgbClr val="1E3A8A"/>
          </a:solidFill>
          <a:ln>
            <a:noFill/>
          </a:ln>
          <a:effectLst/>
        </p:spPr>
        <p:txBody>
          <a:bodyPr rtlCol="0" anchor="ctr"/>
          <a:lstStyle/>
          <a:p>
            <a:pPr algn="ctr">
              <a:defRPr sz="1400" b="1">
                <a:solidFill>
                  <a:srgbClr val="FFFFFF"/>
                </a:solidFill>
                <a:latin typeface="Calibri"/>
              </a:defRPr>
            </a:pPr>
            <a:r>
              <a:t>09</a:t>
            </a:r>
          </a:p>
        </p:txBody>
      </p:sp>
      <p:sp>
        <p:nvSpPr>
          <p:cNvPr id="57" name="Oval 56"/>
          <p:cNvSpPr/>
          <p:nvPr/>
        </p:nvSpPr>
        <p:spPr>
          <a:xfrm>
            <a:off x="8092440" y="2423160"/>
            <a:ext cx="640080" cy="640080"/>
          </a:xfrm>
          <a:prstGeom prst="ellipse">
            <a:avLst/>
          </a:prstGeom>
          <a:solidFill>
            <a:srgbClr val="7C3AED"/>
          </a:solidFill>
          <a:ln>
            <a:noFill/>
          </a:ln>
          <a:effectLst/>
        </p:spPr>
        <p:txBody>
          <a:bodyPr rtlCol="0" anchor="ctr"/>
          <a:lstStyle/>
          <a:p>
            <a:pPr algn="ctr">
              <a:defRPr sz="1400" b="1">
                <a:solidFill>
                  <a:srgbClr val="FFFFFF"/>
                </a:solidFill>
                <a:latin typeface="Calibri"/>
              </a:defRPr>
            </a:pPr>
            <a:r>
              <a:t>10</a:t>
            </a:r>
          </a:p>
        </p:txBody>
      </p:sp>
      <p:sp>
        <p:nvSpPr>
          <p:cNvPr id="58" name="Oval 57"/>
          <p:cNvSpPr/>
          <p:nvPr/>
        </p:nvSpPr>
        <p:spPr>
          <a:xfrm>
            <a:off x="9235440" y="2423160"/>
            <a:ext cx="640080" cy="640080"/>
          </a:xfrm>
          <a:prstGeom prst="ellipse">
            <a:avLst/>
          </a:prstGeom>
          <a:solidFill>
            <a:srgbClr val="DB2777"/>
          </a:solidFill>
          <a:ln>
            <a:noFill/>
          </a:ln>
          <a:effectLst/>
        </p:spPr>
        <p:txBody>
          <a:bodyPr rtlCol="0" anchor="ctr"/>
          <a:lstStyle/>
          <a:p>
            <a:pPr algn="ctr">
              <a:defRPr sz="1400" b="1">
                <a:solidFill>
                  <a:srgbClr val="FFFFFF"/>
                </a:solidFill>
                <a:latin typeface="Calibri"/>
              </a:defRPr>
            </a:pPr>
            <a:r>
              <a:t>11</a:t>
            </a:r>
          </a:p>
        </p:txBody>
      </p:sp>
      <p:sp>
        <p:nvSpPr>
          <p:cNvPr id="59" name="Oval 58"/>
          <p:cNvSpPr/>
          <p:nvPr/>
        </p:nvSpPr>
        <p:spPr>
          <a:xfrm>
            <a:off x="10378440" y="2423160"/>
            <a:ext cx="640080" cy="640080"/>
          </a:xfrm>
          <a:prstGeom prst="ellipse">
            <a:avLst/>
          </a:prstGeom>
          <a:solidFill>
            <a:srgbClr val="1E3A8A"/>
          </a:solidFill>
          <a:ln>
            <a:noFill/>
          </a:ln>
          <a:effectLst/>
        </p:spPr>
        <p:txBody>
          <a:bodyPr rtlCol="0" anchor="ctr"/>
          <a:lstStyle/>
          <a:p>
            <a:pPr algn="ctr">
              <a:defRPr sz="1400" b="1">
                <a:solidFill>
                  <a:srgbClr val="FFFFFF"/>
                </a:solidFill>
                <a:latin typeface="Calibri"/>
              </a:defRPr>
            </a:pPr>
            <a:r>
              <a:t>12</a:t>
            </a:r>
          </a:p>
        </p:txBody>
      </p:sp>
      <p:sp>
        <p:nvSpPr>
          <p:cNvPr id="60" name="Oval 59"/>
          <p:cNvSpPr/>
          <p:nvPr/>
        </p:nvSpPr>
        <p:spPr>
          <a:xfrm>
            <a:off x="6949440" y="3566160"/>
            <a:ext cx="640080" cy="640080"/>
          </a:xfrm>
          <a:prstGeom prst="ellipse">
            <a:avLst/>
          </a:prstGeom>
          <a:solidFill>
            <a:srgbClr val="475569"/>
          </a:solidFill>
          <a:ln>
            <a:noFill/>
          </a:ln>
          <a:effectLst/>
        </p:spPr>
        <p:txBody>
          <a:bodyPr rtlCol="0" anchor="ctr"/>
          <a:lstStyle/>
          <a:p>
            <a:pPr algn="ctr">
              <a:defRPr sz="1400" b="1">
                <a:solidFill>
                  <a:srgbClr val="FFFFFF"/>
                </a:solidFill>
                <a:latin typeface="Calibri"/>
              </a:defRPr>
            </a:pPr>
            <a:r>
              <a:t>05</a:t>
            </a:r>
          </a:p>
        </p:txBody>
      </p:sp>
      <p:sp>
        <p:nvSpPr>
          <p:cNvPr id="61" name="Oval 60"/>
          <p:cNvSpPr/>
          <p:nvPr/>
        </p:nvSpPr>
        <p:spPr>
          <a:xfrm>
            <a:off x="8092440" y="3566160"/>
            <a:ext cx="640080" cy="640080"/>
          </a:xfrm>
          <a:prstGeom prst="ellipse">
            <a:avLst/>
          </a:prstGeom>
          <a:solidFill>
            <a:srgbClr val="0F766E"/>
          </a:solidFill>
          <a:ln>
            <a:noFill/>
          </a:ln>
          <a:effectLst/>
        </p:spPr>
        <p:txBody>
          <a:bodyPr rtlCol="0" anchor="ctr"/>
          <a:lstStyle/>
          <a:p>
            <a:pPr algn="ctr">
              <a:defRPr sz="1400" b="1">
                <a:solidFill>
                  <a:srgbClr val="FFFFFF"/>
                </a:solidFill>
                <a:latin typeface="Calibri"/>
              </a:defRPr>
            </a:pPr>
            <a:r>
              <a:t>06</a:t>
            </a:r>
          </a:p>
        </p:txBody>
      </p:sp>
      <p:sp>
        <p:nvSpPr>
          <p:cNvPr id="62" name="Oval 61"/>
          <p:cNvSpPr/>
          <p:nvPr/>
        </p:nvSpPr>
        <p:spPr>
          <a:xfrm>
            <a:off x="9235440" y="3566160"/>
            <a:ext cx="640080" cy="640080"/>
          </a:xfrm>
          <a:prstGeom prst="ellipse">
            <a:avLst/>
          </a:prstGeom>
          <a:solidFill>
            <a:srgbClr val="2563EB"/>
          </a:solidFill>
          <a:ln>
            <a:noFill/>
          </a:ln>
          <a:effectLst/>
        </p:spPr>
        <p:txBody>
          <a:bodyPr rtlCol="0" anchor="ctr"/>
          <a:lstStyle/>
          <a:p>
            <a:pPr algn="ctr">
              <a:defRPr sz="1400" b="1">
                <a:solidFill>
                  <a:srgbClr val="FFFFFF"/>
                </a:solidFill>
                <a:latin typeface="Calibri"/>
              </a:defRPr>
            </a:pPr>
            <a:r>
              <a:t>07</a:t>
            </a:r>
          </a:p>
        </p:txBody>
      </p:sp>
      <p:sp>
        <p:nvSpPr>
          <p:cNvPr id="63" name="Oval 62"/>
          <p:cNvSpPr/>
          <p:nvPr/>
        </p:nvSpPr>
        <p:spPr>
          <a:xfrm>
            <a:off x="10378440" y="3566160"/>
            <a:ext cx="640080" cy="640080"/>
          </a:xfrm>
          <a:prstGeom prst="ellipse">
            <a:avLst/>
          </a:prstGeom>
          <a:solidFill>
            <a:srgbClr val="475569"/>
          </a:solidFill>
          <a:ln>
            <a:noFill/>
          </a:ln>
          <a:effectLst/>
        </p:spPr>
        <p:txBody>
          <a:bodyPr rtlCol="0" anchor="ctr"/>
          <a:lstStyle/>
          <a:p>
            <a:pPr algn="ctr">
              <a:defRPr sz="1400" b="1">
                <a:solidFill>
                  <a:srgbClr val="FFFFFF"/>
                </a:solidFill>
                <a:latin typeface="Calibri"/>
              </a:defRPr>
            </a:pPr>
            <a:r>
              <a:t>08</a:t>
            </a:r>
          </a:p>
        </p:txBody>
      </p:sp>
      <p:sp>
        <p:nvSpPr>
          <p:cNvPr id="64" name="Oval 63"/>
          <p:cNvSpPr/>
          <p:nvPr/>
        </p:nvSpPr>
        <p:spPr>
          <a:xfrm>
            <a:off x="6949440" y="4709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01</a:t>
            </a:r>
          </a:p>
        </p:txBody>
      </p:sp>
      <p:sp>
        <p:nvSpPr>
          <p:cNvPr id="65" name="Oval 64"/>
          <p:cNvSpPr/>
          <p:nvPr/>
        </p:nvSpPr>
        <p:spPr>
          <a:xfrm>
            <a:off x="8092440" y="4709160"/>
            <a:ext cx="640080" cy="640080"/>
          </a:xfrm>
          <a:prstGeom prst="ellipse">
            <a:avLst/>
          </a:prstGeom>
          <a:solidFill>
            <a:srgbClr val="059669"/>
          </a:solidFill>
          <a:ln>
            <a:noFill/>
          </a:ln>
          <a:effectLst/>
        </p:spPr>
        <p:txBody>
          <a:bodyPr rtlCol="0" anchor="ctr"/>
          <a:lstStyle/>
          <a:p>
            <a:pPr algn="ctr">
              <a:defRPr sz="1400" b="1">
                <a:solidFill>
                  <a:srgbClr val="FFFFFF"/>
                </a:solidFill>
                <a:latin typeface="Calibri"/>
              </a:defRPr>
            </a:pPr>
            <a:r>
              <a:t>02</a:t>
            </a:r>
          </a:p>
        </p:txBody>
      </p:sp>
      <p:sp>
        <p:nvSpPr>
          <p:cNvPr id="66" name="Oval 65"/>
          <p:cNvSpPr/>
          <p:nvPr/>
        </p:nvSpPr>
        <p:spPr>
          <a:xfrm>
            <a:off x="9235440" y="4709160"/>
            <a:ext cx="640080" cy="640080"/>
          </a:xfrm>
          <a:prstGeom prst="ellipse">
            <a:avLst/>
          </a:prstGeom>
          <a:solidFill>
            <a:srgbClr val="B45309"/>
          </a:solidFill>
          <a:ln>
            <a:noFill/>
          </a:ln>
          <a:effectLst/>
        </p:spPr>
        <p:txBody>
          <a:bodyPr rtlCol="0" anchor="ctr"/>
          <a:lstStyle/>
          <a:p>
            <a:pPr algn="ctr">
              <a:defRPr sz="1400" b="1">
                <a:solidFill>
                  <a:srgbClr val="FFFFFF"/>
                </a:solidFill>
                <a:latin typeface="Calibri"/>
              </a:defRPr>
            </a:pPr>
            <a:r>
              <a:t>03</a:t>
            </a:r>
          </a:p>
        </p:txBody>
      </p:sp>
      <p:sp>
        <p:nvSpPr>
          <p:cNvPr id="67" name="Oval 66"/>
          <p:cNvSpPr/>
          <p:nvPr/>
        </p:nvSpPr>
        <p:spPr>
          <a:xfrm>
            <a:off x="10378440" y="4709160"/>
            <a:ext cx="640080" cy="640080"/>
          </a:xfrm>
          <a:prstGeom prst="ellipse">
            <a:avLst/>
          </a:prstGeom>
          <a:solidFill>
            <a:srgbClr val="D97706"/>
          </a:solidFill>
          <a:ln>
            <a:noFill/>
          </a:ln>
          <a:effectLst/>
        </p:spPr>
        <p:txBody>
          <a:bodyPr rtlCol="0" anchor="ctr"/>
          <a:lstStyle/>
          <a:p>
            <a:pPr algn="ctr">
              <a:defRPr sz="1400" b="1">
                <a:solidFill>
                  <a:srgbClr val="FFFFFF"/>
                </a:solidFill>
                <a:latin typeface="Calibri"/>
              </a:defRPr>
            </a:pPr>
            <a:r>
              <a:t>04</a:t>
            </a:r>
          </a:p>
        </p:txBody>
      </p:sp>
      <p:sp>
        <p:nvSpPr>
          <p:cNvPr id="68" name="TextBox 67"/>
          <p:cNvSpPr txBox="1"/>
          <p:nvPr/>
        </p:nvSpPr>
        <p:spPr>
          <a:xfrm>
            <a:off x="6675120" y="5715000"/>
            <a:ext cx="4114800" cy="411480"/>
          </a:xfrm>
          <a:prstGeom prst="rect">
            <a:avLst/>
          </a:prstGeom>
          <a:noFill/>
          <a:effectLst/>
        </p:spPr>
        <p:txBody>
          <a:bodyPr wrap="none">
            <a:spAutoFit/>
          </a:bodyPr>
          <a:lstStyle/>
          <a:p>
            <a:pPr algn="ctr">
              <a:defRPr sz="2000" b="1">
                <a:solidFill>
                  <a:srgbClr val="D97706"/>
                </a:solidFill>
                <a:latin typeface="Calibri"/>
              </a:defRPr>
            </a:pPr>
            <a:r>
              <a:t>Any 3×3 subgrid forms a 9-clique in G²</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a:effectLst/>
        </p:spPr>
        <p:txBody>
          <a:bodyPr rtlCol="0" anchor="ctr"/>
          <a:lstStyle/>
          <a:p>
            <a:pPr algn="ctr"/>
          </a:p>
        </p:txBody>
      </p:sp>
      <p:sp>
        <p:nvSpPr>
          <p:cNvPr id="3" name="TextBox 2"/>
          <p:cNvSpPr txBox="1"/>
          <p:nvPr/>
        </p:nvSpPr>
        <p:spPr>
          <a:xfrm>
            <a:off x="914400" y="502920"/>
            <a:ext cx="10362895" cy="594360"/>
          </a:xfrm>
          <a:prstGeom prst="rect">
            <a:avLst/>
          </a:prstGeom>
          <a:noFill/>
          <a:effectLst/>
        </p:spPr>
        <p:txBody>
          <a:bodyPr wrap="square" lIns="0" tIns="0" rIns="0" bIns="0">
            <a:spAutoFit/>
          </a:bodyPr>
          <a:lstStyle/>
          <a:p>
            <a:pPr>
              <a:defRPr sz="3200" b="1">
                <a:solidFill>
                  <a:srgbClr val="1B1F2A"/>
                </a:solidFill>
                <a:latin typeface="Georgia"/>
              </a:defRPr>
            </a:pPr>
            <a:r>
              <a:t>Four topologies, same story</a:t>
            </a:r>
          </a:p>
        </p:txBody>
      </p:sp>
      <p:sp>
        <p:nvSpPr>
          <p:cNvPr id="4" name="Rectangle 3"/>
          <p:cNvSpPr/>
          <p:nvPr/>
        </p:nvSpPr>
        <p:spPr>
          <a:xfrm>
            <a:off x="914400" y="1170432"/>
            <a:ext cx="10362895" cy="12700"/>
          </a:xfrm>
          <a:prstGeom prst="rect">
            <a:avLst/>
          </a:prstGeom>
          <a:solidFill>
            <a:srgbClr val="CBD5E1"/>
          </a:solidFill>
          <a:ln>
            <a:noFill/>
          </a:ln>
          <a:effectLst/>
        </p:spPr>
        <p:txBody>
          <a:bodyPr rtlCol="0" anchor="ctr"/>
          <a:lstStyle/>
          <a:p>
            <a:pPr algn="ctr"/>
          </a:p>
        </p:txBody>
      </p:sp>
      <p:graphicFrame>
        <p:nvGraphicFramePr>
          <p:cNvPr id="5" name="Chart 4"/>
          <p:cNvGraphicFramePr>
            <a:graphicFrameLocks noGrp="1"/>
          </p:cNvGraphicFramePr>
          <p:nvPr/>
        </p:nvGraphicFramePr>
        <p:xfrm>
          <a:off x="640080" y="1508760"/>
          <a:ext cx="5120640" cy="4389120"/>
        </p:xfrm>
        <a:graphic>
          <a:graphicData uri="http://schemas.openxmlformats.org/drawingml/2006/chart">
            <c:chart xmlns:c="http://schemas.openxmlformats.org/drawingml/2006/chart" r:id="rId2"/>
          </a:graphicData>
        </a:graphic>
      </p:graphicFrame>
      <p:graphicFrame>
        <p:nvGraphicFramePr>
          <p:cNvPr id="6" name="Table 5"/>
          <p:cNvGraphicFramePr>
            <a:graphicFrameLocks noGrp="1"/>
          </p:cNvGraphicFramePr>
          <p:nvPr/>
        </p:nvGraphicFramePr>
        <p:xfrm>
          <a:off x="6126480" y="1508760"/>
          <a:ext cx="5303520" cy="3108960"/>
        </p:xfrm>
        <a:graphic>
          <a:graphicData uri="http://schemas.openxmlformats.org/drawingml/2006/table">
            <a:tbl>
              <a:tblPr firstRow="1" bandRow="1">
                <a:tableStyleId>{5C22544A-7EE6-4342-B048-85BDC9FD1C3A}</a:tableStyleId>
                <a:effectLst/>
              </a:tblPr>
              <a:tblGrid>
                <a:gridCol w="2011680"/>
                <a:gridCol w="1005840"/>
                <a:gridCol w="1005840"/>
                <a:gridCol w="1280160"/>
              </a:tblGrid>
              <a:tr h="621792">
                <a:tc>
                  <a:txBody>
                    <a:bodyPr/>
                    <a:lstStyle/>
                    <a:p>
                      <a:pPr algn="l">
                        <a:defRPr sz="2000" b="1">
                          <a:solidFill>
                            <a:srgbClr val="1B1F2A"/>
                          </a:solidFill>
                          <a:latin typeface="Georgia"/>
                        </a:defRPr>
                      </a:pPr>
                      <a:r>
                        <a:t>Topology</a:t>
                      </a:r>
                    </a:p>
                  </a:txBody>
                  <a:tcPr marL="54864" marR="54864">
                    <a:noFill/>
                  </a:tcPr>
                </a:tc>
                <a:tc>
                  <a:txBody>
                    <a:bodyPr/>
                    <a:lstStyle/>
                    <a:p>
                      <a:pPr algn="ctr">
                        <a:defRPr sz="2000" b="1">
                          <a:solidFill>
                            <a:srgbClr val="1B1F2A"/>
                          </a:solidFill>
                          <a:latin typeface="Georgia"/>
                        </a:defRPr>
                      </a:pPr>
                      <a:r>
                        <a:t>G edges</a:t>
                      </a:r>
                    </a:p>
                  </a:txBody>
                  <a:tcPr marL="54864" marR="54864">
                    <a:noFill/>
                  </a:tcPr>
                </a:tc>
                <a:tc>
                  <a:txBody>
                    <a:bodyPr/>
                    <a:lstStyle/>
                    <a:p>
                      <a:pPr algn="ctr">
                        <a:defRPr sz="2000" b="1">
                          <a:solidFill>
                            <a:srgbClr val="1B1F2A"/>
                          </a:solidFill>
                          <a:latin typeface="Georgia"/>
                        </a:defRPr>
                      </a:pPr>
                      <a:r>
                        <a:t>G² edges</a:t>
                      </a:r>
                    </a:p>
                  </a:txBody>
                  <a:tcPr marL="54864" marR="54864">
                    <a:noFill/>
                  </a:tcPr>
                </a:tc>
                <a:tc>
                  <a:txBody>
                    <a:bodyPr/>
                    <a:lstStyle/>
                    <a:p>
                      <a:pPr algn="ctr">
                        <a:defRPr sz="2000" b="1">
                          <a:solidFill>
                            <a:srgbClr val="1B1F2A"/>
                          </a:solidFill>
                          <a:latin typeface="Georgia"/>
                        </a:defRPr>
                      </a:pPr>
                      <a:r>
                        <a:t>Optimal</a:t>
                      </a:r>
                    </a:p>
                  </a:txBody>
                  <a:tcPr marL="54864" marR="54864">
                    <a:noFill/>
                  </a:tcPr>
                </a:tc>
              </a:tr>
              <a:tr h="621792">
                <a:tc>
                  <a:txBody>
                    <a:bodyPr/>
                    <a:lstStyle/>
                    <a:p>
                      <a:pPr algn="l">
                        <a:defRPr sz="1800">
                          <a:solidFill>
                            <a:srgbClr val="1B1F2A"/>
                          </a:solidFill>
                          <a:latin typeface="Calibri"/>
                        </a:defRPr>
                      </a:pPr>
                      <a:r>
                        <a:t>4x4 Grid</a:t>
                      </a:r>
                    </a:p>
                  </a:txBody>
                  <a:tcPr marL="54864" marR="54864">
                    <a:noFill/>
                  </a:tcPr>
                </a:tc>
                <a:tc>
                  <a:txBody>
                    <a:bodyPr/>
                    <a:lstStyle/>
                    <a:p>
                      <a:pPr algn="ctr">
                        <a:defRPr sz="1800">
                          <a:solidFill>
                            <a:srgbClr val="1B1F2A"/>
                          </a:solidFill>
                          <a:latin typeface="Calibri"/>
                        </a:defRPr>
                      </a:pPr>
                      <a:r>
                        <a:t>42</a:t>
                      </a:r>
                    </a:p>
                  </a:txBody>
                  <a:tcPr marL="54864" marR="54864">
                    <a:noFill/>
                  </a:tcPr>
                </a:tc>
                <a:tc>
                  <a:txBody>
                    <a:bodyPr/>
                    <a:lstStyle/>
                    <a:p>
                      <a:pPr algn="ctr">
                        <a:defRPr sz="1800">
                          <a:solidFill>
                            <a:srgbClr val="1B1F2A"/>
                          </a:solidFill>
                          <a:latin typeface="Calibri"/>
                        </a:defRPr>
                      </a:pPr>
                      <a:r>
                        <a:t>90</a:t>
                      </a:r>
                    </a:p>
                  </a:txBody>
                  <a:tcPr marL="54864" marR="54864">
                    <a:noFill/>
                  </a:tcPr>
                </a:tc>
                <a:tc>
                  <a:txBody>
                    <a:bodyPr/>
                    <a:lstStyle/>
                    <a:p>
                      <a:pPr algn="ctr">
                        <a:defRPr sz="1800" b="1">
                          <a:solidFill>
                            <a:srgbClr val="1B1F2A"/>
                          </a:solidFill>
                          <a:latin typeface="Calibri"/>
                        </a:defRPr>
                      </a:pPr>
                      <a:r>
                        <a:t>9 slots</a:t>
                      </a:r>
                    </a:p>
                  </a:txBody>
                  <a:tcPr marL="54864" marR="54864">
                    <a:noFill/>
                  </a:tcPr>
                </a:tc>
              </a:tr>
              <a:tr h="621792">
                <a:tc>
                  <a:txBody>
                    <a:bodyPr/>
                    <a:lstStyle/>
                    <a:p>
                      <a:pPr algn="l">
                        <a:defRPr sz="1800">
                          <a:solidFill>
                            <a:srgbClr val="1B1F2A"/>
                          </a:solidFill>
                          <a:latin typeface="Calibri"/>
                        </a:defRPr>
                      </a:pPr>
                      <a:r>
                        <a:t>Sparse Line</a:t>
                      </a:r>
                    </a:p>
                  </a:txBody>
                  <a:tcPr marL="54864" marR="54864">
                    <a:noFill/>
                  </a:tcPr>
                </a:tc>
                <a:tc>
                  <a:txBody>
                    <a:bodyPr/>
                    <a:lstStyle/>
                    <a:p>
                      <a:pPr algn="ctr">
                        <a:defRPr sz="1800">
                          <a:solidFill>
                            <a:srgbClr val="1B1F2A"/>
                          </a:solidFill>
                          <a:latin typeface="Calibri"/>
                        </a:defRPr>
                      </a:pPr>
                      <a:r>
                        <a:t>15</a:t>
                      </a:r>
                    </a:p>
                  </a:txBody>
                  <a:tcPr marL="54864" marR="54864">
                    <a:noFill/>
                  </a:tcPr>
                </a:tc>
                <a:tc>
                  <a:txBody>
                    <a:bodyPr/>
                    <a:lstStyle/>
                    <a:p>
                      <a:pPr algn="ctr">
                        <a:defRPr sz="1800">
                          <a:solidFill>
                            <a:srgbClr val="1B1F2A"/>
                          </a:solidFill>
                          <a:latin typeface="Calibri"/>
                        </a:defRPr>
                      </a:pPr>
                      <a:r>
                        <a:t>29</a:t>
                      </a:r>
                    </a:p>
                  </a:txBody>
                  <a:tcPr marL="54864" marR="54864">
                    <a:noFill/>
                  </a:tcPr>
                </a:tc>
                <a:tc>
                  <a:txBody>
                    <a:bodyPr/>
                    <a:lstStyle/>
                    <a:p>
                      <a:pPr algn="ctr">
                        <a:defRPr sz="1800" b="1">
                          <a:solidFill>
                            <a:srgbClr val="1B1F2A"/>
                          </a:solidFill>
                          <a:latin typeface="Calibri"/>
                        </a:defRPr>
                      </a:pPr>
                      <a:r>
                        <a:t>3 slots</a:t>
                      </a:r>
                    </a:p>
                  </a:txBody>
                  <a:tcPr marL="54864" marR="54864">
                    <a:noFill/>
                  </a:tcPr>
                </a:tc>
              </a:tr>
              <a:tr h="621792">
                <a:tc>
                  <a:txBody>
                    <a:bodyPr/>
                    <a:lstStyle/>
                    <a:p>
                      <a:pPr algn="l">
                        <a:defRPr sz="1800">
                          <a:solidFill>
                            <a:srgbClr val="1B1F2A"/>
                          </a:solidFill>
                          <a:latin typeface="Calibri"/>
                        </a:defRPr>
                      </a:pPr>
                      <a:r>
                        <a:t>Dense Cluster</a:t>
                      </a:r>
                    </a:p>
                  </a:txBody>
                  <a:tcPr marL="54864" marR="54864">
                    <a:noFill/>
                  </a:tcPr>
                </a:tc>
                <a:tc>
                  <a:txBody>
                    <a:bodyPr/>
                    <a:lstStyle/>
                    <a:p>
                      <a:pPr algn="ctr">
                        <a:defRPr sz="1800">
                          <a:solidFill>
                            <a:srgbClr val="1B1F2A"/>
                          </a:solidFill>
                          <a:latin typeface="Calibri"/>
                        </a:defRPr>
                      </a:pPr>
                      <a:r>
                        <a:t>120</a:t>
                      </a:r>
                    </a:p>
                  </a:txBody>
                  <a:tcPr marL="54864" marR="54864">
                    <a:noFill/>
                  </a:tcPr>
                </a:tc>
                <a:tc>
                  <a:txBody>
                    <a:bodyPr/>
                    <a:lstStyle/>
                    <a:p>
                      <a:pPr algn="ctr">
                        <a:defRPr sz="1800">
                          <a:solidFill>
                            <a:srgbClr val="1B1F2A"/>
                          </a:solidFill>
                          <a:latin typeface="Calibri"/>
                        </a:defRPr>
                      </a:pPr>
                      <a:r>
                        <a:t>120</a:t>
                      </a:r>
                    </a:p>
                  </a:txBody>
                  <a:tcPr marL="54864" marR="54864">
                    <a:noFill/>
                  </a:tcPr>
                </a:tc>
                <a:tc>
                  <a:txBody>
                    <a:bodyPr/>
                    <a:lstStyle/>
                    <a:p>
                      <a:pPr algn="ctr">
                        <a:defRPr sz="1800" b="1">
                          <a:solidFill>
                            <a:srgbClr val="1B1F2A"/>
                          </a:solidFill>
                          <a:latin typeface="Calibri"/>
                        </a:defRPr>
                      </a:pPr>
                      <a:r>
                        <a:t>16 slots</a:t>
                      </a:r>
                    </a:p>
                  </a:txBody>
                  <a:tcPr marL="54864" marR="54864">
                    <a:noFill/>
                  </a:tcPr>
                </a:tc>
              </a:tr>
              <a:tr h="621792">
                <a:tc>
                  <a:txBody>
                    <a:bodyPr/>
                    <a:lstStyle/>
                    <a:p>
                      <a:pPr algn="l">
                        <a:defRPr sz="1800">
                          <a:solidFill>
                            <a:srgbClr val="1B1F2A"/>
                          </a:solidFill>
                          <a:latin typeface="Calibri"/>
                        </a:defRPr>
                      </a:pPr>
                      <a:r>
                        <a:t>Two Clusters</a:t>
                      </a:r>
                    </a:p>
                  </a:txBody>
                  <a:tcPr marL="54864" marR="54864">
                    <a:noFill/>
                  </a:tcPr>
                </a:tc>
                <a:tc>
                  <a:txBody>
                    <a:bodyPr/>
                    <a:lstStyle/>
                    <a:p>
                      <a:pPr algn="ctr">
                        <a:defRPr sz="1800">
                          <a:solidFill>
                            <a:srgbClr val="1B1F2A"/>
                          </a:solidFill>
                          <a:latin typeface="Calibri"/>
                        </a:defRPr>
                      </a:pPr>
                      <a:r>
                        <a:t>56</a:t>
                      </a:r>
                    </a:p>
                  </a:txBody>
                  <a:tcPr marL="54864" marR="54864">
                    <a:noFill/>
                  </a:tcPr>
                </a:tc>
                <a:tc>
                  <a:txBody>
                    <a:bodyPr/>
                    <a:lstStyle/>
                    <a:p>
                      <a:pPr algn="ctr">
                        <a:defRPr sz="1800">
                          <a:solidFill>
                            <a:srgbClr val="1B1F2A"/>
                          </a:solidFill>
                          <a:latin typeface="Calibri"/>
                        </a:defRPr>
                      </a:pPr>
                      <a:r>
                        <a:t>56</a:t>
                      </a:r>
                    </a:p>
                  </a:txBody>
                  <a:tcPr marL="54864" marR="54864">
                    <a:noFill/>
                  </a:tcPr>
                </a:tc>
                <a:tc>
                  <a:txBody>
                    <a:bodyPr/>
                    <a:lstStyle/>
                    <a:p>
                      <a:pPr algn="ctr">
                        <a:defRPr sz="1800" b="1">
                          <a:solidFill>
                            <a:srgbClr val="1B1F2A"/>
                          </a:solidFill>
                          <a:latin typeface="Calibri"/>
                        </a:defRPr>
                      </a:pPr>
                      <a:r>
                        <a:t>8 slots</a:t>
                      </a:r>
                    </a:p>
                  </a:txBody>
                  <a:tcPr marL="54864" marR="54864">
                    <a:noFill/>
                  </a:tcPr>
                </a:tc>
              </a:tr>
            </a:tbl>
          </a:graphicData>
        </a:graphic>
      </p:graphicFrame>
      <p:sp>
        <p:nvSpPr>
          <p:cNvPr id="7" name="TextBox 6"/>
          <p:cNvSpPr txBox="1"/>
          <p:nvPr/>
        </p:nvSpPr>
        <p:spPr>
          <a:xfrm>
            <a:off x="6126480" y="4892040"/>
            <a:ext cx="5303520" cy="1005840"/>
          </a:xfrm>
          <a:prstGeom prst="rect">
            <a:avLst/>
          </a:prstGeom>
          <a:noFill/>
          <a:effectLst/>
        </p:spPr>
        <p:txBody>
          <a:bodyPr wrap="square" lIns="0" tIns="0" rIns="0" bIns="0">
            <a:spAutoFit/>
          </a:bodyPr>
          <a:lstStyle/>
          <a:p>
            <a:pPr>
              <a:defRPr sz="2000">
                <a:solidFill>
                  <a:srgbClr val="1B1F2A"/>
                </a:solidFill>
                <a:latin typeface="Calibri"/>
              </a:defRPr>
            </a:pPr>
            <a:r>
              <a:t>At 16 nodes plain greedy already finds the optimum, so the exact solver is how I know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3EC"/>
          </a:solidFill>
          <a:ln>
            <a:noFill/>
          </a:ln>
          <a:effectLst/>
        </p:spPr>
        <p:txBody>
          <a:bodyPr rtlCol="0" anchor="ctr"/>
          <a:lstStyle/>
          <a:p>
            <a:pPr algn="ctr"/>
          </a:p>
        </p:txBody>
      </p:sp>
      <p:sp>
        <p:nvSpPr>
          <p:cNvPr id="3" name="TextBox 2"/>
          <p:cNvSpPr txBox="1"/>
          <p:nvPr/>
        </p:nvSpPr>
        <p:spPr>
          <a:xfrm>
            <a:off x="914400" y="502920"/>
            <a:ext cx="10362895" cy="594360"/>
          </a:xfrm>
          <a:prstGeom prst="rect">
            <a:avLst/>
          </a:prstGeom>
          <a:noFill/>
          <a:effectLst/>
        </p:spPr>
        <p:txBody>
          <a:bodyPr wrap="square" lIns="0" tIns="0" rIns="0" bIns="0">
            <a:spAutoFit/>
          </a:bodyPr>
          <a:lstStyle/>
          <a:p>
            <a:pPr>
              <a:defRPr sz="3200" b="1">
                <a:solidFill>
                  <a:srgbClr val="1B1F2A"/>
                </a:solidFill>
                <a:latin typeface="Georgia"/>
              </a:defRPr>
            </a:pPr>
            <a:r>
              <a:t>Part 2 and what's left</a:t>
            </a:r>
          </a:p>
        </p:txBody>
      </p:sp>
      <p:sp>
        <p:nvSpPr>
          <p:cNvPr id="4" name="Rectangle 3"/>
          <p:cNvSpPr/>
          <p:nvPr/>
        </p:nvSpPr>
        <p:spPr>
          <a:xfrm>
            <a:off x="914400" y="1170432"/>
            <a:ext cx="10362895" cy="12700"/>
          </a:xfrm>
          <a:prstGeom prst="rect">
            <a:avLst/>
          </a:prstGeom>
          <a:solidFill>
            <a:srgbClr val="CBD5E1"/>
          </a:solidFill>
          <a:ln>
            <a:noFill/>
          </a:ln>
          <a:effectLst/>
        </p:spPr>
        <p:txBody>
          <a:bodyPr rtlCol="0" anchor="ctr"/>
          <a:lstStyle/>
          <a:p>
            <a:pPr algn="ctr"/>
          </a:p>
        </p:txBody>
      </p:sp>
      <p:sp>
        <p:nvSpPr>
          <p:cNvPr id="5" name="Rounded Rectangle 4"/>
          <p:cNvSpPr/>
          <p:nvPr/>
        </p:nvSpPr>
        <p:spPr>
          <a:xfrm>
            <a:off x="548640" y="1645920"/>
            <a:ext cx="1965960" cy="1188720"/>
          </a:xfrm>
          <a:prstGeom prst="roundRect">
            <a:avLst/>
          </a:prstGeom>
          <a:solidFill>
            <a:srgbClr val="0F766E"/>
          </a:solidFill>
          <a:ln>
            <a:noFill/>
          </a:ln>
          <a:effectLst/>
        </p:spPr>
        <p:txBody>
          <a:bodyPr rtlCol="0" anchor="ctr"/>
          <a:lstStyle/>
          <a:p>
            <a:pPr algn="ctr">
              <a:defRPr sz="2400" b="1">
                <a:solidFill>
                  <a:srgbClr val="FFFFFF"/>
                </a:solidFill>
                <a:latin typeface="Calibri"/>
              </a:defRPr>
            </a:pPr>
            <a:r>
              <a:t>Optimizer</a:t>
            </a:r>
          </a:p>
        </p:txBody>
      </p:sp>
      <p:sp>
        <p:nvSpPr>
          <p:cNvPr id="6" name="TextBox 5"/>
          <p:cNvSpPr txBox="1"/>
          <p:nvPr/>
        </p:nvSpPr>
        <p:spPr>
          <a:xfrm>
            <a:off x="411480" y="2999232"/>
            <a:ext cx="2240280" cy="411480"/>
          </a:xfrm>
          <a:prstGeom prst="rect">
            <a:avLst/>
          </a:prstGeom>
          <a:noFill/>
          <a:effectLst/>
        </p:spPr>
        <p:txBody>
          <a:bodyPr wrap="none" lIns="0" tIns="0" rIns="0" bIns="0">
            <a:spAutoFit/>
          </a:bodyPr>
          <a:lstStyle/>
          <a:p>
            <a:pPr algn="ctr">
              <a:defRPr sz="1900" b="1">
                <a:solidFill>
                  <a:srgbClr val="0F766E"/>
                </a:solidFill>
                <a:latin typeface="Calibri"/>
              </a:defRPr>
            </a:pPr>
            <a:r>
              <a:t>tested offline</a:t>
            </a:r>
          </a:p>
        </p:txBody>
      </p:sp>
      <p:cxnSp>
        <p:nvCxnSpPr>
          <p:cNvPr id="7" name="Connector 6"/>
          <p:cNvCxnSpPr/>
          <p:nvPr/>
        </p:nvCxnSpPr>
        <p:spPr>
          <a:xfrm>
            <a:off x="2514600" y="2240280"/>
            <a:ext cx="320040" cy="0"/>
          </a:xfrm>
          <a:prstGeom prst="line">
            <a:avLst/>
          </a:prstGeom>
          <a:ln w="38100">
            <a:solidFill>
              <a:srgbClr val="0F766E"/>
            </a:solidFill>
          </a:ln>
          <a:effectLst/>
        </p:spPr>
      </p:cxnSp>
      <p:sp>
        <p:nvSpPr>
          <p:cNvPr id="8" name="Rounded Rectangle 7"/>
          <p:cNvSpPr/>
          <p:nvPr/>
        </p:nvSpPr>
        <p:spPr>
          <a:xfrm>
            <a:off x="2834640" y="1645920"/>
            <a:ext cx="1965960" cy="1188720"/>
          </a:xfrm>
          <a:prstGeom prst="roundRect">
            <a:avLst/>
          </a:prstGeom>
          <a:solidFill>
            <a:srgbClr val="0F766E"/>
          </a:solidFill>
          <a:ln>
            <a:noFill/>
          </a:ln>
          <a:effectLst/>
        </p:spPr>
        <p:txBody>
          <a:bodyPr rtlCol="0" anchor="ctr"/>
          <a:lstStyle/>
          <a:p>
            <a:pPr algn="ctr">
              <a:defRPr sz="2400" b="1">
                <a:solidFill>
                  <a:srgbClr val="FFFFFF"/>
                </a:solidFill>
                <a:latin typeface="Calibri"/>
              </a:defRPr>
            </a:pPr>
            <a:r>
              <a:t>JSON</a:t>
            </a:r>
          </a:p>
        </p:txBody>
      </p:sp>
      <p:sp>
        <p:nvSpPr>
          <p:cNvPr id="9" name="TextBox 8"/>
          <p:cNvSpPr txBox="1"/>
          <p:nvPr/>
        </p:nvSpPr>
        <p:spPr>
          <a:xfrm>
            <a:off x="2697480" y="2999232"/>
            <a:ext cx="2240280" cy="411480"/>
          </a:xfrm>
          <a:prstGeom prst="rect">
            <a:avLst/>
          </a:prstGeom>
          <a:noFill/>
          <a:effectLst/>
        </p:spPr>
        <p:txBody>
          <a:bodyPr wrap="none" lIns="0" tIns="0" rIns="0" bIns="0">
            <a:spAutoFit/>
          </a:bodyPr>
          <a:lstStyle/>
          <a:p>
            <a:pPr algn="ctr">
              <a:defRPr sz="1900" b="1">
                <a:solidFill>
                  <a:srgbClr val="0F766E"/>
                </a:solidFill>
                <a:latin typeface="Calibri"/>
              </a:defRPr>
            </a:pPr>
            <a:r>
              <a:t>tested offline</a:t>
            </a:r>
          </a:p>
        </p:txBody>
      </p:sp>
      <p:cxnSp>
        <p:nvCxnSpPr>
          <p:cNvPr id="10" name="Connector 9"/>
          <p:cNvCxnSpPr/>
          <p:nvPr/>
        </p:nvCxnSpPr>
        <p:spPr>
          <a:xfrm>
            <a:off x="4800600" y="2240280"/>
            <a:ext cx="320040" cy="0"/>
          </a:xfrm>
          <a:prstGeom prst="line">
            <a:avLst/>
          </a:prstGeom>
          <a:ln w="38100">
            <a:solidFill>
              <a:srgbClr val="0F766E"/>
            </a:solidFill>
          </a:ln>
          <a:effectLst/>
        </p:spPr>
      </p:cxnSp>
      <p:sp>
        <p:nvSpPr>
          <p:cNvPr id="11" name="Rounded Rectangle 10"/>
          <p:cNvSpPr/>
          <p:nvPr/>
        </p:nvSpPr>
        <p:spPr>
          <a:xfrm>
            <a:off x="5120640" y="1645920"/>
            <a:ext cx="1965960" cy="1188720"/>
          </a:xfrm>
          <a:prstGeom prst="roundRect">
            <a:avLst/>
          </a:prstGeom>
          <a:solidFill>
            <a:srgbClr val="0F766E"/>
          </a:solidFill>
          <a:ln>
            <a:noFill/>
          </a:ln>
          <a:effectLst/>
        </p:spPr>
        <p:txBody>
          <a:bodyPr rtlCol="0" anchor="ctr"/>
          <a:lstStyle/>
          <a:p>
            <a:pPr algn="ctr">
              <a:defRPr sz="2400" b="1">
                <a:solidFill>
                  <a:srgbClr val="FFFFFF"/>
                </a:solidFill>
                <a:latin typeface="Calibri"/>
              </a:defRPr>
            </a:pPr>
            <a:r>
              <a:t>Bridge</a:t>
            </a:r>
          </a:p>
        </p:txBody>
      </p:sp>
      <p:sp>
        <p:nvSpPr>
          <p:cNvPr id="12" name="TextBox 11"/>
          <p:cNvSpPr txBox="1"/>
          <p:nvPr/>
        </p:nvSpPr>
        <p:spPr>
          <a:xfrm>
            <a:off x="4983480" y="2999232"/>
            <a:ext cx="2240280" cy="411480"/>
          </a:xfrm>
          <a:prstGeom prst="rect">
            <a:avLst/>
          </a:prstGeom>
          <a:noFill/>
          <a:effectLst/>
        </p:spPr>
        <p:txBody>
          <a:bodyPr wrap="none" lIns="0" tIns="0" rIns="0" bIns="0">
            <a:spAutoFit/>
          </a:bodyPr>
          <a:lstStyle/>
          <a:p>
            <a:pPr algn="ctr">
              <a:defRPr sz="1900" b="1">
                <a:solidFill>
                  <a:srgbClr val="0F766E"/>
                </a:solidFill>
                <a:latin typeface="Calibri"/>
              </a:defRPr>
            </a:pPr>
            <a:r>
              <a:t>tested offline</a:t>
            </a:r>
          </a:p>
        </p:txBody>
      </p:sp>
      <p:cxnSp>
        <p:nvCxnSpPr>
          <p:cNvPr id="13" name="Connector 12"/>
          <p:cNvCxnSpPr/>
          <p:nvPr/>
        </p:nvCxnSpPr>
        <p:spPr>
          <a:xfrm>
            <a:off x="7086600" y="2240280"/>
            <a:ext cx="320040" cy="0"/>
          </a:xfrm>
          <a:prstGeom prst="line">
            <a:avLst/>
          </a:prstGeom>
          <a:ln w="38100">
            <a:solidFill>
              <a:srgbClr val="0F766E"/>
            </a:solidFill>
          </a:ln>
          <a:effectLst/>
        </p:spPr>
      </p:cxnSp>
      <p:sp>
        <p:nvSpPr>
          <p:cNvPr id="14" name="Rounded Rectangle 13"/>
          <p:cNvSpPr/>
          <p:nvPr/>
        </p:nvSpPr>
        <p:spPr>
          <a:xfrm>
            <a:off x="7406640" y="1645920"/>
            <a:ext cx="1965960" cy="1188720"/>
          </a:xfrm>
          <a:prstGeom prst="roundRect">
            <a:avLst/>
          </a:prstGeom>
          <a:solidFill>
            <a:srgbClr val="0F766E"/>
          </a:solidFill>
          <a:ln>
            <a:noFill/>
          </a:ln>
          <a:effectLst/>
        </p:spPr>
        <p:txBody>
          <a:bodyPr rtlCol="0" anchor="ctr"/>
          <a:lstStyle/>
          <a:p>
            <a:pPr algn="ctr">
              <a:defRPr sz="2400" b="1">
                <a:solidFill>
                  <a:srgbClr val="FFFFFF"/>
                </a:solidFill>
                <a:latin typeface="Calibri"/>
              </a:defRPr>
            </a:pPr>
            <a:r>
              <a:t>XML</a:t>
            </a:r>
          </a:p>
        </p:txBody>
      </p:sp>
      <p:sp>
        <p:nvSpPr>
          <p:cNvPr id="15" name="TextBox 14"/>
          <p:cNvSpPr txBox="1"/>
          <p:nvPr/>
        </p:nvSpPr>
        <p:spPr>
          <a:xfrm>
            <a:off x="7269480" y="2999232"/>
            <a:ext cx="2240280" cy="411480"/>
          </a:xfrm>
          <a:prstGeom prst="rect">
            <a:avLst/>
          </a:prstGeom>
          <a:noFill/>
          <a:effectLst/>
        </p:spPr>
        <p:txBody>
          <a:bodyPr wrap="none" lIns="0" tIns="0" rIns="0" bIns="0">
            <a:spAutoFit/>
          </a:bodyPr>
          <a:lstStyle/>
          <a:p>
            <a:pPr algn="ctr">
              <a:defRPr sz="1900" b="1">
                <a:solidFill>
                  <a:srgbClr val="0F766E"/>
                </a:solidFill>
                <a:latin typeface="Calibri"/>
              </a:defRPr>
            </a:pPr>
            <a:r>
              <a:t>tested offline</a:t>
            </a:r>
          </a:p>
        </p:txBody>
      </p:sp>
      <p:cxnSp>
        <p:nvCxnSpPr>
          <p:cNvPr id="16" name="Connector 15"/>
          <p:cNvCxnSpPr/>
          <p:nvPr/>
        </p:nvCxnSpPr>
        <p:spPr>
          <a:xfrm>
            <a:off x="9372600" y="2240280"/>
            <a:ext cx="320040" cy="0"/>
          </a:xfrm>
          <a:prstGeom prst="line">
            <a:avLst/>
          </a:prstGeom>
          <a:ln w="38100">
            <a:solidFill>
              <a:srgbClr val="D97706"/>
            </a:solidFill>
          </a:ln>
          <a:effectLst/>
        </p:spPr>
      </p:cxnSp>
      <p:sp>
        <p:nvSpPr>
          <p:cNvPr id="17" name="Rounded Rectangle 16"/>
          <p:cNvSpPr/>
          <p:nvPr/>
        </p:nvSpPr>
        <p:spPr>
          <a:xfrm>
            <a:off x="9692640" y="1645920"/>
            <a:ext cx="1965960" cy="1188720"/>
          </a:xfrm>
          <a:prstGeom prst="roundRect">
            <a:avLst/>
          </a:prstGeom>
          <a:solidFill>
            <a:srgbClr val="D97706"/>
          </a:solidFill>
          <a:ln>
            <a:noFill/>
          </a:ln>
          <a:effectLst/>
        </p:spPr>
        <p:txBody>
          <a:bodyPr rtlCol="0" anchor="ctr"/>
          <a:lstStyle/>
          <a:p>
            <a:pPr algn="ctr">
              <a:defRPr sz="2400" b="1">
                <a:solidFill>
                  <a:srgbClr val="FFFFFF"/>
                </a:solidFill>
                <a:latin typeface="Calibri"/>
              </a:defRPr>
            </a:pPr>
            <a:r>
              <a:t>EMANE</a:t>
            </a:r>
          </a:p>
        </p:txBody>
      </p:sp>
      <p:sp>
        <p:nvSpPr>
          <p:cNvPr id="18" name="TextBox 17"/>
          <p:cNvSpPr txBox="1"/>
          <p:nvPr/>
        </p:nvSpPr>
        <p:spPr>
          <a:xfrm>
            <a:off x="9555480" y="2999232"/>
            <a:ext cx="2240280" cy="411480"/>
          </a:xfrm>
          <a:prstGeom prst="rect">
            <a:avLst/>
          </a:prstGeom>
          <a:noFill/>
          <a:effectLst/>
        </p:spPr>
        <p:txBody>
          <a:bodyPr wrap="none" lIns="0" tIns="0" rIns="0" bIns="0">
            <a:spAutoFit/>
          </a:bodyPr>
          <a:lstStyle/>
          <a:p>
            <a:pPr algn="ctr">
              <a:defRPr sz="1900" b="1">
                <a:solidFill>
                  <a:srgbClr val="D97706"/>
                </a:solidFill>
                <a:latin typeface="Calibri"/>
              </a:defRPr>
            </a:pPr>
            <a:r>
              <a:t>not run</a:t>
            </a:r>
          </a:p>
        </p:txBody>
      </p:sp>
      <p:sp>
        <p:nvSpPr>
          <p:cNvPr id="19" name="TextBox 18"/>
          <p:cNvSpPr txBox="1"/>
          <p:nvPr/>
        </p:nvSpPr>
        <p:spPr>
          <a:xfrm>
            <a:off x="731520" y="3886200"/>
            <a:ext cx="10515600" cy="2194560"/>
          </a:xfrm>
          <a:prstGeom prst="rect">
            <a:avLst/>
          </a:prstGeom>
          <a:noFill/>
          <a:effectLst/>
        </p:spPr>
        <p:txBody>
          <a:bodyPr wrap="square" lIns="0" tIns="0" rIns="0" bIns="0">
            <a:spAutoFit/>
          </a:bodyPr>
          <a:lstStyle/>
          <a:p>
            <a:pPr>
              <a:defRPr sz="2100">
                <a:solidFill>
                  <a:srgbClr val="1B1F2A"/>
                </a:solidFill>
                <a:latin typeface="Calibri"/>
              </a:defRPr>
            </a:pPr>
            <a:r>
              <a:t>• EMANE needs pathloss set to ~500 m, or all 16 radios hear each other.</a:t>
            </a:r>
          </a:p>
          <a:p>
            <a:pPr>
              <a:spcBef>
                <a:spcPts val="2000"/>
              </a:spcBef>
              <a:defRPr sz="2100">
                <a:solidFill>
                  <a:srgbClr val="1B1F2A"/>
                </a:solidFill>
                <a:latin typeface="Calibri"/>
              </a:defRPr>
            </a:pPr>
            <a:r>
              <a:t>• Next step is running the container with virtual TAP interfaces.</a:t>
            </a:r>
          </a:p>
          <a:p>
            <a:pPr>
              <a:spcBef>
                <a:spcPts val="2000"/>
              </a:spcBef>
              <a:defRPr sz="2100">
                <a:solidFill>
                  <a:srgbClr val="1B1F2A"/>
                </a:solidFill>
                <a:latin typeface="Calibri"/>
              </a:defRPr>
            </a:pPr>
            <a:r>
              <a:t>• Future work covers joint time-frequency coloring and mobile nodes.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